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Salesteq </a:t>
            </a:r>
            <a:r>
              <a:rPr sz="1600" b="1">
                <a:solidFill>
                  <a:srgbClr val="4A9EFF"/>
                </a:solidFill>
                <a:latin typeface="Calibri"/>
              </a:rPr>
              <a:t>x</a:t>
            </a:r>
            <a:r>
              <a:rPr sz="1600" b="1">
                <a:solidFill>
                  <a:srgbClr val="FFFFFF"/>
                </a:solidFill>
                <a:latin typeface="Calibri"/>
              </a:rPr>
              <a:t> MYNM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Calibri"/>
              </a:rPr>
              <a:t>Project Kickoff /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FFFFFF"/>
                </a:solidFill>
                <a:latin typeface="Calibri"/>
              </a:rPr>
              <a:t>MYNM AI Platform </a:t>
            </a:r>
            <a:r>
              <a:rPr sz="2600" b="1">
                <a:solidFill>
                  <a:srgbClr val="4A9EFF"/>
                </a:solidFill>
                <a:latin typeface="Calibri"/>
              </a:rPr>
              <a:t>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Software Development Agreement, effective 1 March 2026. Contract value: $372,842 USD.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577840" cy="237744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 w="635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19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A9EFF"/>
                </a:solidFill>
                <a:latin typeface="Calibri"/>
              </a:rPr>
              <a:t>3.1 INBOUND AI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  Multi-brand AI chat across 13 websites + WhatsApp + Telegram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BMW, MINI, Rolls-Royce, Genesis, Jaguar, Land Rover, Infiniti, Lincoln, Hyundai, Ford, MG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Voice Input: MSA, Najdi, Janoubia dialects, English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Keyloop DMS + inventory feed integration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OTP customer ID, complaints, bookings, VIN queries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Timeline: MVP Month 1, Full Month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577840" cy="237744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 w="635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19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A9EFF"/>
                </a:solidFill>
                <a:latin typeface="Calibri"/>
              </a:rPr>
              <a:t>3.2 OUTBOUND AI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  Proactive follow-ups and campaigns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Lead matching: inventory + CRM + Keyloop data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Customer behavior and sentiment-driven triggers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Outbound via WhatsApp or email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Timeline: Month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69080"/>
            <a:ext cx="5577840" cy="237744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 w="635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A9EFF"/>
                </a:solidFill>
                <a:latin typeface="Calibri"/>
              </a:rPr>
              <a:t>3.3 SALES ENABLEMENT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  Internal AI assistant for sales reps and call center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Callback request handling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Trade-in management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Customer sentiment insights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Searchable internal knowledge base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Timeline: Month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069080"/>
            <a:ext cx="5577840" cy="237744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 w="635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A9EFF"/>
                </a:solidFill>
                <a:latin typeface="Calibri"/>
              </a:rPr>
              <a:t>3.4-3.6 ANALYTICS &amp; 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4805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  Call transcription (EN + MSA), tone analysis, sentiment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Genesys + Webex Contact Center integration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AI analytics: interactions, topics, resolution rates, channels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Live dashboards by brand and division with export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Compliance alerts (Ministry of Commerce)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Timeline: Month 4-5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Calibri"/>
              </a:rPr>
              <a:t>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44444"/>
                </a:solidFill>
                <a:latin typeface="Calibri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C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Salesteq </a:t>
            </a:r>
            <a:r>
              <a:rPr sz="1600" b="1">
                <a:solidFill>
                  <a:srgbClr val="4A9EFF"/>
                </a:solidFill>
                <a:latin typeface="Calibri"/>
              </a:rPr>
              <a:t>x</a:t>
            </a:r>
            <a:r>
              <a:rPr sz="1600" b="1">
                <a:solidFill>
                  <a:srgbClr val="FFFFFF"/>
                </a:solidFill>
                <a:latin typeface="Calibri"/>
              </a:rPr>
              <a:t> MYNM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88888"/>
                </a:solidFill>
                <a:latin typeface="Calibri"/>
              </a:rPr>
              <a:t>Project Kickoff /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FFFFFF"/>
                </a:solidFill>
                <a:latin typeface="Calibri"/>
              </a:rPr>
              <a:t>Delivery Plan, </a:t>
            </a:r>
            <a:r>
              <a:rPr sz="2600" b="1">
                <a:solidFill>
                  <a:srgbClr val="4A9EFF"/>
                </a:solidFill>
                <a:latin typeface="Calibri"/>
              </a:rPr>
              <a:t>Payments &amp;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Fixed-price milestones. Infrastructure at $3,000/month pass-through. Support at SAR 12,000/month.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577840" cy="251460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 w="635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888888"/>
                </a:solidFill>
                <a:latin typeface="Calibri"/>
              </a:rPr>
              <a:t>MILESTONE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5087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888888"/>
                </a:solidFill>
                <a:latin typeface="Calibri"/>
              </a:rPr>
              <a:t>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50876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888888"/>
                </a:solidFill>
                <a:latin typeface="Calibri"/>
              </a:rPr>
              <a:t>TIMELINE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755648"/>
            <a:ext cx="5212080" cy="6350"/>
          </a:xfrm>
          <a:prstGeom prst="rect">
            <a:avLst/>
          </a:prstGeom>
          <a:solidFill>
            <a:srgbClr val="33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3.1 Inbound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82880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CCCC"/>
                </a:solidFill>
                <a:latin typeface="Calibri"/>
              </a:rPr>
              <a:t>Multi-brand chat, OTP, Keyloop, voice (AR/EN)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288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9EFF"/>
                </a:solidFill>
                <a:latin typeface="Calibri"/>
              </a:rPr>
              <a:t>MVP M1 / Full 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3.2 Outbound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17627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CCCC"/>
                </a:solidFill>
                <a:latin typeface="Calibri"/>
              </a:rPr>
              <a:t>Proactive campaigns, lead matching, WA/email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176272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9EFF"/>
                </a:solidFill>
                <a:latin typeface="Calibri"/>
              </a:rPr>
              <a:t>Month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52374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3.3 Sales Enablement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523744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CCCC"/>
                </a:solidFill>
                <a:latin typeface="Calibri"/>
              </a:rPr>
              <a:t>Internal agent, callbacks, trade-in, KB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523744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9EFF"/>
                </a:solidFill>
                <a:latin typeface="Calibri"/>
              </a:rPr>
              <a:t>Month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87121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3.4 Call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87121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CCCC"/>
                </a:solidFill>
                <a:latin typeface="Calibri"/>
              </a:rPr>
              <a:t>Transcription, sentiment, Genesys/Webex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871216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9EFF"/>
                </a:solidFill>
                <a:latin typeface="Calibri"/>
              </a:rPr>
              <a:t>Month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1868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3.5 AI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21868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CCCC"/>
                </a:solidFill>
                <a:latin typeface="Calibri"/>
              </a:rPr>
              <a:t>Engagement, topics, resolution rates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218688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9EFF"/>
                </a:solidFill>
                <a:latin typeface="Calibri"/>
              </a:rPr>
              <a:t>Month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5661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3.6 Dashboards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566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CCCC"/>
                </a:solidFill>
                <a:latin typeface="Calibri"/>
              </a:rPr>
              <a:t>Live reports by brand/division,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5661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9EFF"/>
                </a:solidFill>
                <a:latin typeface="Calibri"/>
              </a:rPr>
              <a:t>Month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114800"/>
            <a:ext cx="5577840" cy="256032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 w="635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206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A9EFF"/>
                </a:solidFill>
                <a:latin typeface="Calibri"/>
              </a:rPr>
              <a:t>PAYMENT SCHEDULE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Upon Contract Signing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5720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ADE80"/>
                </a:solidFill>
                <a:latin typeface="Calibri"/>
              </a:rPr>
              <a:t>$74,568.40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19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R1: Advanced Sales Chat &amp; 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9194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ADE80"/>
                </a:solidFill>
                <a:latin typeface="Calibri"/>
              </a:rPr>
              <a:t>$149,136.80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6694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R2: Sales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266944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ADE80"/>
                </a:solidFill>
                <a:latin typeface="Calibri"/>
              </a:rPr>
              <a:t>$74,568.40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6144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Call Analytics &amp; Dashboard 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61441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ADE80"/>
                </a:solidFill>
                <a:latin typeface="Calibri"/>
              </a:rPr>
              <a:t>$74,568.40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989320"/>
            <a:ext cx="5212080" cy="6350"/>
          </a:xfrm>
          <a:prstGeom prst="rect">
            <a:avLst/>
          </a:prstGeom>
          <a:solidFill>
            <a:srgbClr val="33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Total Contract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60807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$372,842.00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1417320"/>
            <a:ext cx="5577840" cy="141732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 w="635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15087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A9EFF"/>
                </a:solidFill>
                <a:latin typeface="Calibri"/>
              </a:rPr>
              <a:t>INFRASTRUCTURE (PASS-THROUGH)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178308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  3x A100 80GB SXM4 GPU instances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$3,000/month at actual consumption, no markup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ASR + TTS + LLM inference (Qwen3, FastConformer, FastPitch)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30,000 users/month, 20 simultaneous requests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2971800"/>
            <a:ext cx="5577840" cy="1417320"/>
          </a:xfrm>
          <a:prstGeom prst="roundRect">
            <a:avLst>
              <a:gd name="adj" fmla="val 2000"/>
            </a:avLst>
          </a:prstGeom>
          <a:solidFill>
            <a:srgbClr val="1A1A24"/>
          </a:solidFill>
          <a:ln w="635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06324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A9EFF"/>
                </a:solidFill>
                <a:latin typeface="Calibri"/>
              </a:rPr>
              <a:t>SUPPORT (EXHIBIT B)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3375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  SAR 12,000/month (20 engineer hrs, Mon-Fri 09-19)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P1 Critical: response 20 min, fix 6 hrs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P2 High: response 45 min, fix 14 hrs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15 months warranty (extended from 12)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20 days extra engineering in first month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526280"/>
            <a:ext cx="5577840" cy="2148840"/>
          </a:xfrm>
          <a:prstGeom prst="roundRect">
            <a:avLst>
              <a:gd name="adj" fmla="val 2000"/>
            </a:avLst>
          </a:prstGeom>
          <a:solidFill>
            <a:srgbClr val="1F1A12"/>
          </a:solidFill>
          <a:ln w="9525">
            <a:solidFill>
              <a:srgbClr val="3D3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6177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NEEDED FROM MYNM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8920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  Keyloop API access, credentials, and documentation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Inventory feed access for all brands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Genesys / Webex Contact Center access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WhatsApp Business API (Hootsuite) access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Car metadata: specs, options, media per brand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OTP phone verification setup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  <a:latin typeface="Calibri"/>
              </a:rPr>
              <a:t>  Brand guidelines (CSS, fonts, colors) per brand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Calibri"/>
              </a:rPr>
              <a:t>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44444"/>
                </a:solidFill>
                <a:latin typeface="Calibri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