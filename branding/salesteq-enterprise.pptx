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0"/>
        </a:solidFill>
        <a:effectLst/>
      </p:bgPr>
    </p:bg>
    <p:spTree>
      <p:nvGrpSpPr>
        <p:cNvPr id="1" name=""/>
        <p:cNvGrpSpPr/>
        <p:nvPr/>
      </p:nvGrpSpPr>
      <p:grpSpPr/>
      <p:cxnSp>
        <p:nvCxnSpPr>
          <p:cNvPr id="2" name="Connector 1"/>
          <p:cNvCxnSpPr/>
          <p:nvPr/>
        </p:nvCxnSpPr>
        <p:spPr>
          <a:xfrm>
            <a:off x="548640" y="777240"/>
            <a:ext cx="11064240" cy="0"/>
          </a:xfrm>
          <a:prstGeom prst="line">
            <a:avLst/>
          </a:prstGeom>
          <a:ln w="9525">
            <a:solidFill>
              <a:srgbClr val="E0DFD6"/>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320040"/>
            <a:ext cx="1828800" cy="411480"/>
          </a:xfrm>
          <a:prstGeom prst="rect">
            <a:avLst/>
          </a:prstGeom>
          <a:noFill/>
        </p:spPr>
        <p:txBody>
          <a:bodyPr wrap="square">
            <a:spAutoFit/>
          </a:bodyPr>
          <a:lstStyle/>
          <a:p>
            <a:pPr algn="l">
              <a:spcBef>
                <a:spcPts val="0"/>
              </a:spcBef>
              <a:spcAft>
                <a:spcPts val="0"/>
              </a:spcAft>
              <a:defRPr sz="1600" b="1">
                <a:solidFill>
                  <a:srgbClr val="131314"/>
                </a:solidFill>
                <a:latin typeface="Inter"/>
              </a:defRPr>
            </a:pPr>
            <a:r>
              <a:t>Salesteq</a:t>
            </a:r>
          </a:p>
        </p:txBody>
      </p:sp>
      <p:sp>
        <p:nvSpPr>
          <p:cNvPr id="4" name="TextBox 3"/>
          <p:cNvSpPr txBox="1"/>
          <p:nvPr/>
        </p:nvSpPr>
        <p:spPr>
          <a:xfrm>
            <a:off x="8686800" y="347472"/>
            <a:ext cx="2926080" cy="365760"/>
          </a:xfrm>
          <a:prstGeom prst="rect">
            <a:avLst/>
          </a:prstGeom>
          <a:noFill/>
        </p:spPr>
        <p:txBody>
          <a:bodyPr wrap="square">
            <a:spAutoFit/>
          </a:bodyPr>
          <a:lstStyle/>
          <a:p>
            <a:pPr algn="r">
              <a:spcBef>
                <a:spcPts val="0"/>
              </a:spcBef>
              <a:spcAft>
                <a:spcPts val="0"/>
              </a:spcAft>
              <a:defRPr sz="800" b="0">
                <a:solidFill>
                  <a:srgbClr val="3D3D3F"/>
                </a:solidFill>
                <a:latin typeface="JetBrains Mono"/>
              </a:defRPr>
            </a:pPr>
            <a:r>
              <a:t>CONFIDENTIAL  —  Enterprise Overview</a:t>
            </a:r>
          </a:p>
        </p:txBody>
      </p:sp>
      <p:sp>
        <p:nvSpPr>
          <p:cNvPr id="5" name="TextBox 4"/>
          <p:cNvSpPr txBox="1"/>
          <p:nvPr/>
        </p:nvSpPr>
        <p:spPr>
          <a:xfrm>
            <a:off x="548640" y="1005840"/>
            <a:ext cx="2743200" cy="320040"/>
          </a:xfrm>
          <a:prstGeom prst="rect">
            <a:avLst/>
          </a:prstGeom>
          <a:noFill/>
        </p:spPr>
        <p:txBody>
          <a:bodyPr wrap="square">
            <a:spAutoFit/>
          </a:bodyPr>
          <a:lstStyle/>
          <a:p>
            <a:pPr algn="l">
              <a:spcBef>
                <a:spcPts val="0"/>
              </a:spcBef>
              <a:spcAft>
                <a:spcPts val="0"/>
              </a:spcAft>
              <a:defRPr sz="900" b="1">
                <a:solidFill>
                  <a:srgbClr val="D97757"/>
                </a:solidFill>
                <a:latin typeface="Inter"/>
              </a:defRPr>
            </a:pPr>
            <a:r>
              <a:t>THE PROBLEM</a:t>
            </a:r>
          </a:p>
        </p:txBody>
      </p:sp>
      <p:sp>
        <p:nvSpPr>
          <p:cNvPr id="6" name="TextBox 5"/>
          <p:cNvSpPr txBox="1"/>
          <p:nvPr/>
        </p:nvSpPr>
        <p:spPr>
          <a:xfrm>
            <a:off x="548640" y="1325880"/>
            <a:ext cx="7315200" cy="1005840"/>
          </a:xfrm>
          <a:prstGeom prst="rect">
            <a:avLst/>
          </a:prstGeom>
          <a:noFill/>
        </p:spPr>
        <p:txBody>
          <a:bodyPr wrap="square">
            <a:spAutoFit/>
          </a:bodyPr>
          <a:lstStyle/>
          <a:p>
            <a:pPr algn="l">
              <a:spcBef>
                <a:spcPts val="0"/>
              </a:spcBef>
              <a:spcAft>
                <a:spcPts val="600"/>
              </a:spcAft>
            </a:pPr>
            <a:r>
              <a:rPr sz="2400" b="1">
                <a:solidFill>
                  <a:srgbClr val="131314"/>
                </a:solidFill>
                <a:latin typeface="Inter"/>
              </a:rPr>
              <a:t>Enterprises run Sales, Marketing and Customer Service </a:t>
            </a:r>
            <a:r>
              <a:rPr sz="2400" b="1">
                <a:solidFill>
                  <a:srgbClr val="D97757"/>
                </a:solidFill>
                <a:latin typeface="Inter"/>
              </a:rPr>
              <a:t>with too many people, too many tools, and too little intelligence.</a:t>
            </a:r>
          </a:p>
        </p:txBody>
      </p:sp>
      <p:sp>
        <p:nvSpPr>
          <p:cNvPr id="7" name="TextBox 6"/>
          <p:cNvSpPr txBox="1"/>
          <p:nvPr/>
        </p:nvSpPr>
        <p:spPr>
          <a:xfrm>
            <a:off x="548640" y="2331720"/>
            <a:ext cx="7772400" cy="640080"/>
          </a:xfrm>
          <a:prstGeom prst="rect">
            <a:avLst/>
          </a:prstGeom>
          <a:noFill/>
        </p:spPr>
        <p:txBody>
          <a:bodyPr wrap="square">
            <a:spAutoFit/>
          </a:bodyPr>
          <a:lstStyle/>
          <a:p>
            <a:pPr algn="l">
              <a:spcBef>
                <a:spcPts val="0"/>
              </a:spcBef>
              <a:spcAft>
                <a:spcPts val="0"/>
              </a:spcAft>
              <a:defRPr sz="1200" b="0">
                <a:solidFill>
                  <a:srgbClr val="3D3D3F"/>
                </a:solidFill>
                <a:latin typeface="Inter"/>
              </a:defRPr>
            </a:pPr>
            <a:r>
              <a:t>Three departments. Separate teams. Separate tools. Separate data. Your CRM doesn't talk to your contact center. Your marketing campaigns don't know what your sales reps learned yesterday. And every new language, market, or channel requires more headcount.</a:t>
            </a:r>
          </a:p>
        </p:txBody>
      </p:sp>
      <p:sp>
        <p:nvSpPr>
          <p:cNvPr id="8" name="Rounded Rectangle 7"/>
          <p:cNvSpPr/>
          <p:nvPr/>
        </p:nvSpPr>
        <p:spPr>
          <a:xfrm>
            <a:off x="548640" y="3154680"/>
            <a:ext cx="3566160" cy="1691640"/>
          </a:xfrm>
          <a:prstGeom prst="roundRect">
            <a:avLst>
              <a:gd name="adj" fmla="val 5000"/>
            </a:avLst>
          </a:prstGeom>
          <a:solidFill>
            <a:srgbClr val="1313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3108960" cy="22860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CUSTOMER SERVICE</a:t>
            </a:r>
          </a:p>
        </p:txBody>
      </p:sp>
      <p:sp>
        <p:nvSpPr>
          <p:cNvPr id="10" name="TextBox 9"/>
          <p:cNvSpPr txBox="1"/>
          <p:nvPr/>
        </p:nvSpPr>
        <p:spPr>
          <a:xfrm>
            <a:off x="777240" y="3566160"/>
            <a:ext cx="3108960" cy="640080"/>
          </a:xfrm>
          <a:prstGeom prst="rect">
            <a:avLst/>
          </a:prstGeom>
          <a:noFill/>
        </p:spPr>
        <p:txBody>
          <a:bodyPr wrap="square">
            <a:spAutoFit/>
          </a:bodyPr>
          <a:lstStyle/>
          <a:p>
            <a:pPr algn="l">
              <a:spcBef>
                <a:spcPts val="0"/>
              </a:spcBef>
              <a:spcAft>
                <a:spcPts val="0"/>
              </a:spcAft>
              <a:defRPr sz="950" b="0">
                <a:solidFill>
                  <a:srgbClr val="AAAAAA"/>
                </a:solidFill>
                <a:latin typeface="Inter"/>
              </a:defRPr>
            </a:pPr>
            <a:r>
              <a:t>Scaling requires hiring per language and shift. Quality is inconsistent. Customers wait. Context is lost between channels.</a:t>
            </a:r>
          </a:p>
        </p:txBody>
      </p:sp>
      <p:sp>
        <p:nvSpPr>
          <p:cNvPr id="11" name="TextBox 10"/>
          <p:cNvSpPr txBox="1"/>
          <p:nvPr/>
        </p:nvSpPr>
        <p:spPr>
          <a:xfrm>
            <a:off x="777240" y="4206240"/>
            <a:ext cx="3108960" cy="365760"/>
          </a:xfrm>
          <a:prstGeom prst="rect">
            <a:avLst/>
          </a:prstGeom>
          <a:noFill/>
        </p:spPr>
        <p:txBody>
          <a:bodyPr wrap="square">
            <a:spAutoFit/>
          </a:bodyPr>
          <a:lstStyle/>
          <a:p>
            <a:pPr algn="l">
              <a:spcBef>
                <a:spcPts val="0"/>
              </a:spcBef>
              <a:spcAft>
                <a:spcPts val="0"/>
              </a:spcAft>
              <a:defRPr sz="2200" b="1">
                <a:solidFill>
                  <a:srgbClr val="D97757"/>
                </a:solidFill>
                <a:latin typeface="Inter"/>
              </a:defRPr>
            </a:pPr>
            <a:r>
              <a:t>67%</a:t>
            </a:r>
          </a:p>
        </p:txBody>
      </p:sp>
      <p:sp>
        <p:nvSpPr>
          <p:cNvPr id="12" name="TextBox 11"/>
          <p:cNvSpPr txBox="1"/>
          <p:nvPr/>
        </p:nvSpPr>
        <p:spPr>
          <a:xfrm>
            <a:off x="777240" y="4526280"/>
            <a:ext cx="3108960" cy="274320"/>
          </a:xfrm>
          <a:prstGeom prst="rect">
            <a:avLst/>
          </a:prstGeom>
          <a:noFill/>
        </p:spPr>
        <p:txBody>
          <a:bodyPr wrap="square">
            <a:spAutoFit/>
          </a:bodyPr>
          <a:lstStyle/>
          <a:p>
            <a:pPr algn="l">
              <a:spcBef>
                <a:spcPts val="0"/>
              </a:spcBef>
              <a:spcAft>
                <a:spcPts val="0"/>
              </a:spcAft>
              <a:defRPr sz="800" b="0">
                <a:solidFill>
                  <a:srgbClr val="888888"/>
                </a:solidFill>
                <a:latin typeface="Inter"/>
              </a:defRPr>
            </a:pPr>
            <a:r>
              <a:t>of customers abandon calls on hold</a:t>
            </a:r>
          </a:p>
        </p:txBody>
      </p:sp>
      <p:sp>
        <p:nvSpPr>
          <p:cNvPr id="13" name="Rounded Rectangle 12"/>
          <p:cNvSpPr/>
          <p:nvPr/>
        </p:nvSpPr>
        <p:spPr>
          <a:xfrm>
            <a:off x="4297680" y="3154680"/>
            <a:ext cx="3566160" cy="1691640"/>
          </a:xfrm>
          <a:prstGeom prst="roundRect">
            <a:avLst>
              <a:gd name="adj" fmla="val 5000"/>
            </a:avLst>
          </a:prstGeom>
          <a:solidFill>
            <a:srgbClr val="1313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337560"/>
            <a:ext cx="3108960" cy="22860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SALES</a:t>
            </a:r>
          </a:p>
        </p:txBody>
      </p:sp>
      <p:sp>
        <p:nvSpPr>
          <p:cNvPr id="15" name="TextBox 14"/>
          <p:cNvSpPr txBox="1"/>
          <p:nvPr/>
        </p:nvSpPr>
        <p:spPr>
          <a:xfrm>
            <a:off x="4526280" y="3566160"/>
            <a:ext cx="3108960" cy="640080"/>
          </a:xfrm>
          <a:prstGeom prst="rect">
            <a:avLst/>
          </a:prstGeom>
          <a:noFill/>
        </p:spPr>
        <p:txBody>
          <a:bodyPr wrap="square">
            <a:spAutoFit/>
          </a:bodyPr>
          <a:lstStyle/>
          <a:p>
            <a:pPr algn="l">
              <a:spcBef>
                <a:spcPts val="0"/>
              </a:spcBef>
              <a:spcAft>
                <a:spcPts val="0"/>
              </a:spcAft>
              <a:defRPr sz="950" b="0">
                <a:solidFill>
                  <a:srgbClr val="AAAAAA"/>
                </a:solidFill>
                <a:latin typeface="Inter"/>
              </a:defRPr>
            </a:pPr>
            <a:r>
              <a:t>Reps spend most of their time on admin — research, data entry, CRM updates — instead of selling. Pipeline data is stale within weeks.</a:t>
            </a:r>
          </a:p>
        </p:txBody>
      </p:sp>
      <p:sp>
        <p:nvSpPr>
          <p:cNvPr id="16" name="TextBox 15"/>
          <p:cNvSpPr txBox="1"/>
          <p:nvPr/>
        </p:nvSpPr>
        <p:spPr>
          <a:xfrm>
            <a:off x="4526280" y="4206240"/>
            <a:ext cx="3108960" cy="365760"/>
          </a:xfrm>
          <a:prstGeom prst="rect">
            <a:avLst/>
          </a:prstGeom>
          <a:noFill/>
        </p:spPr>
        <p:txBody>
          <a:bodyPr wrap="square">
            <a:spAutoFit/>
          </a:bodyPr>
          <a:lstStyle/>
          <a:p>
            <a:pPr algn="l">
              <a:spcBef>
                <a:spcPts val="0"/>
              </a:spcBef>
              <a:spcAft>
                <a:spcPts val="0"/>
              </a:spcAft>
              <a:defRPr sz="2200" b="1">
                <a:solidFill>
                  <a:srgbClr val="D97757"/>
                </a:solidFill>
                <a:latin typeface="Inter"/>
              </a:defRPr>
            </a:pPr>
            <a:r>
              <a:t>70%</a:t>
            </a:r>
          </a:p>
        </p:txBody>
      </p:sp>
      <p:sp>
        <p:nvSpPr>
          <p:cNvPr id="17" name="TextBox 16"/>
          <p:cNvSpPr txBox="1"/>
          <p:nvPr/>
        </p:nvSpPr>
        <p:spPr>
          <a:xfrm>
            <a:off x="4526280" y="4526280"/>
            <a:ext cx="3108960" cy="274320"/>
          </a:xfrm>
          <a:prstGeom prst="rect">
            <a:avLst/>
          </a:prstGeom>
          <a:noFill/>
        </p:spPr>
        <p:txBody>
          <a:bodyPr wrap="square">
            <a:spAutoFit/>
          </a:bodyPr>
          <a:lstStyle/>
          <a:p>
            <a:pPr algn="l">
              <a:spcBef>
                <a:spcPts val="0"/>
              </a:spcBef>
              <a:spcAft>
                <a:spcPts val="0"/>
              </a:spcAft>
              <a:defRPr sz="800" b="0">
                <a:solidFill>
                  <a:srgbClr val="888888"/>
                </a:solidFill>
                <a:latin typeface="Inter"/>
              </a:defRPr>
            </a:pPr>
            <a:r>
              <a:t>of rep time on non-selling tasks</a:t>
            </a:r>
          </a:p>
        </p:txBody>
      </p:sp>
      <p:sp>
        <p:nvSpPr>
          <p:cNvPr id="18" name="Rounded Rectangle 17"/>
          <p:cNvSpPr/>
          <p:nvPr/>
        </p:nvSpPr>
        <p:spPr>
          <a:xfrm>
            <a:off x="8046720" y="3154680"/>
            <a:ext cx="3566160" cy="1691640"/>
          </a:xfrm>
          <a:prstGeom prst="roundRect">
            <a:avLst>
              <a:gd name="adj" fmla="val 5000"/>
            </a:avLst>
          </a:prstGeom>
          <a:solidFill>
            <a:srgbClr val="1313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3337560"/>
            <a:ext cx="3108960" cy="22860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MARKETING</a:t>
            </a:r>
          </a:p>
        </p:txBody>
      </p:sp>
      <p:sp>
        <p:nvSpPr>
          <p:cNvPr id="20" name="TextBox 19"/>
          <p:cNvSpPr txBox="1"/>
          <p:nvPr/>
        </p:nvSpPr>
        <p:spPr>
          <a:xfrm>
            <a:off x="8275320" y="3566160"/>
            <a:ext cx="3108960" cy="640080"/>
          </a:xfrm>
          <a:prstGeom prst="rect">
            <a:avLst/>
          </a:prstGeom>
          <a:noFill/>
        </p:spPr>
        <p:txBody>
          <a:bodyPr wrap="square">
            <a:spAutoFit/>
          </a:bodyPr>
          <a:lstStyle/>
          <a:p>
            <a:pPr algn="l">
              <a:spcBef>
                <a:spcPts val="0"/>
              </a:spcBef>
              <a:spcAft>
                <a:spcPts val="0"/>
              </a:spcAft>
              <a:defRPr sz="950" b="0">
                <a:solidFill>
                  <a:srgbClr val="AAAAAA"/>
                </a:solidFill>
                <a:latin typeface="Inter"/>
              </a:defRPr>
            </a:pPr>
            <a:r>
              <a:t>Campaigns built on outdated lists. No feedback loop from sales conversations. Outreach feels generic because it is generic.</a:t>
            </a:r>
          </a:p>
        </p:txBody>
      </p:sp>
      <p:sp>
        <p:nvSpPr>
          <p:cNvPr id="21" name="TextBox 20"/>
          <p:cNvSpPr txBox="1"/>
          <p:nvPr/>
        </p:nvSpPr>
        <p:spPr>
          <a:xfrm>
            <a:off x="8275320" y="4206240"/>
            <a:ext cx="3108960" cy="365760"/>
          </a:xfrm>
          <a:prstGeom prst="rect">
            <a:avLst/>
          </a:prstGeom>
          <a:noFill/>
        </p:spPr>
        <p:txBody>
          <a:bodyPr wrap="square">
            <a:spAutoFit/>
          </a:bodyPr>
          <a:lstStyle/>
          <a:p>
            <a:pPr algn="l">
              <a:spcBef>
                <a:spcPts val="0"/>
              </a:spcBef>
              <a:spcAft>
                <a:spcPts val="0"/>
              </a:spcAft>
              <a:defRPr sz="2200" b="1">
                <a:solidFill>
                  <a:srgbClr val="D97757"/>
                </a:solidFill>
                <a:latin typeface="Inter"/>
              </a:defRPr>
            </a:pPr>
            <a:r>
              <a:t>30%/yr</a:t>
            </a:r>
          </a:p>
        </p:txBody>
      </p:sp>
      <p:sp>
        <p:nvSpPr>
          <p:cNvPr id="22" name="TextBox 21"/>
          <p:cNvSpPr txBox="1"/>
          <p:nvPr/>
        </p:nvSpPr>
        <p:spPr>
          <a:xfrm>
            <a:off x="8275320" y="4526280"/>
            <a:ext cx="3108960" cy="274320"/>
          </a:xfrm>
          <a:prstGeom prst="rect">
            <a:avLst/>
          </a:prstGeom>
          <a:noFill/>
        </p:spPr>
        <p:txBody>
          <a:bodyPr wrap="square">
            <a:spAutoFit/>
          </a:bodyPr>
          <a:lstStyle/>
          <a:p>
            <a:pPr algn="l">
              <a:spcBef>
                <a:spcPts val="0"/>
              </a:spcBef>
              <a:spcAft>
                <a:spcPts val="0"/>
              </a:spcAft>
              <a:defRPr sz="800" b="0">
                <a:solidFill>
                  <a:srgbClr val="888888"/>
                </a:solidFill>
                <a:latin typeface="Inter"/>
              </a:defRPr>
            </a:pPr>
            <a:r>
              <a:t>contact data decay rate</a:t>
            </a:r>
          </a:p>
        </p:txBody>
      </p:sp>
      <p:sp>
        <p:nvSpPr>
          <p:cNvPr id="23" name="TextBox 22"/>
          <p:cNvSpPr txBox="1"/>
          <p:nvPr/>
        </p:nvSpPr>
        <p:spPr>
          <a:xfrm>
            <a:off x="548640" y="5074920"/>
            <a:ext cx="10058400" cy="594360"/>
          </a:xfrm>
          <a:prstGeom prst="rect">
            <a:avLst/>
          </a:prstGeom>
          <a:noFill/>
        </p:spPr>
        <p:txBody>
          <a:bodyPr wrap="square">
            <a:spAutoFit/>
          </a:bodyPr>
          <a:lstStyle/>
          <a:p>
            <a:pPr algn="l">
              <a:spcBef>
                <a:spcPts val="0"/>
              </a:spcBef>
              <a:spcAft>
                <a:spcPts val="0"/>
              </a:spcAft>
            </a:pPr>
            <a:r>
              <a:rPr sz="1100" b="0">
                <a:solidFill>
                  <a:srgbClr val="3D3D3F"/>
                </a:solidFill>
                <a:latin typeface="Inter"/>
              </a:rPr>
              <a:t>And on top of it all — </a:t>
            </a:r>
            <a:r>
              <a:rPr sz="1500" b="1">
                <a:solidFill>
                  <a:srgbClr val="131314"/>
                </a:solidFill>
                <a:latin typeface="Inter"/>
              </a:rPr>
              <a:t>8–12 tools that don't connect. 3–6 months to deploy a CRM. </a:t>
            </a:r>
            <a:r>
              <a:rPr sz="1500" b="1">
                <a:solidFill>
                  <a:srgbClr val="D97757"/>
                </a:solidFill>
                <a:latin typeface="Inter"/>
              </a:rPr>
              <a:t>$150K+ before anyone sees value.</a:t>
            </a:r>
          </a:p>
        </p:txBody>
      </p:sp>
      <p:cxnSp>
        <p:nvCxnSpPr>
          <p:cNvPr id="24" name="Connector 23"/>
          <p:cNvCxnSpPr/>
          <p:nvPr/>
        </p:nvCxnSpPr>
        <p:spPr>
          <a:xfrm>
            <a:off x="548640" y="5715000"/>
            <a:ext cx="11064240" cy="0"/>
          </a:xfrm>
          <a:prstGeom prst="line">
            <a:avLst/>
          </a:prstGeom>
          <a:ln w="6350">
            <a:solidFill>
              <a:srgbClr val="E0DFD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5806440"/>
            <a:ext cx="1828800" cy="228600"/>
          </a:xfrm>
          <a:prstGeom prst="rect">
            <a:avLst/>
          </a:prstGeom>
          <a:noFill/>
        </p:spPr>
        <p:txBody>
          <a:bodyPr wrap="square">
            <a:spAutoFit/>
          </a:bodyPr>
          <a:lstStyle/>
          <a:p>
            <a:pPr algn="l">
              <a:spcBef>
                <a:spcPts val="0"/>
              </a:spcBef>
              <a:spcAft>
                <a:spcPts val="0"/>
              </a:spcAft>
              <a:defRPr sz="900" b="1">
                <a:solidFill>
                  <a:srgbClr val="D97757"/>
                </a:solidFill>
                <a:latin typeface="Inter"/>
              </a:defRPr>
            </a:pPr>
            <a:r>
              <a:t>THE SHIFT</a:t>
            </a:r>
          </a:p>
        </p:txBody>
      </p:sp>
      <p:cxnSp>
        <p:nvCxnSpPr>
          <p:cNvPr id="26" name="Connector 25"/>
          <p:cNvCxnSpPr/>
          <p:nvPr/>
        </p:nvCxnSpPr>
        <p:spPr>
          <a:xfrm>
            <a:off x="548640" y="6080760"/>
            <a:ext cx="0" cy="457200"/>
          </a:xfrm>
          <a:prstGeom prst="line">
            <a:avLst/>
          </a:prstGeom>
          <a:ln w="31750">
            <a:solidFill>
              <a:srgbClr val="D9775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6053328"/>
            <a:ext cx="3383280" cy="502920"/>
          </a:xfrm>
          <a:prstGeom prst="rect">
            <a:avLst/>
          </a:prstGeom>
          <a:noFill/>
        </p:spPr>
        <p:txBody>
          <a:bodyPr wrap="square">
            <a:spAutoFit/>
          </a:bodyPr>
          <a:lstStyle/>
          <a:p>
            <a:pPr algn="l">
              <a:spcBef>
                <a:spcPts val="0"/>
              </a:spcBef>
              <a:spcAft>
                <a:spcPts val="200"/>
              </a:spcAft>
              <a:defRPr sz="1100" b="1">
                <a:solidFill>
                  <a:srgbClr val="131314"/>
                </a:solidFill>
                <a:latin typeface="Inter"/>
              </a:defRPr>
            </a:pPr>
            <a:r>
              <a:t>AI employees, not AI features</a:t>
            </a:r>
          </a:p>
          <a:p>
            <a:pPr algn="l">
              <a:spcBef>
                <a:spcPts val="0"/>
              </a:spcBef>
              <a:spcAft>
                <a:spcPts val="0"/>
              </a:spcAft>
              <a:defRPr sz="900" b="0">
                <a:solidFill>
                  <a:srgbClr val="3D3D3F"/>
                </a:solidFill>
                <a:latin typeface="Inter"/>
              </a:defRPr>
            </a:pPr>
            <a:r>
              <a:t>Autonomous agents that plan, reason, and execute across sales, marketing, and service.</a:t>
            </a:r>
          </a:p>
        </p:txBody>
      </p:sp>
      <p:cxnSp>
        <p:nvCxnSpPr>
          <p:cNvPr id="28" name="Connector 27"/>
          <p:cNvCxnSpPr/>
          <p:nvPr/>
        </p:nvCxnSpPr>
        <p:spPr>
          <a:xfrm>
            <a:off x="4297679" y="6080760"/>
            <a:ext cx="0" cy="457200"/>
          </a:xfrm>
          <a:prstGeom prst="line">
            <a:avLst/>
          </a:prstGeom>
          <a:ln w="31750">
            <a:solidFill>
              <a:srgbClr val="D9775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434839" y="6053328"/>
            <a:ext cx="3383280" cy="502920"/>
          </a:xfrm>
          <a:prstGeom prst="rect">
            <a:avLst/>
          </a:prstGeom>
          <a:noFill/>
        </p:spPr>
        <p:txBody>
          <a:bodyPr wrap="square">
            <a:spAutoFit/>
          </a:bodyPr>
          <a:lstStyle/>
          <a:p>
            <a:pPr algn="l">
              <a:spcBef>
                <a:spcPts val="0"/>
              </a:spcBef>
              <a:spcAft>
                <a:spcPts val="200"/>
              </a:spcAft>
              <a:defRPr sz="1100" b="1">
                <a:solidFill>
                  <a:srgbClr val="131314"/>
                </a:solidFill>
                <a:latin typeface="Inter"/>
              </a:defRPr>
            </a:pPr>
            <a:r>
              <a:t>One platform, not ten tools</a:t>
            </a:r>
          </a:p>
          <a:p>
            <a:pPr algn="l">
              <a:spcBef>
                <a:spcPts val="0"/>
              </a:spcBef>
              <a:spcAft>
                <a:spcPts val="0"/>
              </a:spcAft>
              <a:defRPr sz="900" b="0">
                <a:solidFill>
                  <a:srgbClr val="3D3D3F"/>
                </a:solidFill>
                <a:latin typeface="Inter"/>
              </a:defRPr>
            </a:pPr>
            <a:r>
              <a:t>Shared data, shared AI. No sync, no connectors, no per-tool licensing.</a:t>
            </a:r>
          </a:p>
        </p:txBody>
      </p:sp>
      <p:cxnSp>
        <p:nvCxnSpPr>
          <p:cNvPr id="30" name="Connector 29"/>
          <p:cNvCxnSpPr/>
          <p:nvPr/>
        </p:nvCxnSpPr>
        <p:spPr>
          <a:xfrm>
            <a:off x="8046718" y="6080760"/>
            <a:ext cx="0" cy="457200"/>
          </a:xfrm>
          <a:prstGeom prst="line">
            <a:avLst/>
          </a:prstGeom>
          <a:ln w="31750">
            <a:solidFill>
              <a:srgbClr val="D9775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83878" y="6053328"/>
            <a:ext cx="3383280" cy="502920"/>
          </a:xfrm>
          <a:prstGeom prst="rect">
            <a:avLst/>
          </a:prstGeom>
          <a:noFill/>
        </p:spPr>
        <p:txBody>
          <a:bodyPr wrap="square">
            <a:spAutoFit/>
          </a:bodyPr>
          <a:lstStyle/>
          <a:p>
            <a:pPr algn="l">
              <a:spcBef>
                <a:spcPts val="0"/>
              </a:spcBef>
              <a:spcAft>
                <a:spcPts val="200"/>
              </a:spcAft>
              <a:defRPr sz="1100" b="1">
                <a:solidFill>
                  <a:srgbClr val="131314"/>
                </a:solidFill>
                <a:latin typeface="Inter"/>
              </a:defRPr>
            </a:pPr>
            <a:r>
              <a:t>Hours to deploy, not months</a:t>
            </a:r>
          </a:p>
          <a:p>
            <a:pPr algn="l">
              <a:spcBef>
                <a:spcPts val="0"/>
              </a:spcBef>
              <a:spcAft>
                <a:spcPts val="0"/>
              </a:spcAft>
              <a:defRPr sz="900" b="0">
                <a:solidFill>
                  <a:srgbClr val="3D3D3F"/>
                </a:solidFill>
                <a:latin typeface="Inter"/>
              </a:defRPr>
            </a:pPr>
            <a:r>
              <a:t>Scans your company, configures itself, starts operating. 24 hours. Zero consultants.</a:t>
            </a:r>
          </a:p>
        </p:txBody>
      </p:sp>
      <p:sp>
        <p:nvSpPr>
          <p:cNvPr id="32" name="TextBox 31"/>
          <p:cNvSpPr txBox="1"/>
          <p:nvPr/>
        </p:nvSpPr>
        <p:spPr>
          <a:xfrm>
            <a:off x="548640" y="6537960"/>
            <a:ext cx="4572000" cy="228600"/>
          </a:xfrm>
          <a:prstGeom prst="rect">
            <a:avLst/>
          </a:prstGeom>
          <a:noFill/>
        </p:spPr>
        <p:txBody>
          <a:bodyPr wrap="square">
            <a:spAutoFit/>
          </a:bodyPr>
          <a:lstStyle/>
          <a:p>
            <a:pPr algn="l">
              <a:spcBef>
                <a:spcPts val="0"/>
              </a:spcBef>
              <a:spcAft>
                <a:spcPts val="0"/>
              </a:spcAft>
              <a:defRPr sz="750" b="0">
                <a:solidFill>
                  <a:srgbClr val="BBBBBB"/>
                </a:solidFill>
                <a:latin typeface="Inter"/>
              </a:defRPr>
            </a:pPr>
            <a:r>
              <a:t>Salesteq — Elyon GmbH, Zug, Switzerland</a:t>
            </a:r>
          </a:p>
        </p:txBody>
      </p:sp>
      <p:sp>
        <p:nvSpPr>
          <p:cNvPr id="33" name="TextBox 32"/>
          <p:cNvSpPr txBox="1"/>
          <p:nvPr/>
        </p:nvSpPr>
        <p:spPr>
          <a:xfrm>
            <a:off x="9144000" y="6537960"/>
            <a:ext cx="2468880" cy="228600"/>
          </a:xfrm>
          <a:prstGeom prst="rect">
            <a:avLst/>
          </a:prstGeom>
          <a:noFill/>
        </p:spPr>
        <p:txBody>
          <a:bodyPr wrap="square">
            <a:spAutoFit/>
          </a:bodyPr>
          <a:lstStyle/>
          <a:p>
            <a:pPr algn="r">
              <a:spcBef>
                <a:spcPts val="0"/>
              </a:spcBef>
              <a:spcAft>
                <a:spcPts val="0"/>
              </a:spcAft>
              <a:defRPr sz="750" b="0">
                <a:solidFill>
                  <a:srgbClr val="BBBBBB"/>
                </a:solidFill>
                <a:latin typeface="Inter"/>
              </a:defRPr>
            </a:pPr>
            <a: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0"/>
        </a:solidFill>
        <a:effectLst/>
      </p:bgPr>
    </p:bg>
    <p:spTree>
      <p:nvGrpSpPr>
        <p:cNvPr id="1" name=""/>
        <p:cNvGrpSpPr/>
        <p:nvPr/>
      </p:nvGrpSpPr>
      <p:grpSpPr/>
      <p:cxnSp>
        <p:nvCxnSpPr>
          <p:cNvPr id="2" name="Connector 1"/>
          <p:cNvCxnSpPr/>
          <p:nvPr/>
        </p:nvCxnSpPr>
        <p:spPr>
          <a:xfrm>
            <a:off x="548640" y="777240"/>
            <a:ext cx="11064240" cy="0"/>
          </a:xfrm>
          <a:prstGeom prst="line">
            <a:avLst/>
          </a:prstGeom>
          <a:ln w="9525">
            <a:solidFill>
              <a:srgbClr val="E0DFD6"/>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320040"/>
            <a:ext cx="1828800" cy="411480"/>
          </a:xfrm>
          <a:prstGeom prst="rect">
            <a:avLst/>
          </a:prstGeom>
          <a:noFill/>
        </p:spPr>
        <p:txBody>
          <a:bodyPr wrap="square">
            <a:spAutoFit/>
          </a:bodyPr>
          <a:lstStyle/>
          <a:p>
            <a:pPr algn="l">
              <a:spcBef>
                <a:spcPts val="0"/>
              </a:spcBef>
              <a:spcAft>
                <a:spcPts val="0"/>
              </a:spcAft>
              <a:defRPr sz="1600" b="1">
                <a:solidFill>
                  <a:srgbClr val="131314"/>
                </a:solidFill>
                <a:latin typeface="Inter"/>
              </a:defRPr>
            </a:pPr>
            <a:r>
              <a:t>Salesteq</a:t>
            </a:r>
          </a:p>
        </p:txBody>
      </p:sp>
      <p:sp>
        <p:nvSpPr>
          <p:cNvPr id="4" name="TextBox 3"/>
          <p:cNvSpPr txBox="1"/>
          <p:nvPr/>
        </p:nvSpPr>
        <p:spPr>
          <a:xfrm>
            <a:off x="9418320" y="347472"/>
            <a:ext cx="2194560" cy="365760"/>
          </a:xfrm>
          <a:prstGeom prst="rect">
            <a:avLst/>
          </a:prstGeom>
          <a:noFill/>
        </p:spPr>
        <p:txBody>
          <a:bodyPr wrap="square">
            <a:spAutoFit/>
          </a:bodyPr>
          <a:lstStyle/>
          <a:p>
            <a:pPr algn="r">
              <a:spcBef>
                <a:spcPts val="0"/>
              </a:spcBef>
              <a:spcAft>
                <a:spcPts val="0"/>
              </a:spcAft>
              <a:defRPr sz="800" b="0">
                <a:solidFill>
                  <a:srgbClr val="3D3D3F"/>
                </a:solidFill>
                <a:latin typeface="JetBrains Mono"/>
              </a:defRPr>
            </a:pPr>
            <a:r>
              <a:t>The Platform</a:t>
            </a:r>
          </a:p>
        </p:txBody>
      </p:sp>
      <p:sp>
        <p:nvSpPr>
          <p:cNvPr id="5" name="TextBox 4"/>
          <p:cNvSpPr txBox="1"/>
          <p:nvPr/>
        </p:nvSpPr>
        <p:spPr>
          <a:xfrm>
            <a:off x="548640" y="960120"/>
            <a:ext cx="5486400" cy="274320"/>
          </a:xfrm>
          <a:prstGeom prst="rect">
            <a:avLst/>
          </a:prstGeom>
          <a:noFill/>
        </p:spPr>
        <p:txBody>
          <a:bodyPr wrap="square">
            <a:spAutoFit/>
          </a:bodyPr>
          <a:lstStyle/>
          <a:p>
            <a:pPr algn="l">
              <a:spcBef>
                <a:spcPts val="0"/>
              </a:spcBef>
              <a:spcAft>
                <a:spcPts val="0"/>
              </a:spcAft>
              <a:defRPr sz="900" b="1">
                <a:solidFill>
                  <a:srgbClr val="D97757"/>
                </a:solidFill>
                <a:latin typeface="Inter"/>
              </a:defRPr>
            </a:pPr>
            <a:r>
              <a:t>THREE DOMAINS — ONE AI PLATFORM</a:t>
            </a:r>
          </a:p>
        </p:txBody>
      </p:sp>
      <p:sp>
        <p:nvSpPr>
          <p:cNvPr id="6" name="Rounded Rectangle 5"/>
          <p:cNvSpPr/>
          <p:nvPr/>
        </p:nvSpPr>
        <p:spPr>
          <a:xfrm>
            <a:off x="548640" y="1325880"/>
            <a:ext cx="3566160" cy="2240280"/>
          </a:xfrm>
          <a:prstGeom prst="roundRect">
            <a:avLst>
              <a:gd name="adj" fmla="val 5000"/>
            </a:avLst>
          </a:prstGeom>
          <a:noFill/>
          <a:ln w="9525">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914400" cy="201168"/>
          </a:xfrm>
          <a:prstGeom prst="rect">
            <a:avLst/>
          </a:prstGeom>
          <a:noFill/>
        </p:spPr>
        <p:txBody>
          <a:bodyPr wrap="square">
            <a:spAutoFit/>
          </a:bodyPr>
          <a:lstStyle/>
          <a:p>
            <a:pPr algn="l">
              <a:spcBef>
                <a:spcPts val="0"/>
              </a:spcBef>
              <a:spcAft>
                <a:spcPts val="0"/>
              </a:spcAft>
              <a:defRPr sz="850" b="0">
                <a:solidFill>
                  <a:srgbClr val="D97757"/>
                </a:solidFill>
                <a:latin typeface="JetBrains Mono"/>
              </a:defRPr>
            </a:pPr>
            <a:r>
              <a:t>01</a:t>
            </a:r>
          </a:p>
        </p:txBody>
      </p:sp>
      <p:sp>
        <p:nvSpPr>
          <p:cNvPr id="8" name="TextBox 7"/>
          <p:cNvSpPr txBox="1"/>
          <p:nvPr/>
        </p:nvSpPr>
        <p:spPr>
          <a:xfrm>
            <a:off x="777240" y="1645920"/>
            <a:ext cx="3108960" cy="274320"/>
          </a:xfrm>
          <a:prstGeom prst="rect">
            <a:avLst/>
          </a:prstGeom>
          <a:noFill/>
        </p:spPr>
        <p:txBody>
          <a:bodyPr wrap="square">
            <a:spAutoFit/>
          </a:bodyPr>
          <a:lstStyle/>
          <a:p>
            <a:pPr algn="l">
              <a:spcBef>
                <a:spcPts val="0"/>
              </a:spcBef>
              <a:spcAft>
                <a:spcPts val="0"/>
              </a:spcAft>
              <a:defRPr sz="1400" b="1">
                <a:solidFill>
                  <a:srgbClr val="131314"/>
                </a:solidFill>
                <a:latin typeface="Inter"/>
              </a:defRPr>
            </a:pPr>
            <a:r>
              <a:t>Operate</a:t>
            </a:r>
          </a:p>
        </p:txBody>
      </p:sp>
      <p:sp>
        <p:nvSpPr>
          <p:cNvPr id="9" name="TextBox 8"/>
          <p:cNvSpPr txBox="1"/>
          <p:nvPr/>
        </p:nvSpPr>
        <p:spPr>
          <a:xfrm>
            <a:off x="777240" y="1892808"/>
            <a:ext cx="3108960" cy="201168"/>
          </a:xfrm>
          <a:prstGeom prst="rect">
            <a:avLst/>
          </a:prstGeom>
          <a:noFill/>
        </p:spPr>
        <p:txBody>
          <a:bodyPr wrap="square">
            <a:spAutoFit/>
          </a:bodyPr>
          <a:lstStyle/>
          <a:p>
            <a:pPr algn="l">
              <a:spcBef>
                <a:spcPts val="0"/>
              </a:spcBef>
              <a:spcAft>
                <a:spcPts val="0"/>
              </a:spcAft>
              <a:defRPr sz="800" b="0">
                <a:solidFill>
                  <a:srgbClr val="3D3D3F"/>
                </a:solidFill>
                <a:latin typeface="JetBrains Mono"/>
              </a:defRPr>
            </a:pPr>
            <a:r>
              <a:t>Customer Service</a:t>
            </a:r>
          </a:p>
        </p:txBody>
      </p:sp>
      <p:sp>
        <p:nvSpPr>
          <p:cNvPr id="10" name="TextBox 9"/>
          <p:cNvSpPr txBox="1"/>
          <p:nvPr/>
        </p:nvSpPr>
        <p:spPr>
          <a:xfrm>
            <a:off x="777240" y="2130552"/>
            <a:ext cx="3108960" cy="685800"/>
          </a:xfrm>
          <a:prstGeom prst="rect">
            <a:avLst/>
          </a:prstGeom>
          <a:noFill/>
        </p:spPr>
        <p:txBody>
          <a:bodyPr wrap="square">
            <a:spAutoFit/>
          </a:bodyPr>
          <a:lstStyle/>
          <a:p>
            <a:pPr algn="l">
              <a:spcBef>
                <a:spcPts val="0"/>
              </a:spcBef>
              <a:spcAft>
                <a:spcPts val="0"/>
              </a:spcAft>
              <a:defRPr sz="950" b="0">
                <a:solidFill>
                  <a:srgbClr val="3D3D3F"/>
                </a:solidFill>
                <a:latin typeface="Inter"/>
              </a:defRPr>
            </a:pPr>
            <a:r>
              <a:t>AI handles customer support — voice-first, any language, real-time. Hears emotion, responds naturally, takes action while still talking.</a:t>
            </a:r>
          </a:p>
        </p:txBody>
      </p:sp>
      <p:cxnSp>
        <p:nvCxnSpPr>
          <p:cNvPr id="11" name="Connector 10"/>
          <p:cNvCxnSpPr/>
          <p:nvPr/>
        </p:nvCxnSpPr>
        <p:spPr>
          <a:xfrm>
            <a:off x="777240" y="2898648"/>
            <a:ext cx="3108960" cy="0"/>
          </a:xfrm>
          <a:prstGeom prst="line">
            <a:avLst/>
          </a:prstGeom>
          <a:ln w="6350">
            <a:solidFill>
              <a:srgbClr val="E8E7D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2953512"/>
            <a:ext cx="3108960" cy="548640"/>
          </a:xfrm>
          <a:prstGeom prst="rect">
            <a:avLst/>
          </a:prstGeom>
          <a:noFill/>
        </p:spPr>
        <p:txBody>
          <a:bodyPr wrap="square">
            <a:spAutoFit/>
          </a:bodyPr>
          <a:lstStyle/>
          <a:p>
            <a:pPr algn="l">
              <a:spcBef>
                <a:spcPts val="0"/>
              </a:spcBef>
              <a:spcAft>
                <a:spcPts val="0"/>
              </a:spcAft>
              <a:defRPr sz="850" b="0">
                <a:solidFill>
                  <a:srgbClr val="131314"/>
                </a:solidFill>
                <a:latin typeface="Inter"/>
              </a:defRPr>
            </a:pPr>
            <a:r>
              <a:t>Customer calls → AI answers in their language → resolves issue → escalates if needed — all under 400ms.</a:t>
            </a:r>
          </a:p>
        </p:txBody>
      </p:sp>
      <p:sp>
        <p:nvSpPr>
          <p:cNvPr id="13" name="Rounded Rectangle 12"/>
          <p:cNvSpPr/>
          <p:nvPr/>
        </p:nvSpPr>
        <p:spPr>
          <a:xfrm>
            <a:off x="4297680" y="1325880"/>
            <a:ext cx="3566160" cy="2240280"/>
          </a:xfrm>
          <a:prstGeom prst="roundRect">
            <a:avLst>
              <a:gd name="adj" fmla="val 5000"/>
            </a:avLst>
          </a:prstGeom>
          <a:noFill/>
          <a:ln w="9525">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463040"/>
            <a:ext cx="914400" cy="201168"/>
          </a:xfrm>
          <a:prstGeom prst="rect">
            <a:avLst/>
          </a:prstGeom>
          <a:noFill/>
        </p:spPr>
        <p:txBody>
          <a:bodyPr wrap="square">
            <a:spAutoFit/>
          </a:bodyPr>
          <a:lstStyle/>
          <a:p>
            <a:pPr algn="l">
              <a:spcBef>
                <a:spcPts val="0"/>
              </a:spcBef>
              <a:spcAft>
                <a:spcPts val="0"/>
              </a:spcAft>
              <a:defRPr sz="850" b="0">
                <a:solidFill>
                  <a:srgbClr val="D97757"/>
                </a:solidFill>
                <a:latin typeface="JetBrains Mono"/>
              </a:defRPr>
            </a:pPr>
            <a:r>
              <a:t>02</a:t>
            </a:r>
          </a:p>
        </p:txBody>
      </p:sp>
      <p:sp>
        <p:nvSpPr>
          <p:cNvPr id="15" name="TextBox 14"/>
          <p:cNvSpPr txBox="1"/>
          <p:nvPr/>
        </p:nvSpPr>
        <p:spPr>
          <a:xfrm>
            <a:off x="4526280" y="1645920"/>
            <a:ext cx="3108960" cy="274320"/>
          </a:xfrm>
          <a:prstGeom prst="rect">
            <a:avLst/>
          </a:prstGeom>
          <a:noFill/>
        </p:spPr>
        <p:txBody>
          <a:bodyPr wrap="square">
            <a:spAutoFit/>
          </a:bodyPr>
          <a:lstStyle/>
          <a:p>
            <a:pPr algn="l">
              <a:spcBef>
                <a:spcPts val="0"/>
              </a:spcBef>
              <a:spcAft>
                <a:spcPts val="0"/>
              </a:spcAft>
              <a:defRPr sz="1400" b="1">
                <a:solidFill>
                  <a:srgbClr val="131314"/>
                </a:solidFill>
                <a:latin typeface="Inter"/>
              </a:defRPr>
            </a:pPr>
            <a:r>
              <a:t>Grow</a:t>
            </a:r>
          </a:p>
        </p:txBody>
      </p:sp>
      <p:sp>
        <p:nvSpPr>
          <p:cNvPr id="16" name="TextBox 15"/>
          <p:cNvSpPr txBox="1"/>
          <p:nvPr/>
        </p:nvSpPr>
        <p:spPr>
          <a:xfrm>
            <a:off x="4526280" y="1892808"/>
            <a:ext cx="3108960" cy="201168"/>
          </a:xfrm>
          <a:prstGeom prst="rect">
            <a:avLst/>
          </a:prstGeom>
          <a:noFill/>
        </p:spPr>
        <p:txBody>
          <a:bodyPr wrap="square">
            <a:spAutoFit/>
          </a:bodyPr>
          <a:lstStyle/>
          <a:p>
            <a:pPr algn="l">
              <a:spcBef>
                <a:spcPts val="0"/>
              </a:spcBef>
              <a:spcAft>
                <a:spcPts val="0"/>
              </a:spcAft>
              <a:defRPr sz="800" b="0">
                <a:solidFill>
                  <a:srgbClr val="3D3D3F"/>
                </a:solidFill>
                <a:latin typeface="JetBrains Mono"/>
              </a:defRPr>
            </a:pPr>
            <a:r>
              <a:t>Sales &amp; Marketing</a:t>
            </a:r>
          </a:p>
        </p:txBody>
      </p:sp>
      <p:sp>
        <p:nvSpPr>
          <p:cNvPr id="17" name="TextBox 16"/>
          <p:cNvSpPr txBox="1"/>
          <p:nvPr/>
        </p:nvSpPr>
        <p:spPr>
          <a:xfrm>
            <a:off x="4526280" y="2130552"/>
            <a:ext cx="3108960" cy="685800"/>
          </a:xfrm>
          <a:prstGeom prst="rect">
            <a:avLst/>
          </a:prstGeom>
          <a:noFill/>
        </p:spPr>
        <p:txBody>
          <a:bodyPr wrap="square">
            <a:spAutoFit/>
          </a:bodyPr>
          <a:lstStyle/>
          <a:p>
            <a:pPr algn="l">
              <a:spcBef>
                <a:spcPts val="0"/>
              </a:spcBef>
              <a:spcAft>
                <a:spcPts val="0"/>
              </a:spcAft>
              <a:defRPr sz="950" b="0">
                <a:solidFill>
                  <a:srgbClr val="3D3D3F"/>
                </a:solidFill>
                <a:latin typeface="Inter"/>
              </a:defRPr>
            </a:pPr>
            <a:r>
              <a:t>AI runs the full cycle — prospecting, research, outreach, qualification, pipeline management. Generates campaigns from live intelligence.</a:t>
            </a:r>
          </a:p>
        </p:txBody>
      </p:sp>
      <p:cxnSp>
        <p:nvCxnSpPr>
          <p:cNvPr id="18" name="Connector 17"/>
          <p:cNvCxnSpPr/>
          <p:nvPr/>
        </p:nvCxnSpPr>
        <p:spPr>
          <a:xfrm>
            <a:off x="4526280" y="2898648"/>
            <a:ext cx="3108960" cy="0"/>
          </a:xfrm>
          <a:prstGeom prst="line">
            <a:avLst/>
          </a:prstGeom>
          <a:ln w="6350">
            <a:solidFill>
              <a:srgbClr val="E8E7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26280" y="2953512"/>
            <a:ext cx="3108960" cy="548640"/>
          </a:xfrm>
          <a:prstGeom prst="rect">
            <a:avLst/>
          </a:prstGeom>
          <a:noFill/>
        </p:spPr>
        <p:txBody>
          <a:bodyPr wrap="square">
            <a:spAutoFit/>
          </a:bodyPr>
          <a:lstStyle/>
          <a:p>
            <a:pPr algn="l">
              <a:spcBef>
                <a:spcPts val="0"/>
              </a:spcBef>
              <a:spcAft>
                <a:spcPts val="0"/>
              </a:spcAft>
              <a:defRPr sz="850" b="0">
                <a:solidFill>
                  <a:srgbClr val="131314"/>
                </a:solidFill>
                <a:latin typeface="Inter"/>
              </a:defRPr>
            </a:pPr>
            <a:r>
              <a:t>Define target → AI researches, drafts, calls prospects, qualifies, manages pipeline — humans approve key decisions.</a:t>
            </a:r>
          </a:p>
        </p:txBody>
      </p:sp>
      <p:sp>
        <p:nvSpPr>
          <p:cNvPr id="20" name="Rounded Rectangle 19"/>
          <p:cNvSpPr/>
          <p:nvPr/>
        </p:nvSpPr>
        <p:spPr>
          <a:xfrm>
            <a:off x="8046720" y="1325880"/>
            <a:ext cx="3566160" cy="2240280"/>
          </a:xfrm>
          <a:prstGeom prst="roundRect">
            <a:avLst>
              <a:gd name="adj" fmla="val 5000"/>
            </a:avLst>
          </a:prstGeom>
          <a:noFill/>
          <a:ln w="9525">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463040"/>
            <a:ext cx="914400" cy="201168"/>
          </a:xfrm>
          <a:prstGeom prst="rect">
            <a:avLst/>
          </a:prstGeom>
          <a:noFill/>
        </p:spPr>
        <p:txBody>
          <a:bodyPr wrap="square">
            <a:spAutoFit/>
          </a:bodyPr>
          <a:lstStyle/>
          <a:p>
            <a:pPr algn="l">
              <a:spcBef>
                <a:spcPts val="0"/>
              </a:spcBef>
              <a:spcAft>
                <a:spcPts val="0"/>
              </a:spcAft>
              <a:defRPr sz="850" b="0">
                <a:solidFill>
                  <a:srgbClr val="D97757"/>
                </a:solidFill>
                <a:latin typeface="JetBrains Mono"/>
              </a:defRPr>
            </a:pPr>
            <a:r>
              <a:t>03</a:t>
            </a:r>
          </a:p>
        </p:txBody>
      </p:sp>
      <p:sp>
        <p:nvSpPr>
          <p:cNvPr id="22" name="TextBox 21"/>
          <p:cNvSpPr txBox="1"/>
          <p:nvPr/>
        </p:nvSpPr>
        <p:spPr>
          <a:xfrm>
            <a:off x="8275320" y="1645920"/>
            <a:ext cx="3108960" cy="274320"/>
          </a:xfrm>
          <a:prstGeom prst="rect">
            <a:avLst/>
          </a:prstGeom>
          <a:noFill/>
        </p:spPr>
        <p:txBody>
          <a:bodyPr wrap="square">
            <a:spAutoFit/>
          </a:bodyPr>
          <a:lstStyle/>
          <a:p>
            <a:pPr algn="l">
              <a:spcBef>
                <a:spcPts val="0"/>
              </a:spcBef>
              <a:spcAft>
                <a:spcPts val="0"/>
              </a:spcAft>
              <a:defRPr sz="1400" b="1">
                <a:solidFill>
                  <a:srgbClr val="131314"/>
                </a:solidFill>
                <a:latin typeface="Inter"/>
              </a:defRPr>
            </a:pPr>
            <a:r>
              <a:t>Know</a:t>
            </a:r>
          </a:p>
        </p:txBody>
      </p:sp>
      <p:sp>
        <p:nvSpPr>
          <p:cNvPr id="23" name="TextBox 22"/>
          <p:cNvSpPr txBox="1"/>
          <p:nvPr/>
        </p:nvSpPr>
        <p:spPr>
          <a:xfrm>
            <a:off x="8275320" y="1892808"/>
            <a:ext cx="3108960" cy="201168"/>
          </a:xfrm>
          <a:prstGeom prst="rect">
            <a:avLst/>
          </a:prstGeom>
          <a:noFill/>
        </p:spPr>
        <p:txBody>
          <a:bodyPr wrap="square">
            <a:spAutoFit/>
          </a:bodyPr>
          <a:lstStyle/>
          <a:p>
            <a:pPr algn="l">
              <a:spcBef>
                <a:spcPts val="0"/>
              </a:spcBef>
              <a:spcAft>
                <a:spcPts val="0"/>
              </a:spcAft>
              <a:defRPr sz="800" b="0">
                <a:solidFill>
                  <a:srgbClr val="3D3D3F"/>
                </a:solidFill>
                <a:latin typeface="JetBrains Mono"/>
              </a:defRPr>
            </a:pPr>
            <a:r>
              <a:t>Intelligence</a:t>
            </a:r>
          </a:p>
        </p:txBody>
      </p:sp>
      <p:sp>
        <p:nvSpPr>
          <p:cNvPr id="24" name="TextBox 23"/>
          <p:cNvSpPr txBox="1"/>
          <p:nvPr/>
        </p:nvSpPr>
        <p:spPr>
          <a:xfrm>
            <a:off x="8275320" y="2130552"/>
            <a:ext cx="3108960" cy="685800"/>
          </a:xfrm>
          <a:prstGeom prst="rect">
            <a:avLst/>
          </a:prstGeom>
          <a:noFill/>
        </p:spPr>
        <p:txBody>
          <a:bodyPr wrap="square">
            <a:spAutoFit/>
          </a:bodyPr>
          <a:lstStyle/>
          <a:p>
            <a:pPr algn="l">
              <a:spcBef>
                <a:spcPts val="0"/>
              </a:spcBef>
              <a:spcAft>
                <a:spcPts val="0"/>
              </a:spcAft>
              <a:defRPr sz="950" b="0">
                <a:solidFill>
                  <a:srgbClr val="3D3D3F"/>
                </a:solidFill>
                <a:latin typeface="Inter"/>
              </a:defRPr>
            </a:pPr>
            <a:r>
              <a:t>Two knowledge systems unified. The world outside: 7M companies, 14M contacts. Your world inside: products, docs, emails, learnings.</a:t>
            </a:r>
          </a:p>
        </p:txBody>
      </p:sp>
      <p:cxnSp>
        <p:nvCxnSpPr>
          <p:cNvPr id="25" name="Connector 24"/>
          <p:cNvCxnSpPr/>
          <p:nvPr/>
        </p:nvCxnSpPr>
        <p:spPr>
          <a:xfrm>
            <a:off x="8275320" y="2898648"/>
            <a:ext cx="3108960" cy="0"/>
          </a:xfrm>
          <a:prstGeom prst="line">
            <a:avLst/>
          </a:prstGeom>
          <a:ln w="6350">
            <a:solidFill>
              <a:srgbClr val="E8E7D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75320" y="2953512"/>
            <a:ext cx="3108960" cy="548640"/>
          </a:xfrm>
          <a:prstGeom prst="rect">
            <a:avLst/>
          </a:prstGeom>
          <a:noFill/>
        </p:spPr>
        <p:txBody>
          <a:bodyPr wrap="square">
            <a:spAutoFit/>
          </a:bodyPr>
          <a:lstStyle/>
          <a:p>
            <a:pPr algn="l">
              <a:spcBef>
                <a:spcPts val="0"/>
              </a:spcBef>
              <a:spcAft>
                <a:spcPts val="0"/>
              </a:spcAft>
              <a:defRPr sz="850" b="0">
                <a:solidFill>
                  <a:srgbClr val="131314"/>
                </a:solidFill>
                <a:latin typeface="Inter"/>
              </a:defRPr>
            </a:pPr>
            <a:r>
              <a:t>AI enriches, scores, researches — feeds intelligence into service and sales automatically.</a:t>
            </a:r>
          </a:p>
        </p:txBody>
      </p:sp>
      <p:sp>
        <p:nvSpPr>
          <p:cNvPr id="27" name="TextBox 26"/>
          <p:cNvSpPr txBox="1"/>
          <p:nvPr/>
        </p:nvSpPr>
        <p:spPr>
          <a:xfrm>
            <a:off x="548640" y="3749039"/>
            <a:ext cx="7315200" cy="274320"/>
          </a:xfrm>
          <a:prstGeom prst="rect">
            <a:avLst/>
          </a:prstGeom>
          <a:noFill/>
        </p:spPr>
        <p:txBody>
          <a:bodyPr wrap="square">
            <a:spAutoFit/>
          </a:bodyPr>
          <a:lstStyle/>
          <a:p>
            <a:pPr algn="l">
              <a:spcBef>
                <a:spcPts val="0"/>
              </a:spcBef>
              <a:spcAft>
                <a:spcPts val="0"/>
              </a:spcAft>
              <a:defRPr sz="900" b="1">
                <a:solidFill>
                  <a:srgbClr val="D97757"/>
                </a:solidFill>
                <a:latin typeface="Inter"/>
              </a:defRPr>
            </a:pPr>
            <a:r>
              <a:t>FIVE PRODUCTS — BUILT FROM SCRATCH, PRODUCTION TODAY</a:t>
            </a:r>
          </a:p>
        </p:txBody>
      </p:sp>
      <p:sp>
        <p:nvSpPr>
          <p:cNvPr id="28" name="Rounded Rectangle 27"/>
          <p:cNvSpPr/>
          <p:nvPr/>
        </p:nvSpPr>
        <p:spPr>
          <a:xfrm>
            <a:off x="548640" y="4069080"/>
            <a:ext cx="2148840" cy="1051560"/>
          </a:xfrm>
          <a:prstGeom prst="roundRect">
            <a:avLst>
              <a:gd name="adj" fmla="val 5000"/>
            </a:avLst>
          </a:prstGeom>
          <a:noFill/>
          <a:ln w="6350">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160520"/>
            <a:ext cx="1874520" cy="228600"/>
          </a:xfrm>
          <a:prstGeom prst="rect">
            <a:avLst/>
          </a:prstGeom>
          <a:noFill/>
        </p:spPr>
        <p:txBody>
          <a:bodyPr wrap="square">
            <a:spAutoFit/>
          </a:bodyPr>
          <a:lstStyle/>
          <a:p>
            <a:pPr algn="l">
              <a:spcBef>
                <a:spcPts val="0"/>
              </a:spcBef>
              <a:spcAft>
                <a:spcPts val="0"/>
              </a:spcAft>
              <a:defRPr sz="1100" b="1">
                <a:solidFill>
                  <a:srgbClr val="131314"/>
                </a:solidFill>
                <a:latin typeface="Inter"/>
              </a:defRPr>
            </a:pPr>
            <a:r>
              <a:t>Badger</a:t>
            </a:r>
          </a:p>
        </p:txBody>
      </p:sp>
      <p:sp>
        <p:nvSpPr>
          <p:cNvPr id="30" name="TextBox 29"/>
          <p:cNvSpPr txBox="1"/>
          <p:nvPr/>
        </p:nvSpPr>
        <p:spPr>
          <a:xfrm>
            <a:off x="685800" y="4343400"/>
            <a:ext cx="1874520" cy="164592"/>
          </a:xfrm>
          <a:prstGeom prst="rect">
            <a:avLst/>
          </a:prstGeom>
          <a:noFill/>
        </p:spPr>
        <p:txBody>
          <a:bodyPr wrap="square">
            <a:spAutoFit/>
          </a:bodyPr>
          <a:lstStyle/>
          <a:p>
            <a:pPr algn="l">
              <a:spcBef>
                <a:spcPts val="0"/>
              </a:spcBef>
              <a:spcAft>
                <a:spcPts val="0"/>
              </a:spcAft>
              <a:defRPr sz="700" b="0">
                <a:solidFill>
                  <a:srgbClr val="3D3D3F"/>
                </a:solidFill>
                <a:latin typeface="JetBrains Mono"/>
              </a:defRPr>
            </a:pPr>
            <a:r>
              <a:t>Autonomous Agent</a:t>
            </a:r>
          </a:p>
        </p:txBody>
      </p:sp>
      <p:sp>
        <p:nvSpPr>
          <p:cNvPr id="31" name="TextBox 30"/>
          <p:cNvSpPr txBox="1"/>
          <p:nvPr/>
        </p:nvSpPr>
        <p:spPr>
          <a:xfrm>
            <a:off x="685800" y="4507992"/>
            <a:ext cx="1874520" cy="365760"/>
          </a:xfrm>
          <a:prstGeom prst="rect">
            <a:avLst/>
          </a:prstGeom>
          <a:noFill/>
        </p:spPr>
        <p:txBody>
          <a:bodyPr wrap="square">
            <a:spAutoFit/>
          </a:bodyPr>
          <a:lstStyle/>
          <a:p>
            <a:pPr algn="l">
              <a:spcBef>
                <a:spcPts val="0"/>
              </a:spcBef>
              <a:spcAft>
                <a:spcPts val="0"/>
              </a:spcAft>
              <a:defRPr sz="850" b="0">
                <a:solidFill>
                  <a:srgbClr val="3D3D3F"/>
                </a:solidFill>
                <a:latin typeface="Inter"/>
              </a:defRPr>
            </a:pPr>
            <a:r>
              <a:t>Plans, reasons, executes across all three domains.</a:t>
            </a:r>
          </a:p>
        </p:txBody>
      </p:sp>
      <p:sp>
        <p:nvSpPr>
          <p:cNvPr id="32" name="TextBox 31"/>
          <p:cNvSpPr txBox="1"/>
          <p:nvPr/>
        </p:nvSpPr>
        <p:spPr>
          <a:xfrm>
            <a:off x="685800" y="4873752"/>
            <a:ext cx="1874520" cy="18288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55+ tools · 5x parallel</a:t>
            </a:r>
          </a:p>
        </p:txBody>
      </p:sp>
      <p:sp>
        <p:nvSpPr>
          <p:cNvPr id="33" name="Rounded Rectangle 32"/>
          <p:cNvSpPr/>
          <p:nvPr/>
        </p:nvSpPr>
        <p:spPr>
          <a:xfrm>
            <a:off x="2807208" y="4069080"/>
            <a:ext cx="2148840" cy="1051560"/>
          </a:xfrm>
          <a:prstGeom prst="roundRect">
            <a:avLst>
              <a:gd name="adj" fmla="val 5000"/>
            </a:avLst>
          </a:prstGeom>
          <a:noFill/>
          <a:ln w="6350">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44368" y="4160520"/>
            <a:ext cx="1874520" cy="228600"/>
          </a:xfrm>
          <a:prstGeom prst="rect">
            <a:avLst/>
          </a:prstGeom>
          <a:noFill/>
        </p:spPr>
        <p:txBody>
          <a:bodyPr wrap="square">
            <a:spAutoFit/>
          </a:bodyPr>
          <a:lstStyle/>
          <a:p>
            <a:pPr algn="l">
              <a:spcBef>
                <a:spcPts val="0"/>
              </a:spcBef>
              <a:spcAft>
                <a:spcPts val="0"/>
              </a:spcAft>
              <a:defRPr sz="1100" b="1">
                <a:solidFill>
                  <a:srgbClr val="131314"/>
                </a:solidFill>
                <a:latin typeface="Inter"/>
              </a:defRPr>
            </a:pPr>
            <a:r>
              <a:t>Index</a:t>
            </a:r>
          </a:p>
        </p:txBody>
      </p:sp>
      <p:sp>
        <p:nvSpPr>
          <p:cNvPr id="35" name="TextBox 34"/>
          <p:cNvSpPr txBox="1"/>
          <p:nvPr/>
        </p:nvSpPr>
        <p:spPr>
          <a:xfrm>
            <a:off x="2944368" y="4343400"/>
            <a:ext cx="1874520" cy="164592"/>
          </a:xfrm>
          <a:prstGeom prst="rect">
            <a:avLst/>
          </a:prstGeom>
          <a:noFill/>
        </p:spPr>
        <p:txBody>
          <a:bodyPr wrap="square">
            <a:spAutoFit/>
          </a:bodyPr>
          <a:lstStyle/>
          <a:p>
            <a:pPr algn="l">
              <a:spcBef>
                <a:spcPts val="0"/>
              </a:spcBef>
              <a:spcAft>
                <a:spcPts val="0"/>
              </a:spcAft>
              <a:defRPr sz="700" b="0">
                <a:solidFill>
                  <a:srgbClr val="3D3D3F"/>
                </a:solidFill>
                <a:latin typeface="JetBrains Mono"/>
              </a:defRPr>
            </a:pPr>
            <a:r>
              <a:t>World Outside</a:t>
            </a:r>
          </a:p>
        </p:txBody>
      </p:sp>
      <p:sp>
        <p:nvSpPr>
          <p:cNvPr id="36" name="TextBox 35"/>
          <p:cNvSpPr txBox="1"/>
          <p:nvPr/>
        </p:nvSpPr>
        <p:spPr>
          <a:xfrm>
            <a:off x="2944368" y="4507992"/>
            <a:ext cx="1874520" cy="365760"/>
          </a:xfrm>
          <a:prstGeom prst="rect">
            <a:avLst/>
          </a:prstGeom>
          <a:noFill/>
        </p:spPr>
        <p:txBody>
          <a:bodyPr wrap="square">
            <a:spAutoFit/>
          </a:bodyPr>
          <a:lstStyle/>
          <a:p>
            <a:pPr algn="l">
              <a:spcBef>
                <a:spcPts val="0"/>
              </a:spcBef>
              <a:spcAft>
                <a:spcPts val="0"/>
              </a:spcAft>
              <a:defRPr sz="850" b="0">
                <a:solidFill>
                  <a:srgbClr val="3D3D3F"/>
                </a:solidFill>
                <a:latin typeface="Inter"/>
              </a:defRPr>
            </a:pPr>
            <a:r>
              <a:t>7M companies, 14M contacts, org charts, tech stacks.</a:t>
            </a:r>
          </a:p>
        </p:txBody>
      </p:sp>
      <p:sp>
        <p:nvSpPr>
          <p:cNvPr id="37" name="TextBox 36"/>
          <p:cNvSpPr txBox="1"/>
          <p:nvPr/>
        </p:nvSpPr>
        <p:spPr>
          <a:xfrm>
            <a:off x="2944368" y="4873752"/>
            <a:ext cx="1874520" cy="18288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Full-text · &lt;100ms</a:t>
            </a:r>
          </a:p>
        </p:txBody>
      </p:sp>
      <p:sp>
        <p:nvSpPr>
          <p:cNvPr id="38" name="Rounded Rectangle 37"/>
          <p:cNvSpPr/>
          <p:nvPr/>
        </p:nvSpPr>
        <p:spPr>
          <a:xfrm>
            <a:off x="5065776" y="4069080"/>
            <a:ext cx="2148840" cy="1051560"/>
          </a:xfrm>
          <a:prstGeom prst="roundRect">
            <a:avLst>
              <a:gd name="adj" fmla="val 5000"/>
            </a:avLst>
          </a:prstGeom>
          <a:noFill/>
          <a:ln w="6350">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02936" y="4160520"/>
            <a:ext cx="1874520" cy="228600"/>
          </a:xfrm>
          <a:prstGeom prst="rect">
            <a:avLst/>
          </a:prstGeom>
          <a:noFill/>
        </p:spPr>
        <p:txBody>
          <a:bodyPr wrap="square">
            <a:spAutoFit/>
          </a:bodyPr>
          <a:lstStyle/>
          <a:p>
            <a:pPr algn="l">
              <a:spcBef>
                <a:spcPts val="0"/>
              </a:spcBef>
              <a:spcAft>
                <a:spcPts val="0"/>
              </a:spcAft>
              <a:defRPr sz="1100" b="1">
                <a:solidFill>
                  <a:srgbClr val="131314"/>
                </a:solidFill>
                <a:latin typeface="Inter"/>
              </a:defRPr>
            </a:pPr>
            <a:r>
              <a:t>Yeda</a:t>
            </a:r>
          </a:p>
        </p:txBody>
      </p:sp>
      <p:sp>
        <p:nvSpPr>
          <p:cNvPr id="40" name="TextBox 39"/>
          <p:cNvSpPr txBox="1"/>
          <p:nvPr/>
        </p:nvSpPr>
        <p:spPr>
          <a:xfrm>
            <a:off x="5202936" y="4343400"/>
            <a:ext cx="1874520" cy="164592"/>
          </a:xfrm>
          <a:prstGeom prst="rect">
            <a:avLst/>
          </a:prstGeom>
          <a:noFill/>
        </p:spPr>
        <p:txBody>
          <a:bodyPr wrap="square">
            <a:spAutoFit/>
          </a:bodyPr>
          <a:lstStyle/>
          <a:p>
            <a:pPr algn="l">
              <a:spcBef>
                <a:spcPts val="0"/>
              </a:spcBef>
              <a:spcAft>
                <a:spcPts val="0"/>
              </a:spcAft>
              <a:defRPr sz="700" b="0">
                <a:solidFill>
                  <a:srgbClr val="3D3D3F"/>
                </a:solidFill>
                <a:latin typeface="JetBrains Mono"/>
              </a:defRPr>
            </a:pPr>
            <a:r>
              <a:t>Your World Inside</a:t>
            </a:r>
          </a:p>
        </p:txBody>
      </p:sp>
      <p:sp>
        <p:nvSpPr>
          <p:cNvPr id="41" name="TextBox 40"/>
          <p:cNvSpPr txBox="1"/>
          <p:nvPr/>
        </p:nvSpPr>
        <p:spPr>
          <a:xfrm>
            <a:off x="5202936" y="4507992"/>
            <a:ext cx="1874520" cy="365760"/>
          </a:xfrm>
          <a:prstGeom prst="rect">
            <a:avLst/>
          </a:prstGeom>
          <a:noFill/>
        </p:spPr>
        <p:txBody>
          <a:bodyPr wrap="square">
            <a:spAutoFit/>
          </a:bodyPr>
          <a:lstStyle/>
          <a:p>
            <a:pPr algn="l">
              <a:spcBef>
                <a:spcPts val="0"/>
              </a:spcBef>
              <a:spcAft>
                <a:spcPts val="0"/>
              </a:spcAft>
              <a:defRPr sz="850" b="0">
                <a:solidFill>
                  <a:srgbClr val="3D3D3F"/>
                </a:solidFill>
                <a:latin typeface="Inter"/>
              </a:defRPr>
            </a:pPr>
            <a:r>
              <a:t>Self-building knowledge. Products, docs, emails, calendar.</a:t>
            </a:r>
          </a:p>
        </p:txBody>
      </p:sp>
      <p:sp>
        <p:nvSpPr>
          <p:cNvPr id="42" name="TextBox 41"/>
          <p:cNvSpPr txBox="1"/>
          <p:nvPr/>
        </p:nvSpPr>
        <p:spPr>
          <a:xfrm>
            <a:off x="5202936" y="4873752"/>
            <a:ext cx="1874520" cy="18288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Auto-learning</a:t>
            </a:r>
          </a:p>
        </p:txBody>
      </p:sp>
      <p:sp>
        <p:nvSpPr>
          <p:cNvPr id="43" name="Rounded Rectangle 42"/>
          <p:cNvSpPr/>
          <p:nvPr/>
        </p:nvSpPr>
        <p:spPr>
          <a:xfrm>
            <a:off x="7324344" y="4069080"/>
            <a:ext cx="2148840" cy="1051560"/>
          </a:xfrm>
          <a:prstGeom prst="roundRect">
            <a:avLst>
              <a:gd name="adj" fmla="val 5000"/>
            </a:avLst>
          </a:prstGeom>
          <a:noFill/>
          <a:ln w="6350">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61504" y="4160520"/>
            <a:ext cx="1874520" cy="228600"/>
          </a:xfrm>
          <a:prstGeom prst="rect">
            <a:avLst/>
          </a:prstGeom>
          <a:noFill/>
        </p:spPr>
        <p:txBody>
          <a:bodyPr wrap="square">
            <a:spAutoFit/>
          </a:bodyPr>
          <a:lstStyle/>
          <a:p>
            <a:pPr algn="l">
              <a:spcBef>
                <a:spcPts val="0"/>
              </a:spcBef>
              <a:spcAft>
                <a:spcPts val="0"/>
              </a:spcAft>
              <a:defRPr sz="1100" b="1">
                <a:solidFill>
                  <a:srgbClr val="131314"/>
                </a:solidFill>
                <a:latin typeface="Inter"/>
              </a:defRPr>
            </a:pPr>
            <a:r>
              <a:t>Kol</a:t>
            </a:r>
          </a:p>
        </p:txBody>
      </p:sp>
      <p:sp>
        <p:nvSpPr>
          <p:cNvPr id="45" name="TextBox 44"/>
          <p:cNvSpPr txBox="1"/>
          <p:nvPr/>
        </p:nvSpPr>
        <p:spPr>
          <a:xfrm>
            <a:off x="7461504" y="4343400"/>
            <a:ext cx="1874520" cy="164592"/>
          </a:xfrm>
          <a:prstGeom prst="rect">
            <a:avLst/>
          </a:prstGeom>
          <a:noFill/>
        </p:spPr>
        <p:txBody>
          <a:bodyPr wrap="square">
            <a:spAutoFit/>
          </a:bodyPr>
          <a:lstStyle/>
          <a:p>
            <a:pPr algn="l">
              <a:spcBef>
                <a:spcPts val="0"/>
              </a:spcBef>
              <a:spcAft>
                <a:spcPts val="0"/>
              </a:spcAft>
              <a:defRPr sz="700" b="0">
                <a:solidFill>
                  <a:srgbClr val="3D3D3F"/>
                </a:solidFill>
                <a:latin typeface="JetBrains Mono"/>
              </a:defRPr>
            </a:pPr>
            <a:r>
              <a:t>Voice Engine</a:t>
            </a:r>
          </a:p>
        </p:txBody>
      </p:sp>
      <p:sp>
        <p:nvSpPr>
          <p:cNvPr id="46" name="TextBox 45"/>
          <p:cNvSpPr txBox="1"/>
          <p:nvPr/>
        </p:nvSpPr>
        <p:spPr>
          <a:xfrm>
            <a:off x="7461504" y="4507992"/>
            <a:ext cx="1874520" cy="365760"/>
          </a:xfrm>
          <a:prstGeom prst="rect">
            <a:avLst/>
          </a:prstGeom>
          <a:noFill/>
        </p:spPr>
        <p:txBody>
          <a:bodyPr wrap="square">
            <a:spAutoFit/>
          </a:bodyPr>
          <a:lstStyle/>
          <a:p>
            <a:pPr algn="l">
              <a:spcBef>
                <a:spcPts val="0"/>
              </a:spcBef>
              <a:spcAft>
                <a:spcPts val="0"/>
              </a:spcAft>
              <a:defRPr sz="850" b="0">
                <a:solidFill>
                  <a:srgbClr val="3D3D3F"/>
                </a:solidFill>
                <a:latin typeface="Inter"/>
              </a:defRPr>
            </a:pPr>
            <a:r>
              <a:t>Proprietary ASR + TTS. Emotion-aware. Any language.</a:t>
            </a:r>
          </a:p>
        </p:txBody>
      </p:sp>
      <p:sp>
        <p:nvSpPr>
          <p:cNvPr id="47" name="TextBox 46"/>
          <p:cNvSpPr txBox="1"/>
          <p:nvPr/>
        </p:nvSpPr>
        <p:spPr>
          <a:xfrm>
            <a:off x="7461504" y="4873752"/>
            <a:ext cx="1874520" cy="18288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&lt;400ms · in-house</a:t>
            </a:r>
          </a:p>
        </p:txBody>
      </p:sp>
      <p:sp>
        <p:nvSpPr>
          <p:cNvPr id="48" name="Rounded Rectangle 47"/>
          <p:cNvSpPr/>
          <p:nvPr/>
        </p:nvSpPr>
        <p:spPr>
          <a:xfrm>
            <a:off x="9582912" y="4069080"/>
            <a:ext cx="2148840" cy="1051560"/>
          </a:xfrm>
          <a:prstGeom prst="roundRect">
            <a:avLst>
              <a:gd name="adj" fmla="val 5000"/>
            </a:avLst>
          </a:prstGeom>
          <a:noFill/>
          <a:ln w="6350">
            <a:solidFill>
              <a:srgbClr val="E0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20072" y="4160520"/>
            <a:ext cx="1874520" cy="228600"/>
          </a:xfrm>
          <a:prstGeom prst="rect">
            <a:avLst/>
          </a:prstGeom>
          <a:noFill/>
        </p:spPr>
        <p:txBody>
          <a:bodyPr wrap="square">
            <a:spAutoFit/>
          </a:bodyPr>
          <a:lstStyle/>
          <a:p>
            <a:pPr algn="l">
              <a:spcBef>
                <a:spcPts val="0"/>
              </a:spcBef>
              <a:spcAft>
                <a:spcPts val="0"/>
              </a:spcAft>
              <a:defRPr sz="1100" b="1">
                <a:solidFill>
                  <a:srgbClr val="131314"/>
                </a:solidFill>
                <a:latin typeface="Inter"/>
              </a:defRPr>
            </a:pPr>
            <a:r>
              <a:t>Zera</a:t>
            </a:r>
          </a:p>
        </p:txBody>
      </p:sp>
      <p:sp>
        <p:nvSpPr>
          <p:cNvPr id="50" name="TextBox 49"/>
          <p:cNvSpPr txBox="1"/>
          <p:nvPr/>
        </p:nvSpPr>
        <p:spPr>
          <a:xfrm>
            <a:off x="9720072" y="4343400"/>
            <a:ext cx="1874520" cy="164592"/>
          </a:xfrm>
          <a:prstGeom prst="rect">
            <a:avLst/>
          </a:prstGeom>
          <a:noFill/>
        </p:spPr>
        <p:txBody>
          <a:bodyPr wrap="square">
            <a:spAutoFit/>
          </a:bodyPr>
          <a:lstStyle/>
          <a:p>
            <a:pPr algn="l">
              <a:spcBef>
                <a:spcPts val="0"/>
              </a:spcBef>
              <a:spcAft>
                <a:spcPts val="0"/>
              </a:spcAft>
              <a:defRPr sz="700" b="0">
                <a:solidFill>
                  <a:srgbClr val="3D3D3F"/>
                </a:solidFill>
                <a:latin typeface="JetBrains Mono"/>
              </a:defRPr>
            </a:pPr>
            <a:r>
              <a:t>Deployment</a:t>
            </a:r>
          </a:p>
        </p:txBody>
      </p:sp>
      <p:sp>
        <p:nvSpPr>
          <p:cNvPr id="51" name="TextBox 50"/>
          <p:cNvSpPr txBox="1"/>
          <p:nvPr/>
        </p:nvSpPr>
        <p:spPr>
          <a:xfrm>
            <a:off x="9720072" y="4507992"/>
            <a:ext cx="1874520" cy="365760"/>
          </a:xfrm>
          <a:prstGeom prst="rect">
            <a:avLst/>
          </a:prstGeom>
          <a:noFill/>
        </p:spPr>
        <p:txBody>
          <a:bodyPr wrap="square">
            <a:spAutoFit/>
          </a:bodyPr>
          <a:lstStyle/>
          <a:p>
            <a:pPr algn="l">
              <a:spcBef>
                <a:spcPts val="0"/>
              </a:spcBef>
              <a:spcAft>
                <a:spcPts val="0"/>
              </a:spcAft>
              <a:defRPr sz="850" b="0">
                <a:solidFill>
                  <a:srgbClr val="3D3D3F"/>
                </a:solidFill>
                <a:latin typeface="Inter"/>
              </a:defRPr>
            </a:pPr>
            <a:r>
              <a:t>Scans, ingests, learns, configures. Operational in 24h.</a:t>
            </a:r>
          </a:p>
        </p:txBody>
      </p:sp>
      <p:sp>
        <p:nvSpPr>
          <p:cNvPr id="52" name="TextBox 51"/>
          <p:cNvSpPr txBox="1"/>
          <p:nvPr/>
        </p:nvSpPr>
        <p:spPr>
          <a:xfrm>
            <a:off x="9720072" y="4873752"/>
            <a:ext cx="1874520" cy="182880"/>
          </a:xfrm>
          <a:prstGeom prst="rect">
            <a:avLst/>
          </a:prstGeom>
          <a:noFill/>
        </p:spPr>
        <p:txBody>
          <a:bodyPr wrap="square">
            <a:spAutoFit/>
          </a:bodyPr>
          <a:lstStyle/>
          <a:p>
            <a:pPr algn="l">
              <a:spcBef>
                <a:spcPts val="0"/>
              </a:spcBef>
              <a:spcAft>
                <a:spcPts val="0"/>
              </a:spcAft>
              <a:defRPr sz="800" b="1">
                <a:solidFill>
                  <a:srgbClr val="D97757"/>
                </a:solidFill>
                <a:latin typeface="Inter"/>
              </a:defRPr>
            </a:pPr>
            <a:r>
              <a:t>Zero setup</a:t>
            </a:r>
          </a:p>
        </p:txBody>
      </p:sp>
      <p:sp>
        <p:nvSpPr>
          <p:cNvPr id="53" name="TextBox 52"/>
          <p:cNvSpPr txBox="1"/>
          <p:nvPr/>
        </p:nvSpPr>
        <p:spPr>
          <a:xfrm>
            <a:off x="548640" y="5303520"/>
            <a:ext cx="3657600" cy="228600"/>
          </a:xfrm>
          <a:prstGeom prst="rect">
            <a:avLst/>
          </a:prstGeom>
          <a:noFill/>
        </p:spPr>
        <p:txBody>
          <a:bodyPr wrap="square">
            <a:spAutoFit/>
          </a:bodyPr>
          <a:lstStyle/>
          <a:p>
            <a:pPr algn="l">
              <a:spcBef>
                <a:spcPts val="0"/>
              </a:spcBef>
              <a:spcAft>
                <a:spcPts val="0"/>
              </a:spcAft>
              <a:defRPr sz="900" b="1">
                <a:solidFill>
                  <a:srgbClr val="D97757"/>
                </a:solidFill>
                <a:latin typeface="Inter"/>
              </a:defRPr>
            </a:pPr>
            <a:r>
              <a:t>ENTERPRISE-READY</a:t>
            </a:r>
          </a:p>
        </p:txBody>
      </p:sp>
      <p:sp>
        <p:nvSpPr>
          <p:cNvPr id="54" name="TextBox 53"/>
          <p:cNvSpPr txBox="1"/>
          <p:nvPr/>
        </p:nvSpPr>
        <p:spPr>
          <a:xfrm>
            <a:off x="548640" y="5532120"/>
            <a:ext cx="5303520" cy="201168"/>
          </a:xfrm>
          <a:prstGeom prst="rect">
            <a:avLst/>
          </a:prstGeom>
          <a:noFill/>
        </p:spPr>
        <p:txBody>
          <a:bodyPr wrap="square">
            <a:spAutoFit/>
          </a:bodyPr>
          <a:lstStyle/>
          <a:p>
            <a:pPr algn="l">
              <a:spcBef>
                <a:spcPts val="0"/>
              </a:spcBef>
              <a:spcAft>
                <a:spcPts val="0"/>
              </a:spcAft>
            </a:pPr>
            <a:r>
              <a:rPr sz="900" b="1">
                <a:solidFill>
                  <a:srgbClr val="131314"/>
                </a:solidFill>
                <a:latin typeface="Inter"/>
              </a:rPr>
              <a:t>Data isolation</a:t>
            </a:r>
            <a:r>
              <a:rPr sz="900" b="0">
                <a:solidFill>
                  <a:srgbClr val="3D3D3F"/>
                </a:solidFill>
                <a:latin typeface="Inter"/>
              </a:rPr>
              <a:t> — Multi-tenant RLS. Your data never touches another org.</a:t>
            </a:r>
          </a:p>
        </p:txBody>
      </p:sp>
      <p:sp>
        <p:nvSpPr>
          <p:cNvPr id="55" name="TextBox 54"/>
          <p:cNvSpPr txBox="1"/>
          <p:nvPr/>
        </p:nvSpPr>
        <p:spPr>
          <a:xfrm>
            <a:off x="6217920" y="5532120"/>
            <a:ext cx="5303520" cy="201168"/>
          </a:xfrm>
          <a:prstGeom prst="rect">
            <a:avLst/>
          </a:prstGeom>
          <a:noFill/>
        </p:spPr>
        <p:txBody>
          <a:bodyPr wrap="square">
            <a:spAutoFit/>
          </a:bodyPr>
          <a:lstStyle/>
          <a:p>
            <a:pPr algn="l">
              <a:spcBef>
                <a:spcPts val="0"/>
              </a:spcBef>
              <a:spcAft>
                <a:spcPts val="0"/>
              </a:spcAft>
            </a:pPr>
            <a:r>
              <a:rPr sz="900" b="1">
                <a:solidFill>
                  <a:srgbClr val="131314"/>
                </a:solidFill>
                <a:latin typeface="Inter"/>
              </a:rPr>
              <a:t>Full audit trail</a:t>
            </a:r>
            <a:r>
              <a:rPr sz="900" b="0">
                <a:solidFill>
                  <a:srgbClr val="3D3D3F"/>
                </a:solidFill>
                <a:latin typeface="Inter"/>
              </a:rPr>
              <a:t> — Every AI decision logged, observable, reviewable.</a:t>
            </a:r>
          </a:p>
        </p:txBody>
      </p:sp>
      <p:sp>
        <p:nvSpPr>
          <p:cNvPr id="56" name="TextBox 55"/>
          <p:cNvSpPr txBox="1"/>
          <p:nvPr/>
        </p:nvSpPr>
        <p:spPr>
          <a:xfrm>
            <a:off x="548640" y="5760720"/>
            <a:ext cx="5303520" cy="201168"/>
          </a:xfrm>
          <a:prstGeom prst="rect">
            <a:avLst/>
          </a:prstGeom>
          <a:noFill/>
        </p:spPr>
        <p:txBody>
          <a:bodyPr wrap="square">
            <a:spAutoFit/>
          </a:bodyPr>
          <a:lstStyle/>
          <a:p>
            <a:pPr algn="l">
              <a:spcBef>
                <a:spcPts val="0"/>
              </a:spcBef>
              <a:spcAft>
                <a:spcPts val="0"/>
              </a:spcAft>
            </a:pPr>
            <a:r>
              <a:rPr sz="900" b="1">
                <a:solidFill>
                  <a:srgbClr val="131314"/>
                </a:solidFill>
                <a:latin typeface="Inter"/>
              </a:rPr>
              <a:t>Swiss HQ</a:t>
            </a:r>
            <a:r>
              <a:rPr sz="900" b="0">
                <a:solidFill>
                  <a:srgbClr val="3D3D3F"/>
                </a:solidFill>
                <a:latin typeface="Inter"/>
              </a:rPr>
              <a:t> — Elyon GmbH, Zug. European infrastructure. GDPR.</a:t>
            </a:r>
          </a:p>
        </p:txBody>
      </p:sp>
      <p:sp>
        <p:nvSpPr>
          <p:cNvPr id="57" name="TextBox 56"/>
          <p:cNvSpPr txBox="1"/>
          <p:nvPr/>
        </p:nvSpPr>
        <p:spPr>
          <a:xfrm>
            <a:off x="6217920" y="5760720"/>
            <a:ext cx="5303520" cy="201168"/>
          </a:xfrm>
          <a:prstGeom prst="rect">
            <a:avLst/>
          </a:prstGeom>
          <a:noFill/>
        </p:spPr>
        <p:txBody>
          <a:bodyPr wrap="square">
            <a:spAutoFit/>
          </a:bodyPr>
          <a:lstStyle/>
          <a:p>
            <a:pPr algn="l">
              <a:spcBef>
                <a:spcPts val="0"/>
              </a:spcBef>
              <a:spcAft>
                <a:spcPts val="0"/>
              </a:spcAft>
            </a:pPr>
            <a:r>
              <a:rPr sz="900" b="1">
                <a:solidFill>
                  <a:srgbClr val="131314"/>
                </a:solidFill>
                <a:latin typeface="Inter"/>
              </a:rPr>
              <a:t>Human-in-the-loop</a:t>
            </a:r>
            <a:r>
              <a:rPr sz="900" b="0">
                <a:solidFill>
                  <a:srgbClr val="3D3D3F"/>
                </a:solidFill>
                <a:latin typeface="Inter"/>
              </a:rPr>
              <a:t> — AI proposes, humans approve. You control the threshold.</a:t>
            </a:r>
          </a:p>
        </p:txBody>
      </p:sp>
      <p:sp>
        <p:nvSpPr>
          <p:cNvPr id="58" name="TextBox 57"/>
          <p:cNvSpPr txBox="1"/>
          <p:nvPr/>
        </p:nvSpPr>
        <p:spPr>
          <a:xfrm>
            <a:off x="548640" y="5989320"/>
            <a:ext cx="5303520" cy="201168"/>
          </a:xfrm>
          <a:prstGeom prst="rect">
            <a:avLst/>
          </a:prstGeom>
          <a:noFill/>
        </p:spPr>
        <p:txBody>
          <a:bodyPr wrap="square">
            <a:spAutoFit/>
          </a:bodyPr>
          <a:lstStyle/>
          <a:p>
            <a:pPr algn="l">
              <a:spcBef>
                <a:spcPts val="0"/>
              </a:spcBef>
              <a:spcAft>
                <a:spcPts val="0"/>
              </a:spcAft>
            </a:pPr>
            <a:r>
              <a:rPr sz="900" b="1">
                <a:solidFill>
                  <a:srgbClr val="131314"/>
                </a:solidFill>
                <a:latin typeface="Inter"/>
              </a:rPr>
              <a:t>Original R&amp;D</a:t>
            </a:r>
            <a:r>
              <a:rPr sz="900" b="0">
                <a:solidFill>
                  <a:srgbClr val="3D3D3F"/>
                </a:solidFill>
                <a:latin typeface="Inter"/>
              </a:rPr>
              <a:t> — PhD founders in AI + speech. Not API wrappers.</a:t>
            </a:r>
          </a:p>
        </p:txBody>
      </p:sp>
      <p:sp>
        <p:nvSpPr>
          <p:cNvPr id="59" name="TextBox 58"/>
          <p:cNvSpPr txBox="1"/>
          <p:nvPr/>
        </p:nvSpPr>
        <p:spPr>
          <a:xfrm>
            <a:off x="6217920" y="5989320"/>
            <a:ext cx="5303520" cy="201168"/>
          </a:xfrm>
          <a:prstGeom prst="rect">
            <a:avLst/>
          </a:prstGeom>
          <a:noFill/>
        </p:spPr>
        <p:txBody>
          <a:bodyPr wrap="square">
            <a:spAutoFit/>
          </a:bodyPr>
          <a:lstStyle/>
          <a:p>
            <a:pPr algn="l">
              <a:spcBef>
                <a:spcPts val="0"/>
              </a:spcBef>
              <a:spcAft>
                <a:spcPts val="0"/>
              </a:spcAft>
            </a:pPr>
            <a:r>
              <a:rPr sz="900" b="1">
                <a:solidFill>
                  <a:srgbClr val="131314"/>
                </a:solidFill>
                <a:latin typeface="Inter"/>
              </a:rPr>
              <a:t>Production clients</a:t>
            </a:r>
            <a:r>
              <a:rPr sz="900" b="0">
                <a:solidFill>
                  <a:srgbClr val="3D3D3F"/>
                </a:solidFill>
                <a:latin typeface="Inter"/>
              </a:rPr>
              <a:t> — Naghi Group, BMW KSA, DAR Global, Allianz, Suhner.</a:t>
            </a:r>
          </a:p>
        </p:txBody>
      </p:sp>
      <p:sp>
        <p:nvSpPr>
          <p:cNvPr id="60" name="Rounded Rectangle 59"/>
          <p:cNvSpPr/>
          <p:nvPr/>
        </p:nvSpPr>
        <p:spPr>
          <a:xfrm>
            <a:off x="548640" y="6263640"/>
            <a:ext cx="10744200" cy="502920"/>
          </a:xfrm>
          <a:prstGeom prst="roundRect">
            <a:avLst>
              <a:gd name="adj" fmla="val 5000"/>
            </a:avLst>
          </a:prstGeom>
          <a:solidFill>
            <a:srgbClr val="1313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7240" y="6291072"/>
            <a:ext cx="6400800" cy="457200"/>
          </a:xfrm>
          <a:prstGeom prst="rect">
            <a:avLst/>
          </a:prstGeom>
          <a:noFill/>
        </p:spPr>
        <p:txBody>
          <a:bodyPr wrap="square">
            <a:spAutoFit/>
          </a:bodyPr>
          <a:lstStyle/>
          <a:p>
            <a:pPr algn="l">
              <a:spcBef>
                <a:spcPts val="0"/>
              </a:spcBef>
              <a:spcAft>
                <a:spcPts val="0"/>
              </a:spcAft>
            </a:pPr>
            <a:r>
              <a:rPr sz="1300" b="1">
                <a:solidFill>
                  <a:srgbClr val="FAF9F0"/>
                </a:solidFill>
                <a:latin typeface="Inter"/>
              </a:rPr>
              <a:t>See all three running live.</a:t>
            </a:r>
            <a:r>
              <a:rPr sz="950" b="0">
                <a:solidFill>
                  <a:srgbClr val="888888"/>
                </a:solidFill>
                <a:latin typeface="Inter"/>
              </a:rPr>
              <a:t>  No slides. We demo on your data, your use case. 45 minutes.</a:t>
            </a:r>
          </a:p>
        </p:txBody>
      </p:sp>
      <p:sp>
        <p:nvSpPr>
          <p:cNvPr id="62" name="Rounded Rectangle 61"/>
          <p:cNvSpPr/>
          <p:nvPr/>
        </p:nvSpPr>
        <p:spPr>
          <a:xfrm>
            <a:off x="9418320" y="6327648"/>
            <a:ext cx="1645920" cy="347472"/>
          </a:xfrm>
          <a:prstGeom prst="roundRect">
            <a:avLst>
              <a:gd name="adj" fmla="val 5000"/>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AF9F0"/>
                </a:solidFill>
                <a:latin typeface="Inter"/>
              </a:defRPr>
            </a:pPr>
            <a:r>
              <a:t>Book a demo →</a:t>
            </a:r>
          </a:p>
        </p:txBody>
      </p:sp>
      <p:sp>
        <p:nvSpPr>
          <p:cNvPr id="63" name="TextBox 62"/>
          <p:cNvSpPr txBox="1"/>
          <p:nvPr/>
        </p:nvSpPr>
        <p:spPr>
          <a:xfrm>
            <a:off x="548640" y="6537960"/>
            <a:ext cx="9144000" cy="228600"/>
          </a:xfrm>
          <a:prstGeom prst="rect">
            <a:avLst/>
          </a:prstGeom>
          <a:noFill/>
        </p:spPr>
        <p:txBody>
          <a:bodyPr wrap="square">
            <a:spAutoFit/>
          </a:bodyPr>
          <a:lstStyle/>
          <a:p>
            <a:pPr algn="l">
              <a:spcBef>
                <a:spcPts val="0"/>
              </a:spcBef>
              <a:spcAft>
                <a:spcPts val="0"/>
              </a:spcAft>
            </a:pPr>
            <a:r>
              <a:rPr sz="750" b="0">
                <a:solidFill>
                  <a:srgbClr val="BBBBBB"/>
                </a:solidFill>
                <a:latin typeface="Inter"/>
              </a:rPr>
              <a:t>Live at:  </a:t>
            </a:r>
            <a:r>
              <a:rPr sz="750" b="1">
                <a:solidFill>
                  <a:srgbClr val="888888"/>
                </a:solidFill>
                <a:latin typeface="Inter"/>
              </a:rPr>
              <a:t>Naghi Group</a:t>
            </a:r>
            <a:r>
              <a:rPr sz="750" b="0">
                <a:solidFill>
                  <a:srgbClr val="BBBBBB"/>
                </a:solidFill>
                <a:latin typeface="Inter"/>
              </a:rPr>
              <a:t>  ·  </a:t>
            </a:r>
            <a:r>
              <a:rPr sz="750" b="1">
                <a:solidFill>
                  <a:srgbClr val="888888"/>
                </a:solidFill>
                <a:latin typeface="Inter"/>
              </a:rPr>
              <a:t>BMW KSA</a:t>
            </a:r>
            <a:r>
              <a:rPr sz="750" b="0">
                <a:solidFill>
                  <a:srgbClr val="BBBBBB"/>
                </a:solidFill>
                <a:latin typeface="Inter"/>
              </a:rPr>
              <a:t>  ·  </a:t>
            </a:r>
            <a:r>
              <a:rPr sz="750" b="1">
                <a:solidFill>
                  <a:srgbClr val="888888"/>
                </a:solidFill>
                <a:latin typeface="Inter"/>
              </a:rPr>
              <a:t>DAR Global</a:t>
            </a:r>
            <a:r>
              <a:rPr sz="750" b="0">
                <a:solidFill>
                  <a:srgbClr val="BBBBBB"/>
                </a:solidFill>
                <a:latin typeface="Inter"/>
              </a:rPr>
              <a:t>  ·  </a:t>
            </a:r>
            <a:r>
              <a:rPr sz="750" b="1">
                <a:solidFill>
                  <a:srgbClr val="888888"/>
                </a:solidFill>
                <a:latin typeface="Inter"/>
              </a:rPr>
              <a:t>Allianz</a:t>
            </a:r>
            <a:r>
              <a:rPr sz="750" b="0">
                <a:solidFill>
                  <a:srgbClr val="BBBBBB"/>
                </a:solidFill>
                <a:latin typeface="Inter"/>
              </a:rPr>
              <a:t>  ·  </a:t>
            </a:r>
            <a:r>
              <a:rPr sz="750" b="1">
                <a:solidFill>
                  <a:srgbClr val="888888"/>
                </a:solidFill>
                <a:latin typeface="Inter"/>
              </a:rPr>
              <a:t>Suhner</a:t>
            </a:r>
          </a:p>
        </p:txBody>
      </p:sp>
      <p:sp>
        <p:nvSpPr>
          <p:cNvPr id="64" name="TextBox 63"/>
          <p:cNvSpPr txBox="1"/>
          <p:nvPr/>
        </p:nvSpPr>
        <p:spPr>
          <a:xfrm>
            <a:off x="8686800" y="6537960"/>
            <a:ext cx="2926080" cy="228600"/>
          </a:xfrm>
          <a:prstGeom prst="rect">
            <a:avLst/>
          </a:prstGeom>
          <a:noFill/>
        </p:spPr>
        <p:txBody>
          <a:bodyPr wrap="square">
            <a:spAutoFit/>
          </a:bodyPr>
          <a:lstStyle/>
          <a:p>
            <a:pPr algn="r">
              <a:spcBef>
                <a:spcPts val="0"/>
              </a:spcBef>
              <a:spcAft>
                <a:spcPts val="0"/>
              </a:spcAft>
              <a:defRPr sz="750" b="0">
                <a:solidFill>
                  <a:srgbClr val="BBBBBB"/>
                </a:solidFill>
                <a:latin typeface="Inter"/>
              </a:defRPr>
            </a:pPr>
            <a:r>
              <a:t>viktor@salesteq.com · salesteq.com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