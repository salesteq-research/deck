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AI Test &amp; Learn im Vertrieb — Pilotvorschlag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16459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88AACC"/>
                </a:solidFill>
                <a:latin typeface="Arial"/>
              </a:defRPr>
            </a:pPr>
            <a:r>
              <a:t>Vertraulich · März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777777"/>
                </a:solidFill>
                <a:latin typeface="Arial"/>
              </a:defRPr>
            </a:pPr>
            <a:r>
              <a:t>Thema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6012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Arial"/>
              </a:defRPr>
            </a:pPr>
            <a:r>
              <a:t>AI-Pilotprojekt Vertrieb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00" y="77724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777777"/>
                </a:solidFill>
                <a:latin typeface="Arial"/>
              </a:defRPr>
            </a:pPr>
            <a:r>
              <a:t>Partner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96012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Arial"/>
              </a:defRPr>
            </a:pPr>
            <a:r>
              <a:t>Salesteq, Zug (CH)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77724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777777"/>
                </a:solidFill>
                <a:latin typeface="Arial"/>
              </a:defRPr>
            </a:pPr>
            <a:r>
              <a:t>Umfang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96012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Arial"/>
              </a:defRPr>
            </a:pPr>
            <a:r>
              <a:t>12 Wochen, 1 Raiffeisenbank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77724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777777"/>
                </a:solidFill>
                <a:latin typeface="Arial"/>
              </a:defRPr>
            </a:pPr>
            <a:r>
              <a:t>IT-Bedarf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96012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Arial"/>
              </a:defRPr>
            </a:pPr>
            <a:r>
              <a:t>Keiner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77724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777777"/>
                </a:solidFill>
                <a:latin typeface="Arial"/>
              </a:defRPr>
            </a:pPr>
            <a:r>
              <a:t>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0" y="96012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Arial"/>
              </a:defRPr>
            </a:pPr>
            <a:r>
              <a:t>Keines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1234440"/>
            <a:ext cx="1316736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41732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03366"/>
                </a:solidFill>
                <a:latin typeface="Arial"/>
              </a:defRPr>
            </a:pPr>
            <a:r>
              <a:t>AUSGANGSLAGE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169164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Raiffeisen setzt bereits AI ein (Meeting-Vorbereitung, Chatbot Tina). Für die nächste</a:t>
            </a:r>
          </a:p>
          <a:p>
            <a:pPr algn="l">
              <a:lnSpc>
                <a:spcPts val="1650"/>
              </a:lnSpc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Stufe — proaktive Kundenansprache, Berater-Training, Cross-Selling-Intelligenz —</a:t>
            </a:r>
          </a:p>
          <a:p>
            <a:pPr algn="l">
              <a:lnSpc>
                <a:spcPts val="1650"/>
              </a:lnSpc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fehlt ein Partner mit Produktionserfahrung. Im März 2026 wurde vereinbart, einen</a:t>
            </a:r>
          </a:p>
          <a:p>
            <a:pPr algn="l">
              <a:lnSpc>
                <a:spcPts val="1650"/>
              </a:lnSpc>
              <a:spcAft>
                <a:spcPts val="200"/>
              </a:spcAft>
              <a:defRPr sz="1100" b="0">
                <a:solidFill>
                  <a:srgbClr val="333333"/>
                </a:solidFill>
                <a:latin typeface="Arial"/>
              </a:defRPr>
            </a:pPr>
            <a:r>
              <a:t>leichtgewichtigen Pilotvorschlag zu erarbeiten, analog Allianz Suisse.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880360"/>
            <a:ext cx="77724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6324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03366"/>
                </a:solidFill>
                <a:latin typeface="Arial"/>
              </a:defRPr>
            </a:pPr>
            <a:r>
              <a:t>VORSCHLAG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2918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333333"/>
                </a:solidFill>
                <a:latin typeface="Arial"/>
              </a:defRPr>
            </a:pPr>
            <a:r>
              <a:t>Ein begrenzter Test-and-Learn-Pilot in 3 Schritten: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611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Arial"/>
              </a:defRPr>
            </a:pPr>
            <a:r>
              <a:t>1.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6118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1A"/>
                </a:solidFill>
                <a:latin typeface="Arial"/>
              </a:defRPr>
            </a:pPr>
            <a:r>
              <a:t>Workshop (½ Tag)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6118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777777"/>
                </a:solidFill>
                <a:latin typeface="Arial"/>
              </a:defRPr>
            </a:pPr>
            <a:r>
              <a:t>Use Cases gemeinsam identifizieren und priorisieren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069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Arial"/>
              </a:defRPr>
            </a:pPr>
            <a:r>
              <a:t>2.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069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1A"/>
                </a:solidFill>
                <a:latin typeface="Arial"/>
              </a:defRPr>
            </a:pPr>
            <a:r>
              <a:t>Prototyp (6 Wochen)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0690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777777"/>
                </a:solidFill>
                <a:latin typeface="Arial"/>
              </a:defRPr>
            </a:pPr>
            <a:r>
              <a:t>Einen Use Case für eine Raiffeisenbank umsetzen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5262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Arial"/>
              </a:defRPr>
            </a:pPr>
            <a:r>
              <a:t>3.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5262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1A"/>
                </a:solidFill>
                <a:latin typeface="Arial"/>
              </a:defRPr>
            </a:pPr>
            <a:r>
              <a:t>Bewertung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526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777777"/>
                </a:solidFill>
                <a:latin typeface="Arial"/>
              </a:defRPr>
            </a:pPr>
            <a:r>
              <a:t>Ergebnisse messen, Feedback einholen, über nächste Schritte entscheiden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5074920"/>
            <a:ext cx="77724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578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03366"/>
                </a:solidFill>
                <a:latin typeface="Arial"/>
              </a:defRPr>
            </a:pPr>
            <a:r>
              <a:t>MÖGLICHE USE CASES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5321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5321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Arial"/>
              </a:defRPr>
            </a:pPr>
            <a:r>
              <a:t>Berater-Training &amp; Onboarding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5532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777777"/>
                </a:solidFill>
                <a:latin typeface="Arial"/>
              </a:defRPr>
            </a:pPr>
            <a:r>
              <a:t>AI als Sparringspartner für neue und erfahrene RMs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989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5989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Arial"/>
              </a:defRPr>
            </a:pPr>
            <a:r>
              <a:t>Proaktive Kundenansprache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49039" y="59893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777777"/>
                </a:solidFill>
                <a:latin typeface="Arial"/>
              </a:defRPr>
            </a:pPr>
            <a:r>
              <a:t>Trigger-basiert bei Zinsänderungen, Festhypothek-Ablauf, Lebensereignissen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64465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Arial"/>
              </a:defRPr>
            </a:pPr>
            <a: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6446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Arial"/>
              </a:defRPr>
            </a:pPr>
            <a:r>
              <a:t>Produktwissen für 212 Banken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49039" y="64465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777777"/>
                </a:solidFill>
                <a:latin typeface="Arial"/>
              </a:defRPr>
            </a:pPr>
            <a:r>
              <a:t>Einheitliche AI-Wissensbasis, immer aktuell, drei Sprachen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69037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Arial"/>
              </a:defRPr>
            </a:pPr>
            <a:r>
              <a:t>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6903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Arial"/>
              </a:defRPr>
            </a:pPr>
            <a:r>
              <a:t>Erster Kundenkontakt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49039" y="69037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777777"/>
                </a:solidFill>
                <a:latin typeface="Arial"/>
              </a:defRPr>
            </a:pPr>
            <a:r>
              <a:t>Chat und Telefon in DE/FR/IT, qualifizierte Weiterleitung an Berater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1417320"/>
            <a:ext cx="4754880" cy="338328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72600" y="1508760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D7A3F"/>
                </a:solidFill>
                <a:latin typeface="Arial"/>
              </a:defRPr>
            </a:pPr>
            <a:r>
              <a:t>WARUM KEIN IT-PROJEKT NÖTIG IST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72600" y="1828800"/>
            <a:ext cx="4297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D7A3F"/>
                </a:solidFill>
                <a:latin typeface="Arial"/>
              </a:defRPr>
            </a:pPr>
            <a:r>
              <a:t>✓  Kein Zugang zu Kernbanksystemen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46920" y="20299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777777"/>
                </a:solidFill>
                <a:latin typeface="Arial"/>
              </a:defRPr>
            </a:pPr>
            <a:r>
              <a:t>Pilot läuft ausserhalb der bestehenden</a:t>
            </a:r>
            <a:br/>
            <a:r>
              <a:t>IT-Infrastruktur. Keine API-Anbindung.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72600" y="2542032"/>
            <a:ext cx="4297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D7A3F"/>
                </a:solidFill>
                <a:latin typeface="Arial"/>
              </a:defRPr>
            </a:pPr>
            <a:r>
              <a:t>✓  Keine Kundendaten verlassen die Schweiz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6920" y="274320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777777"/>
                </a:solidFill>
                <a:latin typeface="Arial"/>
              </a:defRPr>
            </a:pPr>
            <a:r>
              <a:t>Infrastruktur in EU. Schweizer Hosting</a:t>
            </a:r>
            <a:br/>
            <a:r>
              <a:t>oder On-Premise möglich.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72600" y="3255264"/>
            <a:ext cx="4297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D7A3F"/>
                </a:solidFill>
                <a:latin typeface="Arial"/>
              </a:defRPr>
            </a:pPr>
            <a:r>
              <a:t>✓  Kein AI trifft autonome Entscheidungen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46920" y="3456432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777777"/>
                </a:solidFill>
                <a:latin typeface="Arial"/>
              </a:defRPr>
            </a:pPr>
            <a:r>
              <a:t>Jede kundenseitige Aktion erfordert</a:t>
            </a:r>
            <a:br/>
            <a:r>
              <a:t>explizite Freigabe durch den RM.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72600" y="3968496"/>
            <a:ext cx="4297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D7A3F"/>
                </a:solidFill>
                <a:latin typeface="Arial"/>
              </a:defRPr>
            </a:pPr>
            <a:r>
              <a:t>✓  Voller Audit-Trail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6920" y="4169663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777777"/>
                </a:solidFill>
                <a:latin typeface="Arial"/>
              </a:defRPr>
            </a:pPr>
            <a:r>
              <a:t>Jede AI-Aktion protokolliert.</a:t>
            </a:r>
            <a:br/>
            <a:r>
              <a:t>Compliance-fähig.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0" y="5074920"/>
            <a:ext cx="4754880" cy="2240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72600" y="5166360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03366"/>
                </a:solidFill>
                <a:latin typeface="Arial"/>
              </a:defRPr>
            </a:pPr>
            <a:r>
              <a:t>ÜBER DEN PARTNER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72600" y="5440680"/>
            <a:ext cx="4297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spcAft>
                <a:spcPts val="200"/>
              </a:spcAft>
              <a:defRPr sz="1000" b="1">
                <a:solidFill>
                  <a:srgbClr val="1A1A1A"/>
                </a:solidFill>
                <a:latin typeface="Arial"/>
              </a:defRPr>
            </a:pPr>
            <a:r>
              <a:t>Salesteq (Elyon GmbH, Zug)</a:t>
            </a:r>
          </a:p>
          <a:p>
            <a:pPr algn="l">
              <a:lnSpc>
                <a:spcPts val="1350"/>
              </a:lnSpc>
              <a:spcAft>
                <a:spcPts val="200"/>
              </a:spcAft>
              <a:defRPr sz="900" b="0">
                <a:solidFill>
                  <a:srgbClr val="777777"/>
                </a:solidFill>
                <a:latin typeface="Arial"/>
              </a:defRPr>
            </a:pPr>
            <a:r>
              <a:t>AI-Plattform für Vertrieb, Marketing, Kundenservice.</a:t>
            </a:r>
          </a:p>
          <a:p>
            <a:pPr algn="l">
              <a:lnSpc>
                <a:spcPts val="750"/>
              </a:lnSpc>
              <a:spcAft>
                <a:spcPts val="200"/>
              </a:spcAft>
              <a:defRPr sz="500" b="0">
                <a:solidFill>
                  <a:srgbClr val="777777"/>
                </a:solidFill>
                <a:latin typeface="Arial"/>
              </a:defRPr>
            </a:pPr>
          </a:p>
          <a:p>
            <a:pPr algn="l">
              <a:lnSpc>
                <a:spcPts val="1350"/>
              </a:lnSpc>
              <a:spcAft>
                <a:spcPts val="200"/>
              </a:spcAft>
              <a:defRPr sz="900" b="1">
                <a:solidFill>
                  <a:srgbClr val="1A1A1A"/>
                </a:solidFill>
                <a:latin typeface="Arial"/>
              </a:defRPr>
            </a:pPr>
            <a:r>
              <a:t>Referenzen:</a:t>
            </a:r>
          </a:p>
          <a:p>
            <a:pPr algn="l">
              <a:lnSpc>
                <a:spcPts val="1275"/>
              </a:lnSpc>
              <a:spcAft>
                <a:spcPts val="200"/>
              </a:spcAft>
              <a:defRPr sz="850" b="0">
                <a:solidFill>
                  <a:srgbClr val="777777"/>
                </a:solidFill>
                <a:latin typeface="Arial"/>
              </a:defRPr>
            </a:pPr>
            <a:r>
              <a:t>· Naghi/BMW Saudi-Arabien — Produktion, Voice AI</a:t>
            </a:r>
          </a:p>
          <a:p>
            <a:pPr algn="l">
              <a:lnSpc>
                <a:spcPts val="1275"/>
              </a:lnSpc>
              <a:spcAft>
                <a:spcPts val="200"/>
              </a:spcAft>
              <a:defRPr sz="850" b="0">
                <a:solidFill>
                  <a:srgbClr val="777777"/>
                </a:solidFill>
                <a:latin typeface="Arial"/>
              </a:defRPr>
            </a:pPr>
            <a:r>
              <a:t>· Suhner Abrasive (CH) — AI-Verkaufsassistent</a:t>
            </a:r>
          </a:p>
          <a:p>
            <a:pPr algn="l">
              <a:lnSpc>
                <a:spcPts val="1275"/>
              </a:lnSpc>
              <a:spcAft>
                <a:spcPts val="200"/>
              </a:spcAft>
              <a:defRPr sz="850" b="0">
                <a:solidFill>
                  <a:srgbClr val="777777"/>
                </a:solidFill>
                <a:latin typeface="Arial"/>
              </a:defRPr>
            </a:pPr>
            <a:r>
              <a:t>· Allianz Suisse — Test &amp; Learn Pilot</a:t>
            </a:r>
          </a:p>
          <a:p>
            <a:pPr algn="l">
              <a:lnSpc>
                <a:spcPts val="750"/>
              </a:lnSpc>
              <a:spcAft>
                <a:spcPts val="200"/>
              </a:spcAft>
              <a:defRPr sz="500" b="0">
                <a:solidFill>
                  <a:srgbClr val="777777"/>
                </a:solidFill>
                <a:latin typeface="Arial"/>
              </a:defRPr>
            </a:pPr>
          </a:p>
          <a:p>
            <a:pPr algn="l">
              <a:lnSpc>
                <a:spcPts val="1275"/>
              </a:lnSpc>
              <a:spcAft>
                <a:spcPts val="200"/>
              </a:spcAft>
              <a:defRPr sz="850" b="0">
                <a:solidFill>
                  <a:srgbClr val="777777"/>
                </a:solidFill>
                <a:latin typeface="Arial"/>
              </a:defRPr>
            </a:pPr>
            <a:r>
              <a:t>NVIDIA Inception Member. Eigene Sprach-Engine.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0" y="7452360"/>
            <a:ext cx="13167360" cy="5029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0" y="7498079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88AACC"/>
                </a:solidFill>
                <a:latin typeface="Arial"/>
              </a:defRPr>
            </a:pPr>
            <a:r>
              <a:t>NÄCHSTER SCHRITT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76809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90-Minuten-Gespräch mit einem Kundenberater Ihrer Wahl. Wir hören zu. Kein Vertrag, keine Kosten.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7589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88AACC"/>
                </a:solidFill>
                <a:latin typeface="Arial"/>
              </a:defRPr>
            </a:pPr>
            <a:r>
              <a:t>Viktor Andreas · viktor@salesteq.com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