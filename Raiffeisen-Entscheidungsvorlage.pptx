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822960"/>
          </a:xfrm>
          <a:prstGeom prst="roundRect">
            <a:avLst>
              <a:gd name="adj" fmla="val 3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ENTSCHEIDUNGSVORLAGE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AI Test &amp; Learn im Vertrieb — Pilotvorschlag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8AACC"/>
                </a:solidFill>
                <a:latin typeface="Arial"/>
              </a:defRPr>
            </a:pPr>
            <a:r>
              <a:t>Vertraulich · März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Ivo Schneider, Leiter Vertrieb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05840"/>
            <a:ext cx="1316736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Thema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AI-Pilotprojekt im Vertrieb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Salesteq (Zug, Schweiz)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Umfang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12 Wochen, 1 Raiffeisenbank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Kein dediziertes Budget nötig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10972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999999"/>
                </a:solidFill>
                <a:latin typeface="Arial"/>
              </a:defRPr>
            </a:pPr>
            <a:r>
              <a:t>IT-Bedarf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1280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Keiner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554480"/>
            <a:ext cx="1316736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737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3366"/>
                </a:solidFill>
                <a:latin typeface="Arial"/>
              </a:defRPr>
            </a:pPr>
            <a:r>
              <a:t>AUSGANGSLAGE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9659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Raiffeisen investiert bereits in AI-Anwendungen (Meeting-Vorbereitung, Chatbot Tina).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Für den nächsten Schritt — proaktive Kundenansprache, Berater-Training, Cross-Selling-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Intelligenz — fehlt ein Partner mit Produktionserfahrung.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Im Austausch vom März 2026 wurde vereinbart, ein leichtgewichtiges Szenario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vorzubereiten — analog zum Vorgehen bei Allianz Suisse (Test &amp; Learn, kein IT-Projekt).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3366"/>
                </a:solidFill>
                <a:latin typeface="Arial"/>
              </a:defRPr>
            </a:pPr>
            <a:r>
              <a:t>VORSCHLAG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200"/>
              </a:spcAft>
              <a:defRPr sz="1000" b="1">
                <a:solidFill>
                  <a:srgbClr val="333333"/>
                </a:solidFill>
                <a:latin typeface="Arial"/>
              </a:defRPr>
            </a:pPr>
            <a:r>
              <a:t>Ein begrenzter Test-and-Learn-Pilot mit einem externen Partner (Salesteq).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Ziel: Bewertungsgrundlage für den Einsatz von AI im Vertrieb schaffen.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Schritt 1: Workshop (½ Tag) — Use Cases identifizieren und priorisieren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Schritt 2: Prototyp (6 Wochen) — Einen Use Case für eine Bank umsetzen</a:t>
            </a:r>
          </a:p>
          <a:p>
            <a:pPr algn="l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t>Schritt 3: Bewertung — Ergebnisse messen, Feedback einholen, entscheiden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3366"/>
                </a:solidFill>
                <a:latin typeface="Arial"/>
              </a:defRPr>
            </a:pPr>
            <a:r>
              <a:t>MÖGLICHE USE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3200400" cy="118872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36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Berater-Training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AI-Sparringspartner für neue und</a:t>
            </a:r>
            <a:br/>
            <a:r>
              <a:t>erfahrene RMs. Übungsgespräche,</a:t>
            </a:r>
            <a:br/>
            <a:r>
              <a:t>Produktwissen, SAQ-Vorbereitung.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4663440"/>
            <a:ext cx="3200400" cy="118872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4736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Proaktive Ansprache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029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Trigger-basierte Kundenkontakte bei</a:t>
            </a:r>
            <a:br/>
            <a:r>
              <a:t>Zinsänderungen, Festhypothek-Ablauf,</a:t>
            </a:r>
            <a:br/>
            <a:r>
              <a:t>Lebensereignissen. RM gibt frei.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89320"/>
            <a:ext cx="3200400" cy="118872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60624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60624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Produktwissen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355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Einheitliche AI-Wissensbasis über</a:t>
            </a:r>
            <a:br/>
            <a:r>
              <a:t>alle 212 Banken. Immer aktuell,</a:t>
            </a:r>
            <a:br/>
            <a:r>
              <a:t>drei Sprachen, audit-fähig.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5989320"/>
            <a:ext cx="3200400" cy="118872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60624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60624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Erster Kundenkontakt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355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Routineanfragen per Chat und Telefon</a:t>
            </a:r>
            <a:br/>
            <a:r>
              <a:t>automatisiert. DE/FR/IT.</a:t>
            </a:r>
            <a:br/>
            <a:r>
              <a:t>Komplexes an RM weitergeleitet.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1737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3366"/>
                </a:solidFill>
                <a:latin typeface="Arial"/>
              </a:defRPr>
            </a:pPr>
            <a:r>
              <a:t>IT- UND SICHERHEITSASPEKTE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1965960"/>
            <a:ext cx="6126480" cy="2743200"/>
          </a:xfrm>
          <a:prstGeom prst="roundRect">
            <a:avLst>
              <a:gd name="adj" fmla="val 3000"/>
            </a:avLst>
          </a:prstGeom>
          <a:solidFill>
            <a:srgbClr val="EC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205740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6803C"/>
                </a:solidFill>
                <a:latin typeface="Arial"/>
              </a:defRPr>
            </a:pPr>
            <a:r>
              <a:t>Warum kein IT-Projekt nötig ist: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3317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6803C"/>
                </a:solidFill>
                <a:latin typeface="Arial"/>
              </a:defRPr>
            </a:pPr>
            <a:r>
              <a:t>✓  Kein Zugang zu Kernbanksystemen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5146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Der Pilot läuft vollständig ausserhalb der bestehenden IT-Infrastruktur. Keine API-Anbindung an Avaloq, BSI oder andere Kernsysteme nötig.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7889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6803C"/>
                </a:solidFill>
                <a:latin typeface="Arial"/>
              </a:defRPr>
            </a:pPr>
            <a:r>
              <a:t>✓  Keine Kundendaten verlassen die Schweiz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9718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Infrastruktur auf Hetzner (EU/Deutschland). Schweizer Hosting oder On-Premise-Deployment architektonisch vorgesehen.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2461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6803C"/>
                </a:solidFill>
                <a:latin typeface="Arial"/>
              </a:defRPr>
            </a:pPr>
            <a:r>
              <a:t>✓  Kein AI-Modell trifft autonome Entscheidungen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429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Human-in-the-Loop: Jede kundenseitige Aktion (E-Mail, Nachricht, Anruf) erfordert explizite Freigabe durch den Kundenberater.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7033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6803C"/>
                </a:solidFill>
                <a:latin typeface="Arial"/>
              </a:defRPr>
            </a:pPr>
            <a:r>
              <a:t>✓  Volle Nachvollziehbarkeit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8862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Jede AI-Aktion wird protokolliert — Tool-Aufrufe, Eingaben, Ergebnisse. Vollständiger Audit-Trail für regulatorische Prüfungen.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1605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16803C"/>
                </a:solidFill>
                <a:latin typeface="Arial"/>
              </a:defRPr>
            </a:pPr>
            <a:r>
              <a:t>✓  Mandantenfähig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3434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666666"/>
                </a:solidFill>
                <a:latin typeface="Arial"/>
              </a:defRPr>
            </a:pPr>
            <a:r>
              <a:t>Jede Genossenschaftsbank erhält einen isolierten Mandanten. Datentrennung auf Datenbankebene (PostgreSQL Row Level Security).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8463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03366"/>
                </a:solidFill>
                <a:latin typeface="Arial"/>
              </a:defRPr>
            </a:pPr>
            <a:r>
              <a:t>ÜBER DEN PARTNER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5074920"/>
            <a:ext cx="6126480" cy="146304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512064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200"/>
              </a:spcAft>
              <a:defRPr sz="1000" b="1">
                <a:solidFill>
                  <a:srgbClr val="1A1A1A"/>
                </a:solidFill>
                <a:latin typeface="Arial"/>
              </a:defRPr>
            </a:pPr>
            <a:r>
              <a:t>Salesteq (Elyon GmbH, Zug)</a:t>
            </a:r>
          </a:p>
          <a:p>
            <a:pPr algn="l">
              <a:lnSpc>
                <a:spcPts val="1189"/>
              </a:lnSpc>
              <a:spcAft>
                <a:spcPts val="20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Plattform für autonome kommerzielle AI-Agenten (Vertrieb, Marketing, Kundenservice).</a:t>
            </a:r>
          </a:p>
          <a:p>
            <a:pPr algn="l">
              <a:lnSpc>
                <a:spcPts val="700"/>
              </a:lnSpc>
              <a:spcAft>
                <a:spcPts val="200"/>
              </a:spcAft>
              <a:defRPr sz="5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lnSpc>
                <a:spcPts val="1189"/>
              </a:lnSpc>
              <a:spcAft>
                <a:spcPts val="200"/>
              </a:spcAft>
              <a:defRPr sz="850" b="1">
                <a:solidFill>
                  <a:srgbClr val="1A1A1A"/>
                </a:solidFill>
                <a:latin typeface="Arial"/>
              </a:defRPr>
            </a:pPr>
            <a:r>
              <a:t>Referenzen:</a:t>
            </a:r>
          </a:p>
          <a:p>
            <a:pPr algn="l">
              <a:lnSpc>
                <a:spcPts val="1189"/>
              </a:lnSpc>
              <a:spcAft>
                <a:spcPts val="20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·  Naghi Group / BMW Saudi-Arabien — Produktion, Voice AI in Arabisch, 15'000+ MA</a:t>
            </a:r>
          </a:p>
          <a:p>
            <a:pPr algn="l">
              <a:lnSpc>
                <a:spcPts val="1189"/>
              </a:lnSpc>
              <a:spcAft>
                <a:spcPts val="20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·  Suhner Abrasive (CH) — AI-Verkaufsassistent, 4 Sprachen, 737 Produkte</a:t>
            </a:r>
          </a:p>
          <a:p>
            <a:pPr algn="l">
              <a:lnSpc>
                <a:spcPts val="1189"/>
              </a:lnSpc>
              <a:spcAft>
                <a:spcPts val="20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·  Allianz Suisse — Pilot, AI in der Kundenforschung (Test &amp; Learn)</a:t>
            </a:r>
          </a:p>
          <a:p>
            <a:pPr algn="l">
              <a:lnSpc>
                <a:spcPts val="700"/>
              </a:lnSpc>
              <a:spcAft>
                <a:spcPts val="200"/>
              </a:spcAft>
              <a:defRPr sz="500" b="0">
                <a:solidFill>
                  <a:srgbClr val="666666"/>
                </a:solidFill>
                <a:latin typeface="Arial"/>
              </a:defRPr>
            </a:pPr>
          </a:p>
          <a:p>
            <a:pPr algn="l">
              <a:lnSpc>
                <a:spcPts val="1189"/>
              </a:lnSpc>
              <a:spcAft>
                <a:spcPts val="200"/>
              </a:spcAft>
              <a:defRPr sz="850" b="0">
                <a:solidFill>
                  <a:srgbClr val="666666"/>
                </a:solidFill>
                <a:latin typeface="Arial"/>
              </a:defRPr>
            </a:pPr>
            <a:r>
              <a:t>NVIDIA Inception Program Member. Eigene Sprach-Engine (nicht API-Wrapper).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7360920"/>
            <a:ext cx="13167360" cy="640080"/>
          </a:xfrm>
          <a:prstGeom prst="roundRect">
            <a:avLst>
              <a:gd name="adj" fmla="val 3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7406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88AACC"/>
                </a:solidFill>
                <a:latin typeface="Arial"/>
              </a:defRPr>
            </a:pPr>
            <a:r>
              <a:t>EMPFOHLENER NÄCHSTER SCHRITT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7635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90-Minuten-Gespräch mit einem Kundenberater Ihrer Wahl. Wir hören zu. Kein Vertrag, keine Kosten.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74980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8AACC"/>
                </a:solidFill>
                <a:latin typeface="Arial"/>
              </a:defRPr>
            </a:pPr>
            <a:r>
              <a:t>Kontakt: Viktor Andreas</a:t>
            </a:r>
            <a:br/>
            <a:r>
              <a:t>viktor@salesteq.com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