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Space Grotesk"/>
              </a:defRPr>
            </a:pPr>
            <a:r>
              <a:t>AI im Vertrieb — Gemeinsame Erkundung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645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88AACC"/>
                </a:solidFill>
                <a:latin typeface="Space Grotesk"/>
              </a:defRPr>
            </a:pPr>
            <a:r>
              <a:t>Vertraulich · März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Space Grotesk"/>
              </a:defRPr>
            </a:pPr>
            <a:r>
              <a:t>Thema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AI-Potenzial im Vertrieb erkunden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Space Grotesk"/>
              </a:defRPr>
            </a:pPr>
            <a:r>
              <a:t>Partner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Salesteq, Zug (CH)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Space Grotesk"/>
              </a:defRPr>
            </a:pPr>
            <a:r>
              <a:t>Umfang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12 Wochen, 1 Raiffeisenbank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Space Grotesk"/>
              </a:defRPr>
            </a:pPr>
            <a:r>
              <a:t>IT-Bedarf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Keiner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Space Grotesk"/>
              </a:defRPr>
            </a:pPr>
            <a:r>
              <a:t>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Keines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1234440"/>
            <a:ext cx="1316736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4173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Space Grotesk"/>
              </a:defRPr>
            </a:pPr>
            <a:r>
              <a:t>AUSGANGSLAGE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16916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Space Grotesk"/>
              </a:defRPr>
            </a:pPr>
            <a:r>
              <a:t>AI verändert den Bankvertrieb. Raiffeisen setzt bereits erste Anwendungen ein</a:t>
            </a:r>
          </a:p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Space Grotesk"/>
              </a:defRPr>
            </a:pPr>
            <a:r>
              <a:t>(Meeting-Vorbereitung, Chatbot Tina). Die nächsten Schritte — RM-Training,</a:t>
            </a:r>
          </a:p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Space Grotesk"/>
              </a:defRPr>
            </a:pPr>
            <a:r>
              <a:t>Produktwissen, Kundenansprache — sind weniger klar. Im Gespräch vom März 2026</a:t>
            </a:r>
          </a:p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Space Grotesk"/>
              </a:defRPr>
            </a:pPr>
            <a:r>
              <a:t>wurde angeregt, die Möglichkeiten in einem strukturierten Rahmen zu erkunden.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880360"/>
            <a:ext cx="7772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63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Space Grotesk"/>
              </a:defRPr>
            </a:pPr>
            <a:r>
              <a:t>VORSCHLAG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333333"/>
                </a:solidFill>
                <a:latin typeface="Space Grotesk"/>
              </a:defRPr>
            </a:pPr>
            <a:r>
              <a:t>Vorgehen: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611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1A"/>
                </a:solidFill>
                <a:latin typeface="Space Grotesk"/>
              </a:defRPr>
            </a:pPr>
            <a:r>
              <a:t>Discovery (½ Tag)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6118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777777"/>
                </a:solidFill>
                <a:latin typeface="Space Grotesk"/>
              </a:defRPr>
            </a:pPr>
            <a:r>
              <a:t>Vertriebsprozess gemeinsam analysieren → Handlungsempfehlung erarbeiten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2.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1A"/>
                </a:solidFill>
                <a:latin typeface="Space Grotesk"/>
              </a:defRPr>
            </a:pPr>
            <a:r>
              <a:t>Handlungsempfehlung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0690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777777"/>
                </a:solidFill>
                <a:latin typeface="Space Grotesk"/>
              </a:defRPr>
            </a:pPr>
            <a:r>
              <a:t>Ivo erhält ein Dokument, das er intern mit IT und Stakeholdern testen kann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5262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3.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526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1A"/>
                </a:solidFill>
                <a:latin typeface="Space Grotesk"/>
              </a:defRPr>
            </a:pPr>
            <a:r>
              <a:t>Entscheiden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526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777777"/>
                </a:solidFill>
                <a:latin typeface="Space Grotesk"/>
              </a:defRPr>
            </a:pPr>
            <a:r>
              <a:t>Auf Basis der Empfehlung: nächste Schritte gemeinsam festlegen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074920"/>
            <a:ext cx="7772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57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Space Grotesk"/>
              </a:defRPr>
            </a:pPr>
            <a:r>
              <a:t>IDEENBACKLOG (ZUR DISKUSSION)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5321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532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RM-Training &amp; Onboarding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55321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Space Grotesk"/>
              </a:defRPr>
            </a:pPr>
            <a:r>
              <a:t>Sparringspartner für neue und erfahrene Berater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91616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9161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Produktwissen für 212 Banken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91616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Space Grotesk"/>
              </a:defRPr>
            </a:pPr>
            <a:r>
              <a:t>Einheitliche Wissensbasis, immer aktuell, drei Sprachen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30021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3002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Erster Kundenkontakt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63002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Space Grotesk"/>
              </a:defRPr>
            </a:pPr>
            <a:r>
              <a:t>Chat und Telefon in DE/FR/IT, qualifizierte Weiterleitung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684264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68426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Cross-Selling-Signale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66842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Space Grotesk"/>
              </a:defRPr>
            </a:pPr>
            <a:r>
              <a:t>Portfolio-Lücken erkennen und Kontaktanlässe priorisieren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706831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70683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Kampagnen-Unterstützung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70683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Space Grotesk"/>
              </a:defRPr>
            </a:pPr>
            <a:r>
              <a:t>Personalisierte Ansprache, vom RM freigegeben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0" y="1417320"/>
            <a:ext cx="4754880" cy="338328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1508760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Space Grotesk"/>
              </a:defRPr>
            </a:pPr>
            <a:r>
              <a:t>WARUM KEIN IT-PROJEKT NÖTIG IST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1828800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Space Grotesk"/>
              </a:defRPr>
            </a:pPr>
            <a:r>
              <a:t>✓  Kein Zugang zu Kernbanksystemen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20299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Space Grotesk"/>
              </a:defRPr>
            </a:pPr>
            <a:r>
              <a:t>Pilot läuft ausserhalb der bestehenden</a:t>
            </a:r>
            <a:br/>
            <a:r>
              <a:t>IT-Infrastruktur. Keine API-Anbindung.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72600" y="2542032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Space Grotesk"/>
              </a:defRPr>
            </a:pPr>
            <a:r>
              <a:t>✓  Keine Kundendaten verlassen die Schweiz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7432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Space Grotesk"/>
              </a:defRPr>
            </a:pPr>
            <a:r>
              <a:t>Infrastruktur in EU. Schweizer Hosting</a:t>
            </a:r>
            <a:br/>
            <a:r>
              <a:t>oder On-Premise möglich.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72600" y="3255264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Space Grotesk"/>
              </a:defRPr>
            </a:pPr>
            <a:r>
              <a:t>✓  Kein AI trifft autonome Entscheidungen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6920" y="3456432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Space Grotesk"/>
              </a:defRPr>
            </a:pPr>
            <a:r>
              <a:t>Jede kundenseitige Aktion erfordert</a:t>
            </a:r>
            <a:br/>
            <a:r>
              <a:t>explizite Freigabe durch den RM.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3968496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Space Grotesk"/>
              </a:defRPr>
            </a:pPr>
            <a:r>
              <a:t>✓  Voller Audit-Trail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46920" y="4169663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Space Grotesk"/>
              </a:defRPr>
            </a:pPr>
            <a:r>
              <a:t>Jede AI-Aktion protokolliert.</a:t>
            </a:r>
            <a:br/>
            <a:r>
              <a:t>Compliance-fähig.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0" y="5074920"/>
            <a:ext cx="4754880" cy="2240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5166360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Space Grotesk"/>
              </a:defRPr>
            </a:pPr>
            <a:r>
              <a:t>ÜBER DEN PARTNER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72600" y="544068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spcAft>
                <a:spcPts val="20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Salesteq (Elyon GmbH, Zug)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900" b="0">
                <a:solidFill>
                  <a:srgbClr val="777777"/>
                </a:solidFill>
                <a:latin typeface="Space Grotesk"/>
              </a:defRPr>
            </a:pPr>
            <a:r>
              <a:t>AI-Plattform für Vertrieb, Marketing, Kundenservice.</a:t>
            </a:r>
          </a:p>
          <a:p>
            <a:pPr algn="l">
              <a:lnSpc>
                <a:spcPts val="750"/>
              </a:lnSpc>
              <a:spcAft>
                <a:spcPts val="200"/>
              </a:spcAft>
              <a:defRPr sz="500" b="0">
                <a:solidFill>
                  <a:srgbClr val="777777"/>
                </a:solidFill>
                <a:latin typeface="Space Grotesk"/>
              </a:defRPr>
            </a:pPr>
          </a:p>
          <a:p>
            <a:pPr algn="l">
              <a:lnSpc>
                <a:spcPts val="1350"/>
              </a:lnSpc>
              <a:spcAft>
                <a:spcPts val="200"/>
              </a:spcAft>
              <a:defRPr sz="900" b="1">
                <a:solidFill>
                  <a:srgbClr val="1A1A1A"/>
                </a:solidFill>
                <a:latin typeface="Space Grotesk"/>
              </a:defRPr>
            </a:pPr>
            <a:r>
              <a:t>Referenzen:</a:t>
            </a: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Space Grotesk"/>
              </a:defRPr>
            </a:pPr>
            <a:r>
              <a:t>· Naghi/BMW Saudi-Arabien — Produktion, Voice AI</a:t>
            </a: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Space Grotesk"/>
              </a:defRPr>
            </a:pPr>
            <a:r>
              <a:t>· Suhner Abrasive (CH) — AI-Verkaufsassistent</a:t>
            </a: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Space Grotesk"/>
              </a:defRPr>
            </a:pPr>
            <a:r>
              <a:t>· Allianz Suisse — Test &amp; Learn Pilot</a:t>
            </a:r>
          </a:p>
          <a:p>
            <a:pPr algn="l">
              <a:lnSpc>
                <a:spcPts val="750"/>
              </a:lnSpc>
              <a:spcAft>
                <a:spcPts val="200"/>
              </a:spcAft>
              <a:defRPr sz="500" b="0">
                <a:solidFill>
                  <a:srgbClr val="777777"/>
                </a:solidFill>
                <a:latin typeface="Space Grotesk"/>
              </a:defRPr>
            </a:pP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Space Grotesk"/>
              </a:defRPr>
            </a:pPr>
            <a:r>
              <a:t>NVIDIA Inception Member. Eigene Sprach-Engine.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7452360"/>
            <a:ext cx="13167360" cy="5029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7498079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88AACC"/>
                </a:solidFill>
                <a:latin typeface="Space Grotesk"/>
              </a:defRPr>
            </a:pPr>
            <a:r>
              <a:t>NÄCHSTER SCHRITT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7680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FFFFF"/>
                </a:solidFill>
                <a:latin typeface="Space Grotesk"/>
              </a:defRPr>
            </a:pPr>
            <a:r>
              <a:t>Halbtägiger Discovery-Workshop mit Ivo und 1–2 Kundenberatern. Ergebnis: Handlungsempfehlung.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0" y="7589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88AACC"/>
                </a:solidFill>
                <a:latin typeface="Space Grotesk"/>
              </a:defRPr>
            </a:pPr>
            <a:r>
              <a:t>Viktor Andreas · viktor@salesteq.com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