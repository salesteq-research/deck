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FAF9F0"/>
                </a:solidFill>
                <a:latin typeface="Space Grotesk"/>
              </a:defRPr>
            </a:pPr>
            <a:r>
              <a:t>Salesteq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D97757"/>
                </a:solidFill>
                <a:latin typeface="JetBrains Mono"/>
              </a:defRPr>
            </a:pPr>
            <a:r>
              <a:t>SALESTEQ × RAIFFEISEN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800" b="1">
                <a:solidFill>
                  <a:srgbClr val="FAF9F0"/>
                </a:solidFill>
                <a:latin typeface="Space Grotesk"/>
              </a:defRPr>
            </a:pPr>
            <a:r>
              <a:t>Gemeinsam erkunden,</a:t>
            </a:r>
            <a:br/>
            <a:r>
              <a:t>wo AI im Vertrieb</a:t>
            </a:r>
            <a:br/>
            <a:r>
              <a:t>den Unterschied macht.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3D3D3F"/>
                </a:solidFill>
                <a:latin typeface="Space Grotesk"/>
              </a:defRPr>
            </a:pPr>
            <a:r>
              <a:t>Kein fertiger Plan. Ein Prototyp, der zeigt, was möglich ist —</a:t>
            </a:r>
            <a:br/>
            <a:r>
              <a:t>und ein Vorschlag, wie wir die richtigen Fragen gemeinsam finden.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3D3D3F"/>
                </a:solidFill>
                <a:latin typeface="JetBrains Mono"/>
              </a:defRPr>
            </a:pPr>
            <a:r>
              <a:t>VORBEREITET FÜR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72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AF9F0"/>
                </a:solidFill>
                <a:latin typeface="Space Grotesk"/>
              </a:defRPr>
            </a:pPr>
            <a:r>
              <a:t>Ivo Schneider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3D3D3F"/>
                </a:solidFill>
                <a:latin typeface="Space Grotesk"/>
              </a:defRPr>
            </a:pPr>
            <a:r>
              <a:t>Leiter Vertrieb, Raiffeisen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943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3D3D3F"/>
                </a:solidFill>
                <a:latin typeface="JetBrains Mono"/>
              </a:defRPr>
            </a:pPr>
            <a:r>
              <a:t>VON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172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AF9F0"/>
                </a:solidFill>
                <a:latin typeface="Space Grotesk"/>
              </a:defRPr>
            </a:pPr>
            <a:r>
              <a:t>Viktor Andreas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922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3D3D3F"/>
                </a:solidFill>
                <a:latin typeface="Space Grotesk"/>
              </a:defRPr>
            </a:pPr>
            <a:r>
              <a:t>Gründer &amp; CEO, Salesteq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943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3D3D3F"/>
                </a:solidFill>
                <a:latin typeface="JetBrains Mono"/>
              </a:defRPr>
            </a:pPr>
            <a:r>
              <a:t>DATUM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172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AF9F0"/>
                </a:solidFill>
                <a:latin typeface="Space Grotesk"/>
              </a:defRPr>
            </a:pPr>
            <a:r>
              <a:t>März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7818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3D3D3F"/>
                </a:solidFill>
                <a:latin typeface="JetBrains Mono"/>
              </a:defRPr>
            </a:pPr>
            <a:r>
              <a:t>Vertraulich  ·  Salesteq × Raiffeisen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0" y="7818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3D3D3F"/>
                </a:solidFill>
                <a:latin typeface="JetBrains Mono"/>
              </a:defRPr>
            </a:pPr>
            <a: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ANSATZ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31314"/>
                </a:solidFill>
                <a:latin typeface="Space Grotesk"/>
              </a:defRPr>
            </a:pPr>
            <a:r>
              <a:t>Erst verstehen, dann bauen.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3167360" cy="128016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200"/>
              </a:spcAft>
              <a:defRPr sz="1300" b="0">
                <a:solidFill>
                  <a:srgbClr val="2A2A2A"/>
                </a:solidFill>
                <a:latin typeface="Space Grotesk"/>
              </a:defRPr>
            </a:pPr>
            <a:r>
              <a:t>AI verändert den Bankvertrieb. Raiffeisen setzt bereits erste Anwendungen ein.</a:t>
            </a:r>
          </a:p>
          <a:p>
            <a:pPr algn="l">
              <a:lnSpc>
                <a:spcPts val="1820"/>
              </a:lnSpc>
              <a:spcAft>
                <a:spcPts val="200"/>
              </a:spcAft>
              <a:defRPr sz="1300" b="1">
                <a:solidFill>
                  <a:srgbClr val="2A2A2A"/>
                </a:solidFill>
                <a:latin typeface="Space Grotesk"/>
              </a:defRPr>
            </a:pPr>
            <a:r>
              <a:t>Die Frage ist nicht ob, sondern wo und wie AI den grössten Hebel hat.</a:t>
            </a:r>
          </a:p>
          <a:p>
            <a:pPr algn="l">
              <a:lnSpc>
                <a:spcPts val="839"/>
              </a:lnSpc>
              <a:spcAft>
                <a:spcPts val="200"/>
              </a:spcAft>
              <a:defRPr sz="600" b="0">
                <a:solidFill>
                  <a:srgbClr val="2A2A2A"/>
                </a:solidFill>
                <a:latin typeface="Space Grotesk"/>
              </a:defRPr>
            </a:pPr>
          </a:p>
          <a:p>
            <a:pPr algn="l">
              <a:lnSpc>
                <a:spcPts val="1820"/>
              </a:lnSpc>
              <a:spcAft>
                <a:spcPts val="200"/>
              </a:spcAft>
              <a:defRPr sz="1300" b="0">
                <a:solidFill>
                  <a:srgbClr val="2A2A2A"/>
                </a:solidFill>
                <a:latin typeface="Space Grotesk"/>
              </a:defRPr>
            </a:pPr>
            <a:r>
              <a:t>Unser Vorschlag: Gemeinsam herausfinden, was für Raiffeisen funktioniert. Nicht mit einem</a:t>
            </a:r>
          </a:p>
          <a:p>
            <a:pPr algn="l">
              <a:lnSpc>
                <a:spcPts val="1820"/>
              </a:lnSpc>
              <a:spcAft>
                <a:spcPts val="200"/>
              </a:spcAft>
              <a:defRPr sz="1300" b="0">
                <a:solidFill>
                  <a:srgbClr val="2A2A2A"/>
                </a:solidFill>
                <a:latin typeface="Space Grotesk"/>
              </a:defRPr>
            </a:pPr>
            <a:r>
              <a:t>fertigen Produktangebot, sondern als strategischer Sparringspartner — wie bei Allianz Suisse.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VORGEHEN IN DREI SCHRITTEN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66160"/>
            <a:ext cx="43891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566160"/>
            <a:ext cx="438912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703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0">
                <a:solidFill>
                  <a:srgbClr val="D97757"/>
                </a:solidFill>
                <a:latin typeface="Space Grotesk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160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31314"/>
                </a:solidFill>
                <a:latin typeface="Space Grotesk"/>
              </a:defRPr>
            </a:pPr>
            <a:r>
              <a:t>Strategisches Assessment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4480560"/>
            <a:ext cx="393192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57200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Was sind die grössten Herausforderungen</a:t>
            </a:r>
            <a:br/>
            <a:r>
              <a:t>im Vertrieb? Wo hat AI den grössten</a:t>
            </a:r>
            <a:br/>
            <a:r>
              <a:t>Hebel? Gemeinsam mit Ivo und</a:t>
            </a:r>
            <a:br/>
            <a:r>
              <a:t>1-2 Kundenberatern erarbeiten.</a:t>
            </a:r>
            <a:br/>
            <a:br/>
            <a:r>
              <a:t>Ergebnis: Priorisierte Use Cases</a:t>
            </a:r>
            <a:br/>
            <a:r>
              <a:t>und Handlungsempfehlung.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6675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D97757"/>
                </a:solidFill>
                <a:latin typeface="JetBrains Mono"/>
              </a:defRPr>
            </a:pPr>
            <a:r>
              <a:t>½ Tag Workshop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3566160"/>
            <a:ext cx="43891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0" y="3566160"/>
            <a:ext cx="438912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3703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0">
                <a:solidFill>
                  <a:srgbClr val="D97757"/>
                </a:solidFill>
                <a:latin typeface="Space Grotesk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4160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31314"/>
                </a:solidFill>
                <a:latin typeface="Space Grotesk"/>
              </a:defRPr>
            </a:pPr>
            <a:r>
              <a:t>Rapid Prototyping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4480560"/>
            <a:ext cx="393192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0" y="457200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Einen Use Case als funktionierenden</a:t>
            </a:r>
            <a:br/>
            <a:r>
              <a:t>Prototyp umsetzen — wie die</a:t>
            </a:r>
            <a:br/>
            <a:r>
              <a:t>Sales Academy, die wir bereits</a:t>
            </a:r>
            <a:br/>
            <a:r>
              <a:t>als Vorgeschmack gebaut haben.</a:t>
            </a:r>
            <a:br/>
            <a:br/>
            <a:r>
              <a:t>Kein Powerpoint. Ein System,</a:t>
            </a:r>
            <a:br/>
            <a:r>
              <a:t>das Berater testen können.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6675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D97757"/>
                </a:solidFill>
                <a:latin typeface="JetBrains Mono"/>
              </a:defRPr>
            </a:pPr>
            <a:r>
              <a:t>4-6 Wochen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3566160"/>
            <a:ext cx="43891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75520" y="3566160"/>
            <a:ext cx="438912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04120" y="3703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0">
                <a:solidFill>
                  <a:srgbClr val="D97757"/>
                </a:solidFill>
                <a:latin typeface="Space Grotesk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04120" y="4160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31314"/>
                </a:solidFill>
                <a:latin typeface="Space Grotesk"/>
              </a:defRPr>
            </a:pPr>
            <a:r>
              <a:t>Gemeinsam entscheiden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04120" y="4480560"/>
            <a:ext cx="393192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04120" y="457200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Ergebnisse bewerten. Feedback</a:t>
            </a:r>
            <a:br/>
            <a:r>
              <a:t>der Berater einholen.</a:t>
            </a:r>
            <a:br/>
            <a:br/>
            <a:r>
              <a:t>Ob Rollout, Erweiterung oder</a:t>
            </a:r>
            <a:br/>
            <a:r>
              <a:t>anderer Fokus — die Entscheidung</a:t>
            </a:r>
            <a:br/>
            <a:r>
              <a:t>liegt bei Raiffeisen.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6675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D97757"/>
                </a:solidFill>
                <a:latin typeface="JetBrains Mono"/>
              </a:defRPr>
            </a:pPr>
            <a:r>
              <a:t>Woche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7818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6B6B6B"/>
                </a:solidFill>
                <a:latin typeface="JetBrains Mono"/>
              </a:defRPr>
            </a:pPr>
            <a:r>
              <a:t>Vertraulich  ·  Salesteq × Raiffeisen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0" y="7818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B6B6B"/>
                </a:solidFill>
                <a:latin typeface="JetBrains Mono"/>
              </a:defRPr>
            </a:pPr>
            <a: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PROTOTYP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31314"/>
                </a:solidFill>
                <a:latin typeface="Space Grotesk"/>
              </a:defRPr>
            </a:pPr>
            <a:r>
              <a:t>Was wir bereits gebaut haben —</a:t>
            </a:r>
            <a:br/>
            <a:r>
              <a:t>aus öffentlichen Daten, ohne Systemzugang.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228600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3167360" cy="548640"/>
          </a:xfrm>
          <a:prstGeom prst="rect">
            <a:avLst/>
          </a:prstGeom>
          <a:solidFill>
            <a:srgbClr val="131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LIVE-PROTOTYP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901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AF9F0"/>
                </a:solidFill>
                <a:latin typeface="Space Grotesk"/>
              </a:defRPr>
            </a:pPr>
            <a:r>
              <a:t>raiffeisen.salesteq.com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3D3D3F"/>
                </a:solidFill>
                <a:latin typeface="Space Grotesk"/>
              </a:defRPr>
            </a:pPr>
            <a:r>
              <a:t>Zugänglich, keine Installation nötig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51760"/>
            <a:ext cx="6583680" cy="21031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658368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88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31314"/>
                </a:solidFill>
                <a:latin typeface="Space Grotesk"/>
              </a:defRPr>
            </a:pPr>
            <a:r>
              <a:t>Netzwerk-Karte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81635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212 Raiffeisenbanken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3108960"/>
            <a:ext cx="612648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200400"/>
            <a:ext cx="6126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Alle Banken auf einer Karte. 148 mit</a:t>
            </a:r>
            <a:br/>
            <a:r>
              <a:t>echten Teamdaten — 4'193 Mitarbeitende</a:t>
            </a:r>
            <a:br/>
            <a:r>
              <a:t>mit Namen, Rollen, Fotos.</a:t>
            </a:r>
            <a:br/>
            <a:r>
              <a:t>Alles aus öffentlichen Quellen.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2651760"/>
            <a:ext cx="6583680" cy="21031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2651760"/>
            <a:ext cx="658368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2788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31314"/>
                </a:solidFill>
                <a:latin typeface="Space Grotesk"/>
              </a:defRPr>
            </a:pPr>
            <a:r>
              <a:t>Sales Academy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281635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Berater-Training mit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3108960"/>
            <a:ext cx="612648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3200400"/>
            <a:ext cx="6126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Kundenberater üben Beratungsgespräche</a:t>
            </a:r>
            <a:br/>
            <a:r>
              <a:t>mit einem AI-Kunden. Hypotheken,</a:t>
            </a:r>
            <a:br/>
            <a:r>
              <a:t>Vorsorge, Anlagen, Reklamation.</a:t>
            </a:r>
            <a:br/>
            <a:r>
              <a:t>Strukturiertes Feedback.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937760"/>
            <a:ext cx="6583680" cy="21031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937760"/>
            <a:ext cx="658368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74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31314"/>
                </a:solidFill>
                <a:latin typeface="Space Grotesk"/>
              </a:defRPr>
            </a:pPr>
            <a:r>
              <a:t>Produktwissen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10235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Interner AI-Assistent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" y="5394960"/>
            <a:ext cx="612648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486400"/>
            <a:ext cx="6126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Beantwortet jede Frage zu Raiffeisen-</a:t>
            </a:r>
            <a:br/>
            <a:r>
              <a:t>Produkten: Zinssätze, Futura-Fonds,</a:t>
            </a:r>
            <a:br/>
            <a:r>
              <a:t>SARON, 3a — mit echten aktuellen</a:t>
            </a:r>
            <a:br/>
            <a:r>
              <a:t>Daten und Konditionen.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4937760"/>
            <a:ext cx="6583680" cy="21031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89520" y="4937760"/>
            <a:ext cx="658368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5074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31314"/>
                </a:solidFill>
                <a:latin typeface="Space Grotesk"/>
              </a:defRPr>
            </a:pPr>
            <a:r>
              <a:t>Pulse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510235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Briefings &amp; Feedback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18120" y="5394960"/>
            <a:ext cx="612648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5486400"/>
            <a:ext cx="6126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Ivo publiziert ein Briefing.</a:t>
            </a:r>
            <a:br/>
            <a:r>
              <a:t>212 Banken erhalten es. Er sieht,</a:t>
            </a:r>
            <a:br/>
            <a:r>
              <a:t>wer liest, wer versteht, wer</a:t>
            </a:r>
            <a:br/>
            <a:r>
              <a:t>zurückmeldet. Zwei-Weg-Kanal.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7269480"/>
            <a:ext cx="13167360" cy="411480"/>
          </a:xfrm>
          <a:prstGeom prst="rect">
            <a:avLst/>
          </a:prstGeom>
          <a:solidFill>
            <a:srgbClr val="EE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731520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D8A4E"/>
                </a:solidFill>
                <a:latin typeface="Space Grotesk"/>
              </a:defRPr>
            </a:pPr>
            <a:r>
              <a:t>Alle Daten aus öffentlich zugänglichen Quellen (raiffeisen.ch). Keine Kundendaten. Keine Systemanbindung. Kein IT-Projekt.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7818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6B6B6B"/>
                </a:solidFill>
                <a:latin typeface="JetBrains Mono"/>
              </a:defRPr>
            </a:pPr>
            <a:r>
              <a:t>Vertraulich  ·  Salesteq × Raiffeisen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0" y="7818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B6B6B"/>
                </a:solidFill>
                <a:latin typeface="JetBrains Mono"/>
              </a:defRPr>
            </a:pPr>
            <a: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BEISPIEL-SZENARIO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31314"/>
                </a:solidFill>
                <a:latin typeface="Space Grotesk"/>
              </a:defRPr>
            </a:pPr>
            <a:r>
              <a:t>Wie sieht das in der Praxis aus?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28600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6B6B"/>
                </a:solidFill>
                <a:latin typeface="Space Grotesk"/>
              </a:defRPr>
            </a:pPr>
            <a:r>
              <a:t>Szenario: CEO Brenna beschliesst «Raiffeisen wird zur Anlagebank.» Ivo muss das umsetzen — in 212 unabhängigen Banken.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25146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251460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Tag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31314"/>
                </a:solidFill>
                <a:latin typeface="Space Grotesk"/>
              </a:defRPr>
            </a:pPr>
            <a:r>
              <a:t>Analyse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788920"/>
            <a:ext cx="224028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Ivo öffnet das Netzwerk-Dashboard.</a:t>
            </a:r>
            <a:br/>
            <a:r>
              <a:t>Sieht: nur 22% Anlage-Durchdringung.</a:t>
            </a:r>
            <a:br/>
            <a:r>
              <a:t>78% der RMs haben noch nie</a:t>
            </a:r>
            <a:br/>
            <a:r>
              <a:t>Futura-Fonds verkauft.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2103120"/>
            <a:ext cx="25146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103120"/>
            <a:ext cx="251460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2402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Tag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4688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31314"/>
                </a:solidFill>
                <a:latin typeface="Space Grotesk"/>
              </a:defRPr>
            </a:pPr>
            <a:r>
              <a:t>Briefing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788920"/>
            <a:ext cx="224028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8803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Ivo publiziert über Pulse:</a:t>
            </a:r>
            <a:br/>
            <a:r>
              <a:t>«Neue Priorität: Anlageberatung.»</a:t>
            </a:r>
            <a:br/>
            <a:r>
              <a:t>847 von 1'200 RMs lesen es</a:t>
            </a:r>
            <a:br/>
            <a:r>
              <a:t>innerhalb von 48 Stunden.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103120"/>
            <a:ext cx="25146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103120"/>
            <a:ext cx="251460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2402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Tag 3-14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4688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31314"/>
                </a:solidFill>
                <a:latin typeface="Space Grotesk"/>
              </a:defRPr>
            </a:pPr>
            <a:r>
              <a:t>Training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788920"/>
            <a:ext cx="224028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8803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RMs mit tiefer Anlage-Kompetenz</a:t>
            </a:r>
            <a:br/>
            <a:r>
              <a:t>trainieren mit der Sales Academy.</a:t>
            </a:r>
            <a:br/>
            <a:r>
              <a:t>AI-Kunde übt Anlageberatung.</a:t>
            </a:r>
            <a:br/>
            <a:r>
              <a:t>Gezielt, skalierbar.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23960" y="2103120"/>
            <a:ext cx="25146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23960" y="2103120"/>
            <a:ext cx="251460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22402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Laufend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4688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31314"/>
                </a:solidFill>
                <a:latin typeface="Space Grotesk"/>
              </a:defRPr>
            </a:pPr>
            <a:r>
              <a:t>Feedback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2788920"/>
            <a:ext cx="224028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28803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RMs melden zurück: «Kunden</a:t>
            </a:r>
            <a:br/>
            <a:r>
              <a:t>fragen nach ESG-Ratings.»</a:t>
            </a:r>
            <a:br/>
            <a:r>
              <a:t>«Rio-Minimum CHF 5K ist</a:t>
            </a:r>
            <a:br/>
            <a:r>
              <a:t>zu hoch für junge Kunden.»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521440" y="2103120"/>
            <a:ext cx="25146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521440" y="2103120"/>
            <a:ext cx="2514600" cy="36576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58600" y="224028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Monat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58600" y="24688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31314"/>
                </a:solidFill>
                <a:latin typeface="Space Grotesk"/>
              </a:defRPr>
            </a:pPr>
            <a:r>
              <a:t>Ergebnis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658600" y="2788920"/>
            <a:ext cx="2240280" cy="12700"/>
          </a:xfrm>
          <a:prstGeom prst="rect">
            <a:avLst/>
          </a:prstGeom>
          <a:solidFill>
            <a:srgbClr val="E8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658600" y="28803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6B6B"/>
                </a:solidFill>
                <a:latin typeface="Space Grotesk"/>
              </a:defRPr>
            </a:pPr>
            <a:r>
              <a:t>Anlage-Durchdringung:</a:t>
            </a:r>
            <a:br/>
            <a:r>
              <a:t>22% → 35%.</a:t>
            </a:r>
            <a:br/>
            <a:r>
              <a:t>Ivo kann dem CEO zeigen,</a:t>
            </a:r>
            <a:br/>
            <a:r>
              <a:t>was sich bewegt hat.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852160"/>
            <a:ext cx="13167360" cy="128016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943600"/>
            <a:ext cx="1280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D97757"/>
                </a:solidFill>
                <a:latin typeface="JetBrains Mono"/>
              </a:defRPr>
            </a:pPr>
            <a:r>
              <a:t>WAS DIESES SZENARIO ZEIGT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6217920"/>
            <a:ext cx="1280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200"/>
              </a:spcAft>
              <a:defRPr sz="1200" b="1">
                <a:solidFill>
                  <a:srgbClr val="2A2A2A"/>
                </a:solidFill>
                <a:latin typeface="Space Grotesk"/>
              </a:defRPr>
            </a:pPr>
            <a:r>
              <a:t>Nicht ein einzelnes Tool, sondern ein System, das zusammenwirkt: Analyse → Kommunikation → Training → Feedback → Messung.</a:t>
            </a:r>
          </a:p>
          <a:p>
            <a:pPr algn="l">
              <a:lnSpc>
                <a:spcPts val="1679"/>
              </a:lnSpc>
              <a:spcAft>
                <a:spcPts val="200"/>
              </a:spcAft>
              <a:defRPr sz="1200" b="0">
                <a:solidFill>
                  <a:srgbClr val="6B6B6B"/>
                </a:solidFill>
                <a:latin typeface="Space Grotesk"/>
              </a:defRPr>
            </a:pPr>
            <a:r>
              <a:t>Von der Strategieentscheidung zur Umsetzung in 212 Banken — in Wochen, nicht Monaten.</a:t>
            </a:r>
          </a:p>
          <a:p>
            <a:pPr algn="l">
              <a:lnSpc>
                <a:spcPts val="1679"/>
              </a:lnSpc>
              <a:spcAft>
                <a:spcPts val="200"/>
              </a:spcAft>
              <a:defRPr sz="1200" b="0">
                <a:solidFill>
                  <a:srgbClr val="6B6B6B"/>
                </a:solidFill>
                <a:latin typeface="Space Grotesk"/>
              </a:defRPr>
            </a:pPr>
            <a:r>
              <a:t>Alles ohne Systemanbindung, ohne IT-Projekt, ohne Zugang zu Kundendaten.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7818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6B6B6B"/>
                </a:solidFill>
                <a:latin typeface="JetBrains Mono"/>
              </a:defRPr>
            </a:pPr>
            <a:r>
              <a:t>Vertraulich  ·  Salesteq × Raiffeisen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0" y="7818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B6B6B"/>
                </a:solidFill>
                <a:latin typeface="JetBrains Mono"/>
              </a:defRPr>
            </a:pPr>
            <a: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FAF9F0"/>
                </a:solidFill>
                <a:latin typeface="Space Grotesk"/>
              </a:defRPr>
            </a:pPr>
            <a:r>
              <a:t>Salesteq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800" b="1">
                <a:solidFill>
                  <a:srgbClr val="FAF9F0"/>
                </a:solidFill>
                <a:latin typeface="Space Grotesk"/>
              </a:defRPr>
            </a:pPr>
            <a:r>
              <a:t>Den Prototyp</a:t>
            </a:r>
            <a:br/>
            <a:r>
              <a:t>gemeinsam anschauen.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3D3D3F"/>
                </a:solidFill>
                <a:latin typeface="Space Grotesk"/>
              </a:defRPr>
            </a:pPr>
            <a:r>
              <a:t>Wir haben etwas gebaut. Schauen Sie es sich an — raiffeisen.salesteq.com.</a:t>
            </a:r>
            <a:br/>
            <a:r>
              <a:t>Dann setzen wir uns zusammen und besprechen, was davon relevant ist.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6400800" cy="1645920"/>
          </a:xfrm>
          <a:prstGeom prst="rect">
            <a:avLst/>
          </a:prstGeom>
          <a:solidFill>
            <a:srgbClr val="1E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6035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2D8A4E"/>
                </a:solidFill>
                <a:latin typeface="JetBrains Mono"/>
              </a:defRPr>
            </a:pPr>
            <a:r>
              <a:t>WAS WIR BRAUCHEN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88CC88"/>
                </a:solidFill>
                <a:latin typeface="Space Grotesk"/>
              </a:defRPr>
            </a:pPr>
            <a:r>
              <a:t>✓  Einen Termin mit Ivo (90 Minuten)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88CC88"/>
                </a:solidFill>
                <a:latin typeface="Space Grotesk"/>
              </a:defRPr>
            </a:pPr>
            <a:r>
              <a:t>✓  Offenheit, gemeinsam zu erkunden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7220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88CC88"/>
                </a:solidFill>
                <a:latin typeface="Space Grotesk"/>
              </a:defRPr>
            </a:pPr>
            <a:r>
              <a:t>✓  Keine Vorbereitung nötig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5029200"/>
            <a:ext cx="6400800" cy="1645920"/>
          </a:xfrm>
          <a:prstGeom prst="rect">
            <a:avLst/>
          </a:prstGeom>
          <a:solidFill>
            <a:srgbClr val="1E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5120640"/>
            <a:ext cx="6035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CC8888"/>
                </a:solidFill>
                <a:latin typeface="JetBrains Mono"/>
              </a:defRPr>
            </a:pPr>
            <a:r>
              <a:t>WAS WIR NICHT BRAUCHEN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44068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CC8888"/>
                </a:solidFill>
                <a:latin typeface="Space Grotesk"/>
              </a:defRPr>
            </a:pPr>
            <a:r>
              <a:t>✗  Kein IT-Involvement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80644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CC8888"/>
                </a:solidFill>
                <a:latin typeface="Space Grotesk"/>
              </a:defRPr>
            </a:pPr>
            <a:r>
              <a:t>✗  Kein 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17220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CC8888"/>
                </a:solidFill>
                <a:latin typeface="Space Grotesk"/>
              </a:defRPr>
            </a:pPr>
            <a:r>
              <a:t>✗  Keinen Systemzugang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7040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AF9F0"/>
                </a:solidFill>
                <a:latin typeface="Space Grotesk"/>
              </a:defRPr>
            </a:pPr>
            <a:r>
              <a:t>Viktor Andreas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7360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3D3D3F"/>
                </a:solidFill>
                <a:latin typeface="Space Grotesk"/>
              </a:defRPr>
            </a:pPr>
            <a:r>
              <a:t>viktor@salesteq.com  ·  salesteq.com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70408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700" b="1">
                <a:solidFill>
                  <a:srgbClr val="D97757"/>
                </a:solidFill>
                <a:latin typeface="Space Grotesk"/>
              </a:defRPr>
            </a:pPr>
            <a:r>
              <a:t>raiffeisen.salesteq.com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73609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0">
                <a:solidFill>
                  <a:srgbClr val="3D3D3F"/>
                </a:solidFill>
                <a:latin typeface="Space Grotesk"/>
              </a:defRPr>
            </a:pPr>
            <a:r>
              <a:t>Live-Prototyp  ·  Keine Installation nötig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7818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3D3D3F"/>
                </a:solidFill>
                <a:latin typeface="JetBrains Mono"/>
              </a:defRPr>
            </a:pPr>
            <a:r>
              <a:t>Vertraulich  ·  Salesteq × Raiffeisen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0" y="7818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3D3D3F"/>
                </a:solidFill>
                <a:latin typeface="JetBrains Mono"/>
              </a:defRPr>
            </a:pPr>
            <a: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