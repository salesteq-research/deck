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B7280"/>
                </a:solidFill>
                <a:latin typeface="JetBrains Mono"/>
              </a:defRPr>
            </a:pPr>
            <a:r>
              <a:t>DISKUSSIONSGRUNDLAGE · VERTRAULICH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6400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5600" b="0">
                <a:solidFill>
                  <a:srgbClr val="1A1A2E"/>
                </a:solidFill>
                <a:latin typeface="Inter"/>
              </a:defRPr>
            </a:pPr>
            <a:r>
              <a:t>Test and</a:t>
            </a:r>
            <a:br/>
            <a:r>
              <a:t>Learn mit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1828800" cy="3175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300"/>
              </a:spcAft>
              <a:defRPr sz="1600" b="0">
                <a:solidFill>
                  <a:srgbClr val="6B7280"/>
                </a:solidFill>
                <a:latin typeface="Inter"/>
              </a:defRPr>
            </a:pPr>
            <a:r>
              <a:t>Wie AI den Vertrieb bei Raiffeisen unterstützen könnte.</a:t>
            </a:r>
          </a:p>
          <a:p>
            <a:pPr algn="l">
              <a:lnSpc>
                <a:spcPts val="1839"/>
              </a:lnSpc>
              <a:spcAft>
                <a:spcPts val="300"/>
              </a:spcAft>
              <a:defRPr sz="1600" b="0">
                <a:solidFill>
                  <a:srgbClr val="6B7280"/>
                </a:solidFill>
                <a:latin typeface="Inter"/>
              </a:defRPr>
            </a:pPr>
            <a:r>
              <a:t>Kein fertiger Plan — ein Gedankenanstoss.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B7280"/>
                </a:solidFill>
                <a:latin typeface="JetBrains Mono"/>
              </a:defRPr>
            </a:pPr>
            <a:r>
              <a:t>VORBEREITET FÜR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1A2E"/>
                </a:solidFill>
                <a:latin typeface="Inter"/>
              </a:defRPr>
            </a:pPr>
            <a:r>
              <a:t>Ivo Schneider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3795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7280"/>
                </a:solidFill>
                <a:latin typeface="Inter"/>
              </a:defRPr>
            </a:pPr>
            <a:r>
              <a:t>Leiter Vertrieb, Raiffeisen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5943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B7280"/>
                </a:solidFill>
                <a:latin typeface="JetBrains Mono"/>
              </a:defRPr>
            </a:pPr>
            <a:r>
              <a:t>VON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217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1A2E"/>
                </a:solidFill>
                <a:latin typeface="Inter"/>
              </a:defRPr>
            </a:pPr>
            <a:r>
              <a:t>Viktor Andreas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653795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7280"/>
                </a:solidFill>
                <a:latin typeface="Inter"/>
              </a:defRPr>
            </a:pPr>
            <a:r>
              <a:t>Gründer, Salesteq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943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B7280"/>
                </a:solidFill>
                <a:latin typeface="JetBrains Mono"/>
              </a:defRPr>
            </a:pPr>
            <a:r>
              <a:t>DATUM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217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1A2E"/>
                </a:solidFill>
                <a:latin typeface="Inter"/>
              </a:defRPr>
            </a:pPr>
            <a:r>
              <a:t>März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0"/>
            <a:ext cx="6858000" cy="8229600"/>
          </a:xfrm>
          <a:prstGeom prst="roundRect">
            <a:avLst>
              <a:gd name="adj" fmla="val 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097280"/>
            <a:ext cx="5943600" cy="1920240"/>
          </a:xfrm>
          <a:prstGeom prst="roundRect">
            <a:avLst>
              <a:gd name="adj" fmla="val 4000"/>
            </a:avLst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234439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E8A838"/>
                </a:solidFill>
                <a:latin typeface="JetBrains Mono"/>
              </a:defRPr>
            </a:pPr>
            <a:r>
              <a:t>KONTEXT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60020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CA3AF"/>
                </a:solidFill>
                <a:latin typeface="Inter"/>
              </a:defRPr>
            </a:pPr>
            <a:r>
              <a:t>Raiffeisen verfügt über 896 Standorte und</a:t>
            </a:r>
            <a:br/>
            <a:r>
              <a:t>3.65 Mio. Kunden — das dichteste Filialnetz</a:t>
            </a:r>
            <a:br/>
            <a:r>
              <a:t>der Schweiz. Die Stärke liegt in der</a:t>
            </a:r>
            <a:br/>
            <a:r>
              <a:t>persönlichen Beratung.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291839"/>
            <a:ext cx="5943600" cy="1920240"/>
          </a:xfrm>
          <a:prstGeom prst="roundRect">
            <a:avLst>
              <a:gd name="adj" fmla="val 4000"/>
            </a:avLst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428999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E8A838"/>
                </a:solidFill>
                <a:latin typeface="JetBrains Mono"/>
              </a:defRPr>
            </a:pPr>
            <a:r>
              <a:t>DIE FRAGE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94759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CA3AF"/>
                </a:solidFill>
                <a:latin typeface="Inter"/>
              </a:defRPr>
            </a:pPr>
            <a:r>
              <a:t>Wie können Kundenberater mehr Zeit für</a:t>
            </a:r>
            <a:br/>
            <a:r>
              <a:t>Beratung gewinnen — und gleichzeitig mehr</a:t>
            </a:r>
            <a:br/>
            <a:r>
              <a:t>Kunden systematisch betreuen?</a:t>
            </a:r>
            <a:br/>
            <a:r>
              <a:t>Ohne das Modell zu ändern.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486400"/>
            <a:ext cx="5943600" cy="1920240"/>
          </a:xfrm>
          <a:prstGeom prst="roundRect">
            <a:avLst>
              <a:gd name="adj" fmla="val 4000"/>
            </a:avLst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5623560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E8A838"/>
                </a:solidFill>
                <a:latin typeface="JetBrains Mono"/>
              </a:defRPr>
            </a:pPr>
            <a:r>
              <a:t>UNSER ANSATZ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98932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CA3AF"/>
                </a:solidFill>
                <a:latin typeface="Inter"/>
              </a:defRPr>
            </a:pPr>
            <a:r>
              <a:t>So haben wir mit Allianz Suisse begonnen:</a:t>
            </a:r>
            <a:br/>
            <a:r>
              <a:t>Klein starten, gemeinsam lernen, auf Basis</a:t>
            </a:r>
            <a:br/>
            <a:r>
              <a:t>der Ergebnisse entscheiden. Wir schlagen</a:t>
            </a:r>
            <a:br/>
            <a:r>
              <a:t>dasselbe für den Vertrieb vor.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8181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B7280"/>
                </a:solidFill>
                <a:latin typeface="JetBrains Mono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A838"/>
                </a:solidFill>
                <a:latin typeface="JetBrains Mono"/>
              </a:defRPr>
            </a:pPr>
            <a:r>
              <a:t>SZENARIO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280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400" b="0">
                <a:solidFill>
                  <a:srgbClr val="1A1A2E"/>
                </a:solidFill>
                <a:latin typeface="Inter"/>
              </a:defRPr>
            </a:pPr>
            <a:r>
              <a:t>Ein Tag im Leben eines Kundenberaters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400800" cy="5943600"/>
          </a:xfrm>
          <a:prstGeom prst="roundRect">
            <a:avLst>
              <a:gd name="adj" fmla="val 4000"/>
            </a:avLst>
          </a:prstGeom>
          <a:solidFill>
            <a:srgbClr val="F0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B7280"/>
                </a:solidFill>
                <a:latin typeface="JetBrains Mono"/>
              </a:defRPr>
            </a:pPr>
            <a:r>
              <a:t>HEUTE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A1A2E"/>
                </a:solidFill>
                <a:latin typeface="Inter"/>
              </a:defRPr>
            </a:pPr>
            <a:r>
              <a:t>Dienstag, 9. April — Filiale Winterthur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07:45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146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Lukas kommt in die Filiale. 3 Kundentermine.</a:t>
            </a:r>
            <a:br/>
            <a:r>
              <a:t>Er stellt Dossiers zusammen, prüft Portfolios.</a:t>
            </a:r>
            <a:br/>
            <a:r>
              <a:t>30–40 Min. Vorbereitung pro Termin.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Hypothekenberatung Ehepaar Brunner.</a:t>
            </a:r>
            <a:br/>
            <a:r>
              <a:t>Erst im Gespräch erfährt er: sie denken</a:t>
            </a:r>
            <a:br/>
            <a:r>
              <a:t>auch über Vorsorge nach. Nicht vorbereitet.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14:00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8006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Zwischen den Terminen: 6 verpasste Anrufe.</a:t>
            </a:r>
            <a:br/>
            <a:r>
              <a:t>Kontoeröffnung, Karten, Zinsen.</a:t>
            </a:r>
            <a:br/>
            <a:r>
              <a:t>Lukas kann nicht rangehen — er berät.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9436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17:00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9436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280"/>
                </a:solidFill>
                <a:latin typeface="Inter"/>
              </a:defRPr>
            </a:pPr>
            <a:r>
              <a:t>20+ Kunden von der Zinssenkung betroffen.</a:t>
            </a:r>
            <a:br/>
            <a:r>
              <a:t>Keine Zeit, alle anzurufen.</a:t>
            </a:r>
            <a:br/>
            <a:r>
              <a:t>Die Gelegenheit verstreicht.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7178040"/>
            <a:ext cx="5852160" cy="320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7196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2E"/>
                </a:solidFill>
                <a:latin typeface="Inter"/>
              </a:defRPr>
            </a:pPr>
            <a:r>
              <a:t>Das Problem ist nicht die Qualität — es ist die Kapazität.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1148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E8A83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645920"/>
            <a:ext cx="6400800" cy="5943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7830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A838"/>
                </a:solidFill>
                <a:latin typeface="JetBrains Mono"/>
              </a:defRPr>
            </a:pPr>
            <a:r>
              <a:t>MORGEN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Derselbe Dienstag — mit AI-Unterstützung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5146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07:45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5146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CA3AF"/>
                </a:solidFill>
                <a:latin typeface="Inter"/>
              </a:defRPr>
            </a:pPr>
            <a:r>
              <a:t>Drei Briefings liegen bereit — automatisch.</a:t>
            </a:r>
            <a:br/>
            <a:r>
              <a:t>Kundenhistorie, Portfolio, Cross-Selling.</a:t>
            </a:r>
            <a:br/>
            <a:r>
              <a:t>Brunners: «Vorsorgelücke, 3a nicht ausgeschöpft.»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10:00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6576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CA3AF"/>
                </a:solidFill>
                <a:latin typeface="Inter"/>
              </a:defRPr>
            </a:pPr>
            <a:r>
              <a:t>Lukas bringt die Vorsorge selbst aufs Tapet.</a:t>
            </a:r>
            <a:br/>
            <a:r>
              <a:t>«Sie kennen uns besser als wir selbst.»</a:t>
            </a:r>
            <a:br/>
            <a:r>
              <a:t>Hypothek und Vorsorge in einem Termin.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8006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14:00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8006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CA3AF"/>
                </a:solidFill>
                <a:latin typeface="Inter"/>
              </a:defRPr>
            </a:pPr>
            <a:r>
              <a:t>Routineanfragen auf der Website automatisch</a:t>
            </a:r>
            <a:br/>
            <a:r>
              <a:t>beantwortet — DE/FR/IT. Komplexes wird</a:t>
            </a:r>
            <a:br/>
            <a:r>
              <a:t>weitergeleitet. 0 verpasste Anrufe.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9436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17:00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9436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CA3AF"/>
                </a:solidFill>
                <a:latin typeface="Inter"/>
              </a:defRPr>
            </a:pPr>
            <a:r>
              <a:t>20 betroffene Kunden haben bereits eine</a:t>
            </a:r>
            <a:br/>
            <a:r>
              <a:t>personalisierte Nachricht erhalten.</a:t>
            </a:r>
            <a:br/>
            <a:r>
              <a:t>3 haben heute Nachmittag zurückgerufen.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7178040"/>
            <a:ext cx="5852160" cy="320040"/>
          </a:xfrm>
          <a:prstGeom prst="roundRect">
            <a:avLst>
              <a:gd name="adj" fmla="val 4000"/>
            </a:avLst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7196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A838"/>
                </a:solidFill>
                <a:latin typeface="Inter"/>
              </a:defRPr>
            </a:pPr>
            <a:r>
              <a:t>Lukas berät nicht anders. Er berät besser vorbereitet, für mehr Kunden.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78181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B7280"/>
                </a:solidFill>
                <a:latin typeface="JetBrains Mono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A838"/>
                </a:solidFill>
                <a:latin typeface="JetBrains Mono"/>
              </a:defRPr>
            </a:pPr>
            <a:r>
              <a:t>VORGEHEN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280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400" b="0">
                <a:solidFill>
                  <a:srgbClr val="1A1A2E"/>
                </a:solidFill>
                <a:latin typeface="Inter"/>
              </a:defRPr>
            </a:pPr>
            <a:r>
              <a:t>Klein anfangen. Gemeinsam lernen.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Inter"/>
              </a:defRPr>
            </a:pPr>
            <a:r>
              <a:t>Kein grosses Projekt. Kein aufwändiger Beschaffungsprozess. Ein kleines, begrenztes Experiment mit klaren Zielen.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6400800" cy="2103120"/>
          </a:xfrm>
          <a:prstGeom prst="roundRect">
            <a:avLst>
              <a:gd name="adj" fmla="val 4000"/>
            </a:avLst>
          </a:prstGeom>
          <a:solidFill>
            <a:srgbClr val="F0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2C55E"/>
                </a:solidFill>
                <a:latin typeface="JetBrains Mono"/>
              </a:defRPr>
            </a:pPr>
            <a:r>
              <a:t>✓  WAS WIR BRAUCHEN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D2D2D"/>
                </a:solidFill>
                <a:latin typeface="Inter"/>
              </a:defRPr>
            </a:pPr>
            <a:r>
              <a:t>·  Einen Ansprechpartner im Vertrieb (kein IT-Team nötig)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D2D2D"/>
                </a:solidFill>
                <a:latin typeface="Inter"/>
              </a:defRPr>
            </a:pPr>
            <a:r>
              <a:t>·  Zugang zu einem typischen Kundenberater-Alltag (1 Tag, 1 Filiale)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D2D2D"/>
                </a:solidFill>
                <a:latin typeface="Inter"/>
              </a:defRPr>
            </a:pPr>
            <a:r>
              <a:t>·  Bereitschaft, ein kleines Experiment zu starten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103120"/>
            <a:ext cx="6400800" cy="2103120"/>
          </a:xfrm>
          <a:prstGeom prst="roundRect">
            <a:avLst>
              <a:gd name="adj" fmla="val 4000"/>
            </a:avLst>
          </a:prstGeom>
          <a:solidFill>
            <a:srgbClr val="F0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2402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F4444"/>
                </a:solidFill>
                <a:latin typeface="JetBrains Mono"/>
              </a:defRPr>
            </a:pPr>
            <a:r>
              <a:t>✗  WAS WIR NICHT BRAUCHEN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0604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D2D2D"/>
                </a:solidFill>
                <a:latin typeface="Inter"/>
              </a:defRPr>
            </a:pPr>
            <a:r>
              <a:t>·  Kein grosses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7180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D2D2D"/>
                </a:solidFill>
                <a:latin typeface="Inter"/>
              </a:defRPr>
            </a:pPr>
            <a:r>
              <a:t>·  Kein grosses IT-Involvement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3375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D2D2D"/>
                </a:solidFill>
                <a:latin typeface="Inter"/>
              </a:defRPr>
            </a:pPr>
            <a:r>
              <a:t>·  Keine langfristigen Commitments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70332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D2D2D"/>
                </a:solidFill>
                <a:latin typeface="Inter"/>
              </a:defRPr>
            </a:pPr>
            <a:r>
              <a:t>·  Keinen Zugang zu Kernbanksystemen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4297680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0">
                <a:solidFill>
                  <a:srgbClr val="E8A838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Big Picture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6072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CA3AF"/>
                </a:solidFill>
                <a:latin typeface="Inter"/>
              </a:defRPr>
            </a:pPr>
            <a:r>
              <a:t>Gemeinsam erarbeiten:</a:t>
            </a:r>
            <a:br/>
            <a:r>
              <a:t>«Zukunft des Vertriebs mit AI.»</a:t>
            </a:r>
            <a:br/>
            <a:r>
              <a:t>Wo liegt das Potenzial?</a:t>
            </a:r>
            <a:br/>
            <a:r>
              <a:t>Welche Low-Hanging Fruits?</a:t>
            </a:r>
            <a:br/>
            <a:r>
              <a:t>Ein halber Tag Workshop.</a:t>
            </a:r>
            <a:br/>
            <a:r>
              <a:t>Ergebnis: priorisierte Use Cases.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7178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Woche 1–2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4572000"/>
            <a:ext cx="4297680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7091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0">
                <a:solidFill>
                  <a:srgbClr val="E8A838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303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Konkreter Use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576072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CA3AF"/>
                </a:solidFill>
                <a:latin typeface="Inter"/>
              </a:defRPr>
            </a:pPr>
            <a:r>
              <a:t>Ausarbeitung eines Use Case</a:t>
            </a:r>
            <a:br/>
            <a:r>
              <a:t>für eine Raiffeisenbank.</a:t>
            </a:r>
            <a:br/>
            <a:r>
              <a:t>Z.B. RM-Briefings oder proaktive</a:t>
            </a:r>
            <a:br/>
            <a:r>
              <a:t>Kundenansprache bei Zinsänderungen.</a:t>
            </a:r>
            <a:br/>
            <a:r>
              <a:t>Funktionierender Prototyp,</a:t>
            </a:r>
            <a:br/>
            <a:r>
              <a:t>keine Slides.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7178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Woche 3–8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4572000"/>
            <a:ext cx="4297680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47091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0">
                <a:solidFill>
                  <a:srgbClr val="E8A838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303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Entscheiden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576072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CA3AF"/>
                </a:solidFill>
                <a:latin typeface="Inter"/>
              </a:defRPr>
            </a:pPr>
            <a:r>
              <a:t>Ergebnisse gemeinsam bewerten.</a:t>
            </a:r>
            <a:br/>
            <a:r>
              <a:t>Feedback der Berater einholen.</a:t>
            </a:r>
            <a:br/>
            <a:r>
              <a:t>Wenn es funktioniert: skalieren.</a:t>
            </a:r>
            <a:br/>
            <a:r>
              <a:t>Wenn nicht: kein Schaden,</a:t>
            </a:r>
            <a:br/>
            <a:r>
              <a:t>viel gelernt.</a:t>
            </a:r>
            <a:br/>
            <a:r>
              <a:t>Die Resultate sprechen für sich.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7178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8A838"/>
                </a:solidFill>
                <a:latin typeface="JetBrains Mono"/>
              </a:defRPr>
            </a:pPr>
            <a:r>
              <a:t>Woche 9–12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78181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B7280"/>
                </a:solidFill>
                <a:latin typeface="JetBrains Mono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8A838"/>
                </a:solidFill>
                <a:latin typeface="JetBrains Mono"/>
              </a:defRPr>
            </a:pPr>
            <a:r>
              <a:t>ZUSAMMENARBEIT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280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400" b="0">
                <a:solidFill>
                  <a:srgbClr val="1A1A2E"/>
                </a:solidFill>
                <a:latin typeface="Inter"/>
              </a:defRPr>
            </a:pPr>
            <a:r>
              <a:t>Warum Salesteq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3167360" cy="1828800"/>
          </a:xfrm>
          <a:prstGeom prst="roundRect">
            <a:avLst>
              <a:gd name="adj" fmla="val 4000"/>
            </a:avLst>
          </a:prstGeom>
          <a:solidFill>
            <a:srgbClr val="F0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2E"/>
                </a:solidFill>
                <a:latin typeface="Inter"/>
              </a:defRPr>
            </a:pPr>
            <a:r>
              <a:t>Austausch vom März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261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300"/>
              </a:spcAft>
              <a:defRPr sz="1200" b="0">
                <a:solidFill>
                  <a:srgbClr val="6B7280"/>
                </a:solidFill>
                <a:latin typeface="Inter"/>
              </a:defRPr>
            </a:pPr>
            <a:r>
              <a:t>Im Gespräch mit Ivo Schneider und Lukas Seger haben wir vereinbart, ein einfaches Szenario</a:t>
            </a:r>
          </a:p>
          <a:p>
            <a:pPr algn="l">
              <a:lnSpc>
                <a:spcPts val="1380"/>
              </a:lnSpc>
              <a:spcAft>
                <a:spcPts val="300"/>
              </a:spcAft>
              <a:defRPr sz="1200" b="0">
                <a:solidFill>
                  <a:srgbClr val="6B7280"/>
                </a:solidFill>
                <a:latin typeface="Inter"/>
              </a:defRPr>
            </a:pPr>
            <a:r>
              <a:t>vorzubereiten — basierend auf unserem Ansatz bei Allianz Suisse.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280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2E"/>
                </a:solidFill>
                <a:latin typeface="Inter"/>
              </a:defRPr>
            </a:pPr>
            <a:r>
              <a:t>Vorgehen in 3 Schritten: Salesteq macht einen Vorschlag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1261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Schritt 1: Big Picture aufzeigen — «Zukunft des Vertriebs mit AI bei Raiffeisen»</a:t>
            </a:r>
          </a:p>
          <a:p>
            <a:pPr algn="l">
              <a:lnSpc>
                <a:spcPts val="1264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Schritt 2: Ausarbeitung eines konkreten Use Case (z.B. RM-Briefings, proaktive Ansprache)</a:t>
            </a:r>
          </a:p>
          <a:p>
            <a:pPr algn="l">
              <a:lnSpc>
                <a:spcPts val="1264"/>
              </a:lnSpc>
              <a:spcAft>
                <a:spcPts val="30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Schritt 3: Optional — Proof-of-Concept mit einer Raiffeisenbank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6400800" cy="2926080"/>
          </a:xfrm>
          <a:prstGeom prst="roundRect">
            <a:avLst>
              <a:gd name="adj" fmla="val 4000"/>
            </a:avLst>
          </a:prstGeom>
          <a:solidFill>
            <a:srgbClr val="F0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947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2E"/>
                </a:solidFill>
                <a:latin typeface="Inter"/>
              </a:defRPr>
            </a:pPr>
            <a:r>
              <a:t>Was Salesteq mitbringt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✓  Produktionserfahrung: Naghi/BMW (15'000+ MA, Voice AI)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✓  Pilot mit Allianz Suisse (Analytics &amp; Kundenforschung)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834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✓  Eigene Sprach-Engine — kein API-Wrapper, eigene Modelle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949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✓  Mandantenfähig: 212 Banken = 212 isolierte Mandanten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8064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✓  Schweizer Unternehmen (Zug), direkter Zugang zu Gründern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657600"/>
            <a:ext cx="6400800" cy="2926080"/>
          </a:xfrm>
          <a:prstGeom prst="roundRect">
            <a:avLst>
              <a:gd name="adj" fmla="val 4000"/>
            </a:avLst>
          </a:prstGeom>
          <a:solidFill>
            <a:srgbClr val="F0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7947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2E"/>
                </a:solidFill>
                <a:latin typeface="Inter"/>
              </a:defRPr>
            </a:pPr>
            <a:r>
              <a:t>Was Salesteq nicht 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1605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✗  Kein CRM-Ersatz (BSI, Salesforce bleiben bestehen)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5720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✗  Kein Copilot-Konkurrent (ergänzt, ersetzt nicht)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9834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✗  Kein fertiges Bankenprodukt (wir bauen gemeinsam)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3949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D2D2D"/>
                </a:solidFill>
                <a:latin typeface="Inter"/>
              </a:defRPr>
            </a:pPr>
            <a:r>
              <a:t>✗  Keine Blackbox — volle Nachvollziehbarkeit aller AI-Aktionen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858000"/>
            <a:ext cx="13167360" cy="914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6949440"/>
            <a:ext cx="1188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8A838"/>
                </a:solidFill>
                <a:latin typeface="Inter"/>
              </a:defRPr>
            </a:pPr>
            <a:r>
              <a:t>Kein Druck, keine Eile.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7269480"/>
            <a:ext cx="1188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CA3AF"/>
                </a:solidFill>
                <a:latin typeface="Inter"/>
              </a:defRPr>
            </a:pPr>
            <a:r>
              <a:t>Wenn das Szenario Sinn macht, finden wir den richtigen Anfang. Wenn nicht, war es ein gutes Gespräch.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9494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Inter"/>
              </a:defRPr>
            </a:pPr>
            <a:r>
              <a:t>Viktor Andreas</a:t>
            </a:r>
            <a:br/>
            <a:r>
              <a:t>viktor@salesteq.com</a:t>
            </a:r>
            <a:br/>
            <a:r>
              <a:t>salesteq.com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8181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B7280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B7280"/>
                </a:solidFill>
                <a:latin typeface="JetBrains Mono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