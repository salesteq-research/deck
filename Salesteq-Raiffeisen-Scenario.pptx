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6B7280"/>
                </a:solidFill>
                <a:latin typeface="JetBrains Mono"/>
              </a:defRPr>
            </a:pPr>
            <a:r>
              <a:t>DISKUSSIONSGRUNDLAGE · VERTRAULICH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6400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5600" b="0">
                <a:solidFill>
                  <a:srgbClr val="1A1A2E"/>
                </a:solidFill>
                <a:latin typeface="Inter"/>
              </a:defRPr>
            </a:pPr>
            <a:r>
              <a:t>Test and</a:t>
            </a:r>
            <a:br/>
            <a:r>
              <a:t>Learn mit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931920"/>
            <a:ext cx="1828800" cy="31750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  <a:spcAft>
                <a:spcPts val="300"/>
              </a:spcAft>
              <a:defRPr sz="1600" b="0">
                <a:solidFill>
                  <a:srgbClr val="6B7280"/>
                </a:solidFill>
                <a:latin typeface="Inter"/>
              </a:defRPr>
            </a:pPr>
            <a:r>
              <a:t>Wie AI den Vertrieb bei Raiffeisen unterstützen könnte.</a:t>
            </a:r>
          </a:p>
          <a:p>
            <a:pPr algn="l">
              <a:lnSpc>
                <a:spcPts val="1839"/>
              </a:lnSpc>
              <a:spcAft>
                <a:spcPts val="300"/>
              </a:spcAft>
              <a:defRPr sz="1600" b="0">
                <a:solidFill>
                  <a:srgbClr val="6B7280"/>
                </a:solidFill>
                <a:latin typeface="Inter"/>
              </a:defRPr>
            </a:pPr>
            <a:r>
              <a:t>Kein fertiger Plan — ein Gedankenanstoss.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6B7280"/>
                </a:solidFill>
                <a:latin typeface="JetBrains Mono"/>
              </a:defRPr>
            </a:pPr>
            <a:r>
              <a:t>VORBEREITET FÜR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1A2E"/>
                </a:solidFill>
                <a:latin typeface="Inter"/>
              </a:defRPr>
            </a:pPr>
            <a:r>
              <a:t>Ivo Schneider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537959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B7280"/>
                </a:solidFill>
                <a:latin typeface="Inter"/>
              </a:defRPr>
            </a:pPr>
            <a:r>
              <a:t>Leiter Vertrieb, Raiffeisen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5943600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6B7280"/>
                </a:solidFill>
                <a:latin typeface="JetBrains Mono"/>
              </a:defRPr>
            </a:pPr>
            <a:r>
              <a:t>VON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62179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1A2E"/>
                </a:solidFill>
                <a:latin typeface="Inter"/>
              </a:defRPr>
            </a:pPr>
            <a:r>
              <a:t>Viktor Andreas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6537959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B7280"/>
                </a:solidFill>
                <a:latin typeface="Inter"/>
              </a:defRPr>
            </a:pPr>
            <a:r>
              <a:t>Gründer, Salesteq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5943600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6B7280"/>
                </a:solidFill>
                <a:latin typeface="JetBrains Mono"/>
              </a:defRPr>
            </a:pPr>
            <a:r>
              <a:t>DATUM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62179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1A2E"/>
                </a:solidFill>
                <a:latin typeface="Inter"/>
              </a:defRPr>
            </a:pPr>
            <a:r>
              <a:t>März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0"/>
            <a:ext cx="6858000" cy="8229600"/>
          </a:xfrm>
          <a:prstGeom prst="roundRect">
            <a:avLst>
              <a:gd name="adj" fmla="val 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1097280"/>
            <a:ext cx="5943600" cy="192024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1234439"/>
            <a:ext cx="5303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JetBrains Mono"/>
              </a:defRPr>
            </a:pPr>
            <a:r>
              <a:t>KONTEXT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1600200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CA3AF"/>
                </a:solidFill>
                <a:latin typeface="Inter"/>
              </a:defRPr>
            </a:pPr>
            <a:r>
              <a:t>Raiffeisen verfügt über 896 Standorte und</a:t>
            </a:r>
            <a:br/>
            <a:r>
              <a:t>3.65 Mio. Kunden — das dichteste Filialnetz</a:t>
            </a:r>
            <a:br/>
            <a:r>
              <a:t>der Schweiz. Die Stärke liegt in der</a:t>
            </a:r>
            <a:br/>
            <a:r>
              <a:t>persönlichen Beratung.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291839"/>
            <a:ext cx="5943600" cy="192024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3428999"/>
            <a:ext cx="5303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JetBrains Mono"/>
              </a:defRPr>
            </a:pPr>
            <a:r>
              <a:t>DIE FRAGE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3794759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CA3AF"/>
                </a:solidFill>
                <a:latin typeface="Inter"/>
              </a:defRPr>
            </a:pPr>
            <a:r>
              <a:t>Wie können Kundenberater mehr Zeit für</a:t>
            </a:r>
            <a:br/>
            <a:r>
              <a:t>Beratung gewinnen — und gleichzeitig mehr</a:t>
            </a:r>
            <a:br/>
            <a:r>
              <a:t>Kunden systematisch betreuen?</a:t>
            </a:r>
            <a:br/>
            <a:r>
              <a:t>Ohne das Modell zu ändern.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5486400"/>
            <a:ext cx="5943600" cy="192024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5623560"/>
            <a:ext cx="5303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JetBrains Mono"/>
              </a:defRPr>
            </a:pPr>
            <a:r>
              <a:t>UNSER ANSATZ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5989320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CA3AF"/>
                </a:solidFill>
                <a:latin typeface="Inter"/>
              </a:defRPr>
            </a:pPr>
            <a:r>
              <a:t>So haben wir mit Allianz Suisse begonnen:</a:t>
            </a:r>
            <a:br/>
            <a:r>
              <a:t>Klein starten, gemeinsam lernen, auf Basis</a:t>
            </a:r>
            <a:br/>
            <a:r>
              <a:t>der Ergebnisse entscheiden. Wir schlagen</a:t>
            </a:r>
            <a:br/>
            <a:r>
              <a:t>dasselbe für den Vertrieb vor.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B728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6B7280"/>
                </a:solidFill>
                <a:latin typeface="JetBrains Mono"/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JetBrains Mono"/>
              </a:defRPr>
            </a:pPr>
            <a:r>
              <a:t>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FFFFFF"/>
                </a:solidFill>
                <a:latin typeface="Inter"/>
              </a:defRPr>
            </a:pPr>
            <a:r>
              <a:t>AI im Vertrieb: Das Gesamtbild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280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CA3AF"/>
                </a:solidFill>
                <a:latin typeface="Inter"/>
              </a:defRPr>
            </a:pPr>
            <a:r>
              <a:t>Was heute schon möglich ist, was kommt — und wo Raiffeisen sich positionieren kann.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4297680" cy="548640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148840"/>
            <a:ext cx="3931920" cy="594360"/>
          </a:xfrm>
          <a:prstGeom prst="roundRect">
            <a:avLst>
              <a:gd name="adj" fmla="val 4000"/>
            </a:avLst>
          </a:prstGeom>
          <a:solidFill>
            <a:srgbClr val="1E2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76272"/>
            <a:ext cx="3657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JetBrains Mono"/>
              </a:defRPr>
            </a:pPr>
            <a:r>
              <a:t>BEREITS VERBREITET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Was viele Banken heute tun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Meeting-Vorbereitung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0040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Kundendossiers automatisch</a:t>
            </a:r>
            <a:br/>
            <a:r>
              <a:t>zusammengestellt (Copilot, interne</a:t>
            </a:r>
            <a:br/>
            <a:r>
              <a:t>Prototypen). Raiffeisen arbeitet</a:t>
            </a:r>
            <a:br/>
            <a:r>
              <a:t>hier bereits.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8056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Chatbots für FAQ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75488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Einfache Fragen auf der Website</a:t>
            </a:r>
            <a:br/>
            <a:r>
              <a:t>beantwortet (Raiffeisen: «Tina» via</a:t>
            </a:r>
            <a:br/>
            <a:r>
              <a:t>Rasa). Begrenzt auf Q&amp;A.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603504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Dokumenten-Analyse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6309359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KYC, Compliance-Prüfung,</a:t>
            </a:r>
            <a:br/>
            <a:r>
              <a:t>Vertragserkennung. Meist</a:t>
            </a:r>
            <a:br/>
            <a:r>
              <a:t>Backoffice-getrieben.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0" y="2011680"/>
            <a:ext cx="4297680" cy="548640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0" y="2148840"/>
            <a:ext cx="3931920" cy="594360"/>
          </a:xfrm>
          <a:prstGeom prst="roundRect">
            <a:avLst>
              <a:gd name="adj" fmla="val 4000"/>
            </a:avLst>
          </a:prstGeom>
          <a:solidFill>
            <a:srgbClr val="2A2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76272"/>
            <a:ext cx="3657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JetBrains Mono"/>
              </a:defRPr>
            </a:pPr>
            <a:r>
              <a:t>NÄCHSTE WELLE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3774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Wo der Wettbewerbsvorsprung entsteht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2608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Proaktive Kundenansprache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320040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AI erkennt Trigger (Zinsänderung,</a:t>
            </a:r>
            <a:br/>
            <a:r>
              <a:t>Ablauf Festhypothek, Lebensereignis)</a:t>
            </a:r>
            <a:br/>
            <a:r>
              <a:t>und bereitet personalisierte</a:t>
            </a:r>
            <a:br/>
            <a:r>
              <a:t>Ansprache vor — RM gibt frei.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48056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Training &amp; Produktwissen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475488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AI als Sparringspartner für neue</a:t>
            </a:r>
            <a:br/>
            <a:r>
              <a:t>und erfahrene Berater. Übt</a:t>
            </a:r>
            <a:br/>
            <a:r>
              <a:t>Gespräche, testet Produktwissen,</a:t>
            </a:r>
            <a:br/>
            <a:r>
              <a:t>skaliert über 212 Banken.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603504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Cross-Selling-Intelligenz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6309359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Portfolio-Analyse gegen Produkt-</a:t>
            </a:r>
            <a:br/>
            <a:r>
              <a:t>angebot. Erkennt Lücken (Vorsorge,</a:t>
            </a:r>
            <a:br/>
            <a:r>
              <a:t>Anlagen) und schlägt dem RM die</a:t>
            </a:r>
            <a:br/>
            <a:r>
              <a:t>nächstbeste Aktion vor.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2011680"/>
            <a:ext cx="4297680" cy="548640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148840"/>
            <a:ext cx="3931920" cy="594360"/>
          </a:xfrm>
          <a:prstGeom prst="roundRect">
            <a:avLst>
              <a:gd name="adj" fmla="val 4000"/>
            </a:avLst>
          </a:prstGeom>
          <a:solidFill>
            <a:srgbClr val="2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0" y="2176272"/>
            <a:ext cx="3657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JetBrains Mono"/>
              </a:defRPr>
            </a:pPr>
            <a:r>
              <a:t>ZUKUNFT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23774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Was in 2–3 Jahren Standard sein wird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292608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Voice AI im Kundenkontakt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320040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Telefonische Erstberatung durch AI.</a:t>
            </a:r>
            <a:br/>
            <a:r>
              <a:t>DE/FR/IT, natürliche Stimme.</a:t>
            </a:r>
            <a:br/>
            <a:r>
              <a:t>Komplexes wird nahtlos an den</a:t>
            </a:r>
            <a:br/>
            <a:r>
              <a:t>menschlichen Berater übergeben.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448056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Autonome Kampagnen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475488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AI plant, erstellt und führt</a:t>
            </a:r>
            <a:br/>
            <a:r>
              <a:t>personalisierte Kampagnen durch —</a:t>
            </a:r>
            <a:br/>
            <a:r>
              <a:t>mit menschlicher Aufsicht.</a:t>
            </a:r>
            <a:br/>
            <a:r>
              <a:t>Von der Zielgruppe bis zur Ansprache.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603504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RM-Copilot im Gespräch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6309359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Echtzeit-Unterstützung während</a:t>
            </a:r>
            <a:br/>
            <a:r>
              <a:t>der Beratung: Produktvorschläge,</a:t>
            </a:r>
            <a:br/>
            <a:r>
              <a:t>regulatorische Hinweise,</a:t>
            </a:r>
            <a:br/>
            <a:r>
              <a:t>Next-Best-Action.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7543800"/>
            <a:ext cx="13167360" cy="182880"/>
          </a:xfrm>
          <a:prstGeom prst="roundRect">
            <a:avLst>
              <a:gd name="adj" fmla="val 4000"/>
            </a:avLst>
          </a:prstGeom>
          <a:solidFill>
            <a:srgbClr val="2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7543800"/>
            <a:ext cx="1280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Inter"/>
              </a:defRPr>
            </a:pPr>
            <a:r>
              <a:t>Salesteq positioniert sich in der «nächsten Welle» — mit Produktionserfahrung, die andere noch nicht haben.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JetBrains Mono"/>
              </a:defRPr>
            </a:pPr>
            <a:r>
              <a:t>SZENARIEN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1A1A2E"/>
                </a:solidFill>
                <a:latin typeface="Inter"/>
              </a:defRPr>
            </a:pPr>
            <a:r>
              <a:t>Mögliche Use Cases für den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280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6B7280"/>
                </a:solidFill>
                <a:latin typeface="Inter"/>
              </a:defRPr>
            </a:pPr>
            <a:r>
              <a:t>Diese Optionen basieren auf unserer Erfahrung. Welche relevant sind, entscheiden Sie.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6492240" cy="288036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" y="2103120"/>
            <a:ext cx="320040" cy="320040"/>
          </a:xfrm>
          <a:prstGeom prst="ellipse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1A1A2E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084832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Inter"/>
              </a:defRPr>
            </a:pPr>
            <a:r>
              <a:t>Training &amp; Onboarding neuer Berater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68880"/>
            <a:ext cx="5943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Das «Neustart»-Programm bildet Quereinsteiger in</a:t>
            </a:r>
            <a:br/>
            <a:r>
              <a:t>12–24 Monaten zum Kundenberater aus. AI kann</a:t>
            </a:r>
            <a:br/>
            <a:r>
              <a:t>diesen Prozess beschleunigen: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6324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AI-Sparringspartner für Produktwissen (Hypotheken,</a:t>
            </a:r>
            <a:br/>
            <a:r>
              <a:t>Vorsorge, Anlagen) — übt Beratungsgespräche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7472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Simulierte Kundensituationen mit Feedback —</a:t>
            </a:r>
            <a:br/>
            <a:r>
              <a:t>wie ein erfahrener Kollege, jederzeit verfügbar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88620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Neue RMs werden schneller produktiv,</a:t>
            </a:r>
            <a:br/>
            <a:r>
              <a:t>SAQ-Zertifizierung besser vorbereitet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4389120"/>
            <a:ext cx="6035040" cy="274320"/>
          </a:xfrm>
          <a:prstGeom prst="roundRect">
            <a:avLst>
              <a:gd name="adj" fmla="val 4000"/>
            </a:avLst>
          </a:prstGeom>
          <a:solidFill>
            <a:srgbClr val="2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8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Inter"/>
              </a:defRPr>
            </a:pPr>
            <a:r>
              <a:t>Wirkung: Einarbeitungszeit verkürzen, Qualität sichern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920240"/>
            <a:ext cx="6492240" cy="288036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2103120"/>
            <a:ext cx="320040" cy="320040"/>
          </a:xfrm>
          <a:prstGeom prst="ellipse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1A1A2E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84832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Inter"/>
              </a:defRPr>
            </a:pPr>
            <a:r>
              <a:t>Proaktive Kundenansprache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468880"/>
            <a:ext cx="5943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Bei Zinssenkungen, Lebensereignissen oder</a:t>
            </a:r>
            <a:br/>
            <a:r>
              <a:t>Marktveränderungen: AI identifiziert betroffene</a:t>
            </a:r>
            <a:br/>
            <a:r>
              <a:t>Kunden und bereitet die Ansprache vor.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06324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Personalisierte Nachrichten (DE/FR/IT)</a:t>
            </a:r>
            <a:br/>
            <a:r>
              <a:t>dem RM zur Freigabe vorgelegt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47472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Trigger-basiert: Zinsänderungen, Ablauf Festhypothek,</a:t>
            </a:r>
            <a:br/>
            <a:r>
              <a:t>Geburtstag, Pensionierung in 5 Jahren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88620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Systematische Betreuung statt Zufall —</a:t>
            </a:r>
            <a:br/>
            <a:r>
              <a:t>auch für das lange Ende des Kundenstamms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20" y="4389120"/>
            <a:ext cx="6035040" cy="274320"/>
          </a:xfrm>
          <a:prstGeom prst="roundRect">
            <a:avLst>
              <a:gd name="adj" fmla="val 4000"/>
            </a:avLst>
          </a:prstGeom>
          <a:solidFill>
            <a:srgbClr val="2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4407408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Inter"/>
              </a:defRPr>
            </a:pPr>
            <a:r>
              <a:t>Wirkung: Cross-Selling-Potenzial systematisch nutzen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983480"/>
            <a:ext cx="6492240" cy="288036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0120" y="5166360"/>
            <a:ext cx="320040" cy="320040"/>
          </a:xfrm>
          <a:prstGeom prst="ellipse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1A1A2E"/>
                </a:solidFill>
                <a:latin typeface="Inter"/>
              </a:defRPr>
            </a:pPr>
            <a: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148072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Inter"/>
              </a:defRPr>
            </a:pPr>
            <a:r>
              <a:t>Produktwissen &amp; Beratungsqualität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532120"/>
            <a:ext cx="5943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212 Banken, tausende Berater, laufend neue Produkte</a:t>
            </a:r>
            <a:br/>
            <a:r>
              <a:t>und regulatorische Änderungen. Wissen konsistent</a:t>
            </a:r>
            <a:br/>
            <a:r>
              <a:t>zu halten ist eine Herausforderung.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612648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AI-Assistent beantwortet Produktfragen in Echtzeit —</a:t>
            </a:r>
            <a:br/>
            <a:r>
              <a:t>Hypothekenmodelle, Vorsorge 3a/3b, Anlagestrategien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653796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Immer aktuell: neue Konditionen, regulatorische</a:t>
            </a:r>
            <a:br/>
            <a:r>
              <a:t>Änderungen (nDSG, FINMA) automatisch integriert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694944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Funktioniert wie ein internes Nachschlagewerk,</a:t>
            </a:r>
            <a:br/>
            <a:r>
              <a:t>aber in natürlicher Sprache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0120" y="7452360"/>
            <a:ext cx="6035040" cy="274320"/>
          </a:xfrm>
          <a:prstGeom prst="roundRect">
            <a:avLst>
              <a:gd name="adj" fmla="val 4000"/>
            </a:avLst>
          </a:prstGeom>
          <a:solidFill>
            <a:srgbClr val="2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7470648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Inter"/>
              </a:defRPr>
            </a:pPr>
            <a:r>
              <a:t>Wirkung: Beratungsqualität über alle 212 Banken sichern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0" y="4983480"/>
            <a:ext cx="6492240" cy="288036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818120" y="5166360"/>
            <a:ext cx="320040" cy="320040"/>
          </a:xfrm>
          <a:prstGeom prst="ellipse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1A1A2E"/>
                </a:solidFill>
                <a:latin typeface="Inter"/>
              </a:defRPr>
            </a:pPr>
            <a:r>
              <a:t>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5148072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Inter"/>
              </a:defRPr>
            </a:pPr>
            <a:r>
              <a:t>Erster Kundenkontakt (Website &amp; Telefon)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5532120"/>
            <a:ext cx="5943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Routineanfragen binden Beraterkapazität.</a:t>
            </a:r>
            <a:br/>
            <a:r>
              <a:t>AI kann den ersten Kontakt übernehmen</a:t>
            </a:r>
            <a:br/>
            <a:r>
              <a:t>und qualifiziert weiterleiten.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612648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Konto, Karten, Zinsen, Öffnungszeiten —</a:t>
            </a:r>
            <a:br/>
            <a:r>
              <a:t>automatisch beantwortet, in drei Sprachen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653796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Komplexe Anliegen (Hypothek, Vorsorge)</a:t>
            </a:r>
            <a:br/>
            <a:r>
              <a:t>werden erkannt und an den RM weitergeleitet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694944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Eigene Sprach-Engine: auch per Telefon,</a:t>
            </a:r>
            <a:br/>
            <a:r>
              <a:t>nicht nur Chat — DE/FR/IT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18120" y="7452360"/>
            <a:ext cx="6035040" cy="274320"/>
          </a:xfrm>
          <a:prstGeom prst="roundRect">
            <a:avLst>
              <a:gd name="adj" fmla="val 4000"/>
            </a:avLst>
          </a:prstGeom>
          <a:solidFill>
            <a:srgbClr val="2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7470648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Inter"/>
              </a:defRPr>
            </a:pPr>
            <a:r>
              <a:t>Wirkung: RM-Kapazität für echte Beratung freisetzen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B728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6B7280"/>
                </a:solidFill>
                <a:latin typeface="JetBrains Mono"/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JetBrains Mono"/>
              </a:defRPr>
            </a:pPr>
            <a:r>
              <a:t>FOKUS: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FFFFFF"/>
                </a:solidFill>
                <a:latin typeface="Inter"/>
              </a:defRPr>
            </a:pPr>
            <a:r>
              <a:t>AI als Sparringspartner für Kundenberater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CA3AF"/>
                </a:solidFill>
                <a:latin typeface="Inter"/>
              </a:defRPr>
            </a:pPr>
            <a:r>
              <a:t>Ob neue Berater im «Neustart»-Programm oder erfahrene RMs bei neuen Produkten — die Herausforderung ist dieselbe.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6400800" cy="530352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6B7280"/>
                </a:solidFill>
                <a:latin typeface="JetBrains Mono"/>
              </a:defRPr>
            </a:pPr>
            <a:r>
              <a:t>DIE HERAUSFORDERUNG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8A838"/>
                </a:solidFill>
                <a:latin typeface="Inter"/>
              </a:defRPr>
            </a:pPr>
            <a:r>
              <a:t>12–24 Monate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7180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Einarbeitungszeit für neue Kundenberater</a:t>
            </a:r>
            <a:br/>
            <a:r>
              <a:t>im «Neustart»-Quereinsteigerprogramm.</a:t>
            </a:r>
            <a:br/>
            <a:r>
              <a:t>Das sind 12–24 Monate, in denen ein RM</a:t>
            </a:r>
            <a:br/>
            <a:r>
              <a:t>noch nicht voll produktiv berät.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8A838"/>
                </a:solidFill>
                <a:latin typeface="Inter"/>
              </a:defRPr>
            </a:pPr>
            <a:r>
              <a:t>Produktkomplexität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7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Hypotheken (SARON, Festhypothek, Libor-Ablösung),</a:t>
            </a:r>
            <a:br/>
            <a:r>
              <a:t>Vorsorge (3a, 3b, Pensionskasse, Freizügigkeit),</a:t>
            </a:r>
            <a:br/>
            <a:r>
              <a:t>Anlagen (Fonds, ETF, Vermögensverwaltung) —</a:t>
            </a:r>
            <a:br/>
            <a:r>
              <a:t>alles muss sitzen, auch regulatorisch.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7607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8A838"/>
                </a:solidFill>
                <a:latin typeface="Inter"/>
              </a:defRPr>
            </a:pPr>
            <a:r>
              <a:t>212 Banken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608075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Jede Genossenschaftsbank bildet selbst aus.</a:t>
            </a:r>
            <a:br/>
            <a:r>
              <a:t>Wissensstand und Beratungsqualität variieren.</a:t>
            </a:r>
            <a:br/>
            <a:r>
              <a:t>Zentrales Training erreicht nicht jeden.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2103120"/>
            <a:ext cx="6400800" cy="530352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6517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Inter"/>
              </a:defRPr>
            </a:pPr>
            <a:r>
              <a:t>Übungsgespräche mit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97180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Neue RMs üben Beratungsgespräche mit einem</a:t>
            </a:r>
            <a:br/>
            <a:r>
              <a:t>AI-Kunden: Hypothekenberatung, Vorsorgeplanung,</a:t>
            </a:r>
            <a:br/>
            <a:r>
              <a:t>Reklamation. Die AI gibt strukturiertes Feedback</a:t>
            </a:r>
            <a:br/>
            <a:r>
              <a:t>nach jedem Gespräch — Stärken und Lücken.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206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Inter"/>
              </a:defRPr>
            </a:pPr>
            <a:r>
              <a:t>Produktwissen on-demand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52627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«Was ist der Unterschied zwischen SARON und</a:t>
            </a:r>
            <a:br/>
            <a:r>
              <a:t>Festhypothek bei aktueller Zinslage?» — AI beantwortet</a:t>
            </a:r>
            <a:br/>
            <a:r>
              <a:t>Produktfragen sofort, mit aktuellen Konditionen.</a:t>
            </a:r>
            <a:br/>
            <a:r>
              <a:t>Wie ein erfahrener Kollege, der immer Zeit hat.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57607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Inter"/>
              </a:defRPr>
            </a:pPr>
            <a:r>
              <a:t>Konsistenz über alle Banken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608075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Dieselbe Wissensquelle für alle 212 Banken.</a:t>
            </a:r>
            <a:br/>
            <a:r>
              <a:t>Neue Produkte, Konditionsänderungen, regulatorische</a:t>
            </a:r>
            <a:br/>
            <a:r>
              <a:t>Updates — einmal gepflegt, überall verfügbar.</a:t>
            </a:r>
            <a:br/>
            <a:r>
              <a:t>Skaliert, ohne zusätzliche Trainer.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7498079"/>
            <a:ext cx="13167360" cy="228600"/>
          </a:xfrm>
          <a:prstGeom prst="roundRect">
            <a:avLst>
              <a:gd name="adj" fmla="val 4000"/>
            </a:avLst>
          </a:prstGeom>
          <a:solidFill>
            <a:srgbClr val="2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7498079"/>
            <a:ext cx="1280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Inter"/>
              </a:defRPr>
            </a:pPr>
            <a:r>
              <a:t>Ein neuer RM, der nach 6 statt 18 Monaten produktiv berät, spart einer Filiale ein halbes Jahr Opportunitätskosten.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JetBrains Mono"/>
              </a:defRPr>
            </a:pPr>
            <a:r>
              <a:t>VORGEHEN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1A1A2E"/>
                </a:solidFill>
                <a:latin typeface="Inter"/>
              </a:defRPr>
            </a:pPr>
            <a:r>
              <a:t>Klein anfangen. Gemeinsam lernen.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6B7280"/>
                </a:solidFill>
                <a:latin typeface="Inter"/>
              </a:defRPr>
            </a:pPr>
            <a:r>
              <a:t>Kein grosses Projekt. Kein aufwändiger Beschaffungsprozess. Ein kleines, begrenztes Experiment mit klaren Zielen.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6400800" cy="2103120"/>
          </a:xfrm>
          <a:prstGeom prst="roundRect">
            <a:avLst>
              <a:gd name="adj" fmla="val 4000"/>
            </a:avLst>
          </a:prstGeom>
          <a:solidFill>
            <a:srgbClr val="F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22C55E"/>
                </a:solidFill>
                <a:latin typeface="JetBrains Mono"/>
              </a:defRPr>
            </a:pPr>
            <a:r>
              <a:t>✓  WAS WIR BRAUCHEN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60604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Einen Ansprechpartner im Vertrieb (kein IT-Team nötig)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9718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Zugang zu einem typischen Berateralltag (1 Tag, 1 Filiale)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3756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Bereitschaft, ein kleines Experiment zu starten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103120"/>
            <a:ext cx="6400800" cy="2103120"/>
          </a:xfrm>
          <a:prstGeom prst="roundRect">
            <a:avLst>
              <a:gd name="adj" fmla="val 4000"/>
            </a:avLst>
          </a:prstGeom>
          <a:solidFill>
            <a:srgbClr val="F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F4444"/>
                </a:solidFill>
                <a:latin typeface="JetBrains Mono"/>
              </a:defRPr>
            </a:pPr>
            <a:r>
              <a:t>✗  WAS WIR NICHT BRAUCHEN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60604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Kein grosses 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9718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Kein grosses IT-Involvement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33756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Keine langfristigen Commitments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70332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Keinen Zugang zu Kernbanksystemen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572000"/>
            <a:ext cx="4297680" cy="320040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70916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600" b="0">
                <a:solidFill>
                  <a:srgbClr val="E8A838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303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Big Picture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760720"/>
            <a:ext cx="3657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Gemeinsam erarbeiten:</a:t>
            </a:r>
            <a:br/>
            <a:r>
              <a:t>«Zukunft des Vertriebs mit AI.»</a:t>
            </a:r>
            <a:br/>
            <a:r>
              <a:t>Wo liegt das grösste Potenzial?</a:t>
            </a:r>
            <a:br/>
            <a:r>
              <a:t>Welcher Use Case zuerst?</a:t>
            </a:r>
            <a:br/>
            <a:r>
              <a:t>Ein halber Tag Workshop.</a:t>
            </a:r>
            <a:br/>
            <a:r>
              <a:t>Ergebnis: priorisierte Szenarien.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7178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E8A838"/>
                </a:solidFill>
                <a:latin typeface="JetBrains Mono"/>
              </a:defRPr>
            </a:pPr>
            <a:r>
              <a:t>Woche 1–2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4572000"/>
            <a:ext cx="4297680" cy="320040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0" y="470916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600" b="0">
                <a:solidFill>
                  <a:srgbClr val="E8A838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5303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Konkreter Use 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5760720"/>
            <a:ext cx="3657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Ausarbeitung eines Szenarios</a:t>
            </a:r>
            <a:br/>
            <a:r>
              <a:t>für eine Raiffeisenbank.</a:t>
            </a:r>
            <a:br/>
            <a:r>
              <a:t>Z.B. Training-Sparringspartner</a:t>
            </a:r>
            <a:br/>
            <a:r>
              <a:t>oder proaktive Kundenansprache.</a:t>
            </a:r>
            <a:br/>
            <a:r>
              <a:t>Funktionierender Prototyp,</a:t>
            </a:r>
            <a:br/>
            <a:r>
              <a:t>keine Slides.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7178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E8A838"/>
                </a:solidFill>
                <a:latin typeface="JetBrains Mono"/>
              </a:defRPr>
            </a:pPr>
            <a:r>
              <a:t>Woche 3–8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75520" y="4572000"/>
            <a:ext cx="4297680" cy="320040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40" y="470916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600" b="0">
                <a:solidFill>
                  <a:srgbClr val="E8A838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5303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Entscheiden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5760720"/>
            <a:ext cx="3657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Ergebnisse gemeinsam bewerten.</a:t>
            </a:r>
            <a:br/>
            <a:r>
              <a:t>Feedback der Berater einholen.</a:t>
            </a:r>
            <a:br/>
            <a:r>
              <a:t>Wenn es funktioniert: skalieren.</a:t>
            </a:r>
            <a:br/>
            <a:r>
              <a:t>Wenn nicht: kein Schaden,</a:t>
            </a:r>
            <a:br/>
            <a:r>
              <a:t>viel gelernt.</a:t>
            </a:r>
            <a:br/>
            <a:r>
              <a:t>Die Resultate sprechen für sich.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7178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E8A838"/>
                </a:solidFill>
                <a:latin typeface="JetBrains Mono"/>
              </a:defRPr>
            </a:pPr>
            <a:r>
              <a:t>Woche 9–12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B728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6B7280"/>
                </a:solidFill>
                <a:latin typeface="JetBrains Mono"/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JetBrains Mono"/>
              </a:defRPr>
            </a:pPr>
            <a:r>
              <a:t>ZUSAMMENARBEIT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1A1A2E"/>
                </a:solidFill>
                <a:latin typeface="Inter"/>
              </a:defRPr>
            </a:pPr>
            <a:r>
              <a:t>Warum Salesteq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3167360" cy="1828800"/>
          </a:xfrm>
          <a:prstGeom prst="roundRect">
            <a:avLst>
              <a:gd name="adj" fmla="val 4000"/>
            </a:avLst>
          </a:prstGeom>
          <a:solidFill>
            <a:srgbClr val="F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2E"/>
                </a:solidFill>
                <a:latin typeface="Inter"/>
              </a:defRPr>
            </a:pPr>
            <a:r>
              <a:t>Austausch vom März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12618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spcAft>
                <a:spcPts val="300"/>
              </a:spcAft>
              <a:defRPr sz="1200" b="0">
                <a:solidFill>
                  <a:srgbClr val="6B7280"/>
                </a:solidFill>
                <a:latin typeface="Inter"/>
              </a:defRPr>
            </a:pPr>
            <a:r>
              <a:t>Im Gespräch mit Ivo Schneider und Lukas Seger haben wir vereinbart, ein einfaches Szenario</a:t>
            </a:r>
          </a:p>
          <a:p>
            <a:pPr algn="l">
              <a:lnSpc>
                <a:spcPts val="1380"/>
              </a:lnSpc>
              <a:spcAft>
                <a:spcPts val="300"/>
              </a:spcAft>
              <a:defRPr sz="1200" b="0">
                <a:solidFill>
                  <a:srgbClr val="6B7280"/>
                </a:solidFill>
                <a:latin typeface="Inter"/>
              </a:defRPr>
            </a:pPr>
            <a:r>
              <a:t>vorzubereiten — basierend auf unserem Ansatz bei Allianz Suisse.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280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2E"/>
                </a:solidFill>
                <a:latin typeface="Inter"/>
              </a:defRPr>
            </a:pPr>
            <a:r>
              <a:t>Vorgehen in 3 Schritten: Salesteq macht einen Vorschlag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1261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Schritt 1: Big Picture aufzeigen — «Zukunft des Vertriebs mit AI bei Raiffeisen»</a:t>
            </a:r>
          </a:p>
          <a:p>
            <a:pPr algn="l">
              <a:lnSpc>
                <a:spcPts val="1264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Schritt 2: Ausarbeitung eines konkreten Use Case (z.B. RM-Training, proaktive Ansprache)</a:t>
            </a:r>
          </a:p>
          <a:p>
            <a:pPr algn="l">
              <a:lnSpc>
                <a:spcPts val="1264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Schritt 3: Optional — Proof-of-Concept mit einer Raiffeisenbank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657600"/>
            <a:ext cx="6400800" cy="2926080"/>
          </a:xfrm>
          <a:prstGeom prst="roundRect">
            <a:avLst>
              <a:gd name="adj" fmla="val 4000"/>
            </a:avLst>
          </a:prstGeom>
          <a:solidFill>
            <a:srgbClr val="F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9476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A1A2E"/>
                </a:solidFill>
                <a:latin typeface="Inter"/>
              </a:defRPr>
            </a:pPr>
            <a:r>
              <a:t>Was Salesteq mitbringt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16052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✓  Produktionserfahrung: Naghi/BMW (15'000+ MA, Voice AI)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57200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✓  Pilot mit Allianz Suisse (Analytics &amp; Kundenforschung)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8348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✓  Eigene Sprach-Engine — kein API-Wrapper, eigene Modelle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39496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✓  Mandantenfähig: 212 Banken = 212 isolierte Mandanten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806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✓  Schweizer Unternehmen (Zug), direkter Zugang zu Gründern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3657600"/>
            <a:ext cx="6400800" cy="2926080"/>
          </a:xfrm>
          <a:prstGeom prst="roundRect">
            <a:avLst>
              <a:gd name="adj" fmla="val 4000"/>
            </a:avLst>
          </a:prstGeom>
          <a:solidFill>
            <a:srgbClr val="F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379476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A1A2E"/>
                </a:solidFill>
                <a:latin typeface="Inter"/>
              </a:defRPr>
            </a:pPr>
            <a:r>
              <a:t>Was Salesteq nicht 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416052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✗  Kein CRM-Ersatz (BSI, Salesforce bleiben bestehen)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57200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✗  Kein Copilot-Konkurrent (ergänzt, ersetzt nicht)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8348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✗  Kein fertiges Bankenprodukt (wir bauen gemeinsam)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39496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✗  Keine Blackbox — volle Nachvollziehbarkeit aller AI-Aktionen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6858000"/>
            <a:ext cx="13167360" cy="91440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6949440"/>
            <a:ext cx="1188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8A838"/>
                </a:solidFill>
                <a:latin typeface="Inter"/>
              </a:defRPr>
            </a:pPr>
            <a:r>
              <a:t>Kein Druck, keine Eile.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7269480"/>
            <a:ext cx="1188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9CA3AF"/>
                </a:solidFill>
                <a:latin typeface="Inter"/>
              </a:defRPr>
            </a:pPr>
            <a:r>
              <a:t>Wenn das Szenario Sinn macht, finden wir den richtigen Anfang. Wenn nicht, war es ein gutes Gespräch.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694944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Viktor Andreas</a:t>
            </a:r>
            <a:br/>
            <a:r>
              <a:t>viktor@salesteq.com</a:t>
            </a:r>
            <a:br/>
            <a:r>
              <a:t>salesteq.com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B728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6B7280"/>
                </a:solidFill>
                <a:latin typeface="JetBrains Mono"/>
              </a:defRPr>
            </a:pPr>
            <a: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