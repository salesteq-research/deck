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Salesteq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2286000" cy="508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1887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6200" b="1">
                <a:solidFill>
                  <a:srgbClr val="FFFFFF"/>
                </a:solidFill>
                <a:latin typeface="Arial Black"/>
              </a:defRPr>
            </a:pPr>
            <a:r>
              <a:t>AI AGENTS THAT RUN YOUR</a:t>
            </a:r>
            <a:br/>
            <a:r>
              <a:t>REVENUE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89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0">
                <a:solidFill>
                  <a:srgbClr val="999999"/>
                </a:solidFill>
                <a:latin typeface="Arial"/>
              </a:defRPr>
            </a:pPr>
            <a:r>
              <a:t>We replace human-operated sales, marketing, and customer</a:t>
            </a:r>
            <a:br/>
            <a:r>
              <a:t>service with autonomous AI workers.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217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E86C00"/>
                </a:solidFill>
                <a:latin typeface="Arial"/>
              </a:defRPr>
            </a:pPr>
            <a:r>
              <a:t>$3.5M Seed 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7665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999999"/>
                </a:solidFill>
                <a:latin typeface="Arial"/>
              </a:defRPr>
            </a:pPr>
            <a:r>
              <a:t>agent.salesteq.com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E86C00"/>
                </a:solidFill>
                <a:latin typeface="Arial Black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51560"/>
            <a:ext cx="1828800" cy="381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1887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5400" b="1">
                <a:solidFill>
                  <a:srgbClr val="FFFFFF"/>
                </a:solidFill>
                <a:latin typeface="Arial Black"/>
              </a:defRPr>
            </a:pPr>
            <a:r>
              <a:t>SCALING REVENUE STILL</a:t>
            </a:r>
            <a:br/>
            <a:r>
              <a:t>MEANS SCALING HEADCOUNT.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11887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/>
              <a:t>  </a:t>
            </a:r>
            <a:r>
              <a:rPr sz="1500">
                <a:solidFill>
                  <a:srgbClr val="E86C00"/>
                </a:solidFill>
              </a:rPr>
              <a:t>■  </a:t>
            </a:r>
            <a:r>
              <a:rPr b="1" sz="2200">
                <a:solidFill>
                  <a:srgbClr val="FFFFFF"/>
                </a:solidFill>
                <a:latin typeface="Arial"/>
              </a:rPr>
              <a:t>70% of commercial teams' time</a:t>
            </a:r>
            <a:r>
              <a:rPr sz="2200">
                <a:solidFill>
                  <a:srgbClr val="FFFFFF"/>
                </a:solidFill>
                <a:latin typeface="Arial"/>
              </a:rPr>
              <a:t> is consumed by admin, follow-ups, and coordination — not selling</a:t>
            </a:r>
          </a:p>
          <a:p>
            <a:pPr>
              <a:spcAft>
                <a:spcPts val="1600"/>
              </a:spcAft>
            </a:pPr>
            <a:r>
              <a:rPr sz="2200"/>
              <a:t>  </a:t>
            </a:r>
            <a:r>
              <a:rPr sz="1500">
                <a:solidFill>
                  <a:srgbClr val="E86C00"/>
                </a:solidFill>
              </a:rPr>
              <a:t>■  </a:t>
            </a:r>
            <a:r>
              <a:rPr b="1" sz="2200">
                <a:solidFill>
                  <a:srgbClr val="FFFFFF"/>
                </a:solidFill>
                <a:latin typeface="Arial"/>
              </a:rPr>
              <a:t>Revenue growth = headcount growth = cost growth.</a:t>
            </a:r>
            <a:r>
              <a:rPr sz="2200">
                <a:solidFill>
                  <a:srgbClr val="FFFFFF"/>
                </a:solidFill>
                <a:latin typeface="Arial"/>
              </a:rPr>
              <a:t> The model hasn't changed in 30 years</a:t>
            </a:r>
          </a:p>
          <a:p>
            <a:pPr>
              <a:spcAft>
                <a:spcPts val="1600"/>
              </a:spcAft>
            </a:pPr>
            <a:r>
              <a:rPr sz="2200"/>
              <a:t>  </a:t>
            </a:r>
            <a:r>
              <a:rPr sz="1500">
                <a:solidFill>
                  <a:srgbClr val="E86C00"/>
                </a:solidFill>
              </a:rPr>
              <a:t>■  </a:t>
            </a:r>
            <a:r>
              <a:rPr b="1" sz="2200">
                <a:solidFill>
                  <a:srgbClr val="FFFFFF"/>
                </a:solidFill>
                <a:latin typeface="Arial"/>
              </a:rPr>
              <a:t>CRMs and sales tools optimize humans.</a:t>
            </a:r>
            <a:r>
              <a:rPr sz="2200">
                <a:solidFill>
                  <a:srgbClr val="FFFFFF"/>
                </a:solidFill>
                <a:latin typeface="Arial"/>
              </a:rPr>
              <a:t> They don't replace the work</a:t>
            </a:r>
          </a:p>
          <a:p>
            <a:pPr>
              <a:spcAft>
                <a:spcPts val="1600"/>
              </a:spcAft>
            </a:pPr>
            <a:r>
              <a:rPr sz="2200"/>
              <a:t>  </a:t>
            </a:r>
            <a:r>
              <a:rPr sz="1500">
                <a:solidFill>
                  <a:srgbClr val="E86C00"/>
                </a:solidFill>
              </a:rPr>
              <a:t>■  </a:t>
            </a:r>
            <a:r>
              <a:rPr b="1" sz="2200">
                <a:solidFill>
                  <a:srgbClr val="FFFFFF"/>
                </a:solidFill>
                <a:latin typeface="Arial"/>
              </a:rPr>
              <a:t>Churn, missed deals, and inconsistent service</a:t>
            </a:r>
            <a:r>
              <a:rPr sz="2200">
                <a:solidFill>
                  <a:srgbClr val="FFFFFF"/>
                </a:solidFill>
                <a:latin typeface="Arial"/>
              </a:rPr>
              <a:t> are structural — not fixable by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85800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E86C00"/>
                </a:solidFill>
                <a:latin typeface="Arial"/>
              </a:defRPr>
            </a:pPr>
            <a:r>
              <a:t>Software made humans more efficient. AI agents make humans optional.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E86C00"/>
                </a:solidFill>
                <a:latin typeface="Arial Black"/>
              </a:defRPr>
            </a:pPr>
            <a:r>
              <a:t>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51560"/>
            <a:ext cx="1828800" cy="381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1887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5400" b="1">
                <a:solidFill>
                  <a:srgbClr val="FFFFFF"/>
                </a:solidFill>
                <a:latin typeface="Arial Black"/>
              </a:defRPr>
            </a:pPr>
            <a:r>
              <a:t>THIS IS ALREADY WORKING.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926080"/>
            <a:ext cx="4114800" cy="2286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108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5600" b="1">
                <a:solidFill>
                  <a:srgbClr val="E86C00"/>
                </a:solidFill>
                <a:latin typeface="Arial Black"/>
              </a:defRPr>
            </a:pPr>
            <a:r>
              <a:t>$350K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REVENUE IN 4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999999"/>
                </a:solidFill>
                <a:latin typeface="Arial"/>
              </a:defRPr>
            </a:pPr>
            <a:r>
              <a:t>Live enterprise contracts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2926080"/>
            <a:ext cx="3657600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E86C00"/>
                </a:solidFill>
                <a:latin typeface="Arial Black"/>
              </a:defRPr>
            </a:pPr>
            <a:r>
              <a:t>300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520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Daily autonomous interactions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4080" y="2926080"/>
            <a:ext cx="3657600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E86C00"/>
                </a:solidFill>
                <a:latin typeface="Arial Black"/>
              </a:defRPr>
            </a:pPr>
            <a:r>
              <a:t>4,000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3520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Voice calls / month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4114800"/>
            <a:ext cx="3657600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4206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E86C00"/>
                </a:solidFill>
                <a:latin typeface="Arial Black"/>
              </a:defRPr>
            </a:pPr>
            <a:r>
              <a:t>1M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709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Monthly website visits served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84080" y="4114800"/>
            <a:ext cx="3657600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4206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E86C00"/>
                </a:solidFill>
                <a:latin typeface="Arial Black"/>
              </a:defRPr>
            </a:pPr>
            <a: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4709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Human handoffs required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669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999999"/>
                </a:solidFill>
                <a:latin typeface="Arial"/>
              </a:defRPr>
            </a:pPr>
            <a:r>
              <a:t>LIVE CUSTOMERS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6080760"/>
            <a:ext cx="12344400" cy="127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630936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Naghi Group (BMW, Rolls Royce, Land Rover, Hyundai, Jaguar)   |   DAR Global   |   Allianz   |   Suhner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704088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E86C00"/>
                </a:solidFill>
                <a:latin typeface="Arial"/>
              </a:defRPr>
            </a:pPr>
            <a:r>
              <a:t>NVIDIA Inception Program Member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E86C00"/>
                </a:solidFill>
                <a:latin typeface="Arial Black"/>
              </a:defRPr>
            </a:pPr>
            <a:r>
              <a:t>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51560"/>
            <a:ext cx="1828800" cy="381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1887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5000" b="1">
                <a:solidFill>
                  <a:srgbClr val="FFFFFF"/>
                </a:solidFill>
                <a:latin typeface="Arial Black"/>
              </a:defRPr>
            </a:pPr>
            <a:r>
              <a:t>ONE PLATFORM. FULL</a:t>
            </a:r>
            <a:br/>
            <a:r>
              <a:t>AUTONOMOUS OPERATIONS.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474720"/>
            <a:ext cx="3657600" cy="3657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E86C00"/>
                </a:solidFill>
                <a:latin typeface="Arial Black"/>
              </a:defRPr>
            </a:pPr>
            <a:r>
              <a:t>SALES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069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999999"/>
                </a:solidFill>
                <a:latin typeface="Arial"/>
              </a:defRPr>
            </a:pPr>
            <a:r>
              <a:t>Prospect to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4480560"/>
            <a:ext cx="3108960" cy="254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663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■  Lead generation &amp; prioritization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16635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■  Personalized outreach at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66927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■  Pipeline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6172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■  Follow-up automation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3474720"/>
            <a:ext cx="3657600" cy="3657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3657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E86C00"/>
                </a:solidFill>
                <a:latin typeface="Arial Black"/>
              </a:defRPr>
            </a:pPr>
            <a:r>
              <a:t>MARKETING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4069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999999"/>
                </a:solidFill>
                <a:latin typeface="Arial"/>
              </a:defRPr>
            </a:pPr>
            <a:r>
              <a:t>Attract to engage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4480560"/>
            <a:ext cx="3108960" cy="254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4663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■  Content 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516635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■  Campaign execution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566927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■  Market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6172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■  Performance optimization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3474720"/>
            <a:ext cx="3657600" cy="3657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3657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E86C00"/>
                </a:solidFill>
                <a:latin typeface="Arial Black"/>
              </a:defRPr>
            </a:pPr>
            <a:r>
              <a:t>SERVICE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4069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999999"/>
                </a:solidFill>
                <a:latin typeface="Arial"/>
              </a:defRPr>
            </a:pPr>
            <a:r>
              <a:t>Inquiry to resolution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4480560"/>
            <a:ext cx="3108960" cy="254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4663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■  Chat &amp; voice interactions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516635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■  Arabic + local dialects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566927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■  Appointment booking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6172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■  Inventory-aware responses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740664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999999"/>
                </a:solidFill>
                <a:latin typeface="Arial"/>
              </a:defRPr>
            </a:pPr>
            <a:r>
              <a:t>55 integrated tools  ·  2M company database  ·  Real-time intelligence  ·  Human-in-the-loop when needed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E86C00"/>
                </a:solidFill>
                <a:latin typeface="Arial Black"/>
              </a:defRPr>
            </a:pPr>
            <a:r>
              <a:t>CASE STUDY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51560"/>
            <a:ext cx="1828800" cy="381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200" b="1">
                <a:solidFill>
                  <a:srgbClr val="000000"/>
                </a:solidFill>
                <a:latin typeface="Arial Black"/>
              </a:defRPr>
            </a:pPr>
            <a:r>
              <a:t>NAGHI GROUP: AI RUNNING CUSTOMER</a:t>
            </a:r>
            <a:br/>
            <a:r>
              <a:t>OPERATIONS AT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A1A1A"/>
                </a:solidFill>
                <a:latin typeface="Arial"/>
              </a:defRPr>
            </a:pPr>
            <a:r>
              <a:t>Mohamed Yousuf Naghi &amp; Brothers Group</a:t>
            </a:r>
            <a:br/>
            <a:r>
              <a:t>Century-old Saudi conglomerate  ·  15,000+ employees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E86C00"/>
                </a:solidFill>
                <a:latin typeface="Arial"/>
              </a:defRPr>
            </a:pPr>
            <a:r>
              <a:t>WHAT WE DEPLOYED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434840"/>
            <a:ext cx="5486400" cy="254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/>
              <a:t>  </a:t>
            </a:r>
            <a:r>
              <a:rPr sz="1100">
                <a:solidFill>
                  <a:srgbClr val="E86C00"/>
                </a:solidFill>
              </a:rPr>
              <a:t>■  </a:t>
            </a:r>
            <a:r>
              <a:rPr sz="1600" b="0">
                <a:solidFill>
                  <a:srgbClr val="000000"/>
                </a:solidFill>
                <a:latin typeface="Arial"/>
              </a:rPr>
              <a:t>AI agents handling all customer service inquiries</a:t>
            </a:r>
          </a:p>
          <a:p>
            <a:pPr>
              <a:spcAft>
                <a:spcPts val="1000"/>
              </a:spcAft>
            </a:pPr>
            <a:r>
              <a:rPr sz="1600"/>
              <a:t>  </a:t>
            </a:r>
            <a:r>
              <a:rPr sz="1100">
                <a:solidFill>
                  <a:srgbClr val="E86C00"/>
                </a:solidFill>
              </a:rPr>
              <a:t>■  </a:t>
            </a:r>
            <a:r>
              <a:rPr sz="1600" b="0">
                <a:solidFill>
                  <a:srgbClr val="000000"/>
                </a:solidFill>
                <a:latin typeface="Arial"/>
              </a:rPr>
              <a:t>Voice AI with Arabic dialects (ASR + TTS)</a:t>
            </a:r>
          </a:p>
          <a:p>
            <a:pPr>
              <a:spcAft>
                <a:spcPts val="1000"/>
              </a:spcAft>
            </a:pPr>
            <a:r>
              <a:rPr sz="1600"/>
              <a:t>  </a:t>
            </a:r>
            <a:r>
              <a:rPr sz="1100">
                <a:solidFill>
                  <a:srgbClr val="E86C00"/>
                </a:solidFill>
              </a:rPr>
              <a:t>■  </a:t>
            </a:r>
            <a:r>
              <a:rPr sz="1600" b="0">
                <a:solidFill>
                  <a:srgbClr val="000000"/>
                </a:solidFill>
                <a:latin typeface="Arial"/>
              </a:rPr>
              <a:t>Real-time inventory integration across brands</a:t>
            </a:r>
          </a:p>
          <a:p>
            <a:pPr>
              <a:spcAft>
                <a:spcPts val="1000"/>
              </a:spcAft>
            </a:pPr>
            <a:r>
              <a:rPr sz="1600"/>
              <a:t>  </a:t>
            </a:r>
            <a:r>
              <a:rPr sz="1100">
                <a:solidFill>
                  <a:srgbClr val="E86C00"/>
                </a:solidFill>
              </a:rPr>
              <a:t>■  </a:t>
            </a:r>
            <a:r>
              <a:rPr sz="1600" b="0">
                <a:solidFill>
                  <a:srgbClr val="000000"/>
                </a:solidFill>
                <a:latin typeface="Arial"/>
              </a:rPr>
              <a:t>Appointment booking, test drives, financing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023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E86C00"/>
                </a:solidFill>
                <a:latin typeface="Arial"/>
              </a:defRPr>
            </a:pPr>
            <a:r>
              <a:t>RESULTS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4434840"/>
            <a:ext cx="5486400" cy="254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4663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E86C00"/>
                </a:solidFill>
                <a:latin typeface="Arial Black"/>
              </a:defRPr>
            </a:pPr>
            <a:r>
              <a:t>300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470915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daily autonomous interactions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544067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E86C00"/>
                </a:solidFill>
                <a:latin typeface="Arial Black"/>
              </a:defRPr>
            </a:pPr>
            <a:r>
              <a:t>4,000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548639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voice calls / month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217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E86C00"/>
                </a:solidFill>
                <a:latin typeface="Arial Black"/>
              </a:defRPr>
            </a:pPr>
            <a:r>
              <a:t>1M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2636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monthly website visits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99515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E86C00"/>
                </a:solidFill>
                <a:latin typeface="Arial Black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704087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brands served (BMW, Rolls Royce, Jaguar,</a:t>
            </a:r>
            <a:br/>
            <a:r>
              <a:t>Land Rover, Hyundai, more)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731520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E86C00"/>
                </a:solidFill>
                <a:latin typeface="Arial"/>
              </a:defRPr>
            </a:pPr>
            <a:r>
              <a:t>Zero human handoff. Fully autonomous. Running 24/7 in production since 2025.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E86C00"/>
                </a:solidFill>
                <a:latin typeface="Arial Black"/>
              </a:defRPr>
            </a:pPr>
            <a:r>
              <a:t>WHY 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51560"/>
            <a:ext cx="1828800" cy="381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1887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5400" b="1">
                <a:solidFill>
                  <a:srgbClr val="FFFFFF"/>
                </a:solidFill>
                <a:latin typeface="Arial Black"/>
              </a:defRPr>
            </a:pPr>
            <a:r>
              <a:t>THREE SHIFTS CONVERGING.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E86C00"/>
                </a:solidFill>
                <a:latin typeface="Arial Black"/>
              </a:defRPr>
            </a:pPr>
            <a:r>
              <a:t>AI AGENTS REACHED</a:t>
            </a:r>
            <a:br/>
            <a:r>
              <a:t>COMMERCIAL RELIABILITY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9260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r>
              <a:t>LLMs can now reason, use tools, and execute multi-step</a:t>
            </a:r>
            <a:br/>
            <a:r>
              <a:t>workflows with enterprise-grade accuracy. The gap between</a:t>
            </a:r>
            <a:br/>
            <a:r>
              <a:t>'demo' and 'production' closed in 2025.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389120"/>
            <a:ext cx="12344400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E86C00"/>
                </a:solidFill>
                <a:latin typeface="Arial Black"/>
              </a:defRPr>
            </a:pPr>
            <a:r>
              <a:t>VOICE AI MATURED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66344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r>
              <a:t>Real-time, multi-language speech recognition and synthesis</a:t>
            </a:r>
            <a:br/>
            <a:r>
              <a:t>is now fast and cheap enough for production. Our co-founder</a:t>
            </a:r>
            <a:br/>
            <a:r>
              <a:t>invented Vosk — the most deployed open-source speech engine.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6126479"/>
            <a:ext cx="12344400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64008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E86C00"/>
                </a:solidFill>
                <a:latin typeface="Arial Black"/>
              </a:defRPr>
            </a:pPr>
            <a:r>
              <a:t>ENTERPRISES ARE</a:t>
            </a:r>
            <a:br/>
            <a:r>
              <a:t>ACTIVELY BUYING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400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r>
              <a:t>Vision 2030 (GCC), EU digital transformation, and post-COVID</a:t>
            </a:r>
            <a:br/>
            <a:r>
              <a:t>cost pressure have created a $1T+ wave of enterprises actively</a:t>
            </a:r>
            <a:br/>
            <a:r>
              <a:t>seeking AI-first operations — not just tools.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E86C00"/>
                </a:solidFill>
                <a:latin typeface="Arial Black"/>
              </a:defRPr>
            </a:pPr>
            <a:r>
              <a:t>MARKET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51560"/>
            <a:ext cx="1828800" cy="381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600" b="1">
                <a:solidFill>
                  <a:srgbClr val="000000"/>
                </a:solidFill>
                <a:latin typeface="Arial Black"/>
              </a:defRPr>
            </a:pPr>
            <a:r>
              <a:t>BOTTOMS-UP: $84M SAM</a:t>
            </a:r>
            <a:br/>
            <a:r>
              <a:t>IN FIRST VERTICAL ALONE.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108960"/>
            <a:ext cx="11430000" cy="8229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1546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FFFFFF"/>
                </a:solidFill>
                <a:latin typeface="Arial Black"/>
              </a:defRPr>
            </a:pPr>
            <a:r>
              <a:t>1.4M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154679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Mid-sized companies globally</a:t>
            </a:r>
            <a:br/>
            <a:r>
              <a:t>with complex products &amp; long sales cycles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4206240"/>
            <a:ext cx="9144000" cy="822960"/>
          </a:xfrm>
          <a:prstGeom prst="rect">
            <a:avLst/>
          </a:prstGeom>
          <a:solidFill>
            <a:srgbClr val="CC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425195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FFFFFF"/>
                </a:solidFill>
                <a:latin typeface="Arial Black"/>
              </a:defRPr>
            </a:pPr>
            <a:r>
              <a:t>100K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4251959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In DACH + GCC (our beachhead)</a:t>
            </a:r>
            <a:br/>
            <a:r>
              <a:t>Automotive, Insurance, Real Estate, Manufacturing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5303520"/>
            <a:ext cx="6858000" cy="822960"/>
          </a:xfrm>
          <a:prstGeom prst="rect">
            <a:avLst/>
          </a:prstGeom>
          <a:solidFill>
            <a:srgbClr val="B04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5349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FFFFFF"/>
                </a:solidFill>
                <a:latin typeface="Arial Black"/>
              </a:defRPr>
            </a:pPr>
            <a:r>
              <a:t>1,400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53492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Automotive dealer groups</a:t>
            </a:r>
            <a:br/>
            <a:r>
              <a:t>in DACH + GCC (first wedge)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6400800"/>
            <a:ext cx="4572000" cy="822960"/>
          </a:xfrm>
          <a:prstGeom prst="rect">
            <a:avLst/>
          </a:prstGeom>
          <a:solidFill>
            <a:srgbClr val="94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6446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FFFFFF"/>
                </a:solidFill>
                <a:latin typeface="Arial Black"/>
              </a:defRPr>
            </a:pPr>
            <a:r>
              <a:t>$84M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64465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SAM at $60K ACV</a:t>
            </a:r>
            <a:br/>
            <a:r>
              <a:t>First vertical, first two regions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731520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A1A1A"/>
                </a:solidFill>
                <a:latin typeface="Arial"/>
              </a:defRPr>
            </a:pPr>
            <a:r>
              <a:t>Expansion: Insurance (Allianz), Real Estate (DAR Global), Manufacturing (Suhner) already in pipeline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E86C00"/>
                </a:solidFill>
                <a:latin typeface="Arial Black"/>
              </a:defRPr>
            </a:pPr>
            <a:r>
              <a:t>BUSINESS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51560"/>
            <a:ext cx="1828800" cy="381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5000" b="1">
                <a:solidFill>
                  <a:srgbClr val="FFFFFF"/>
                </a:solidFill>
                <a:latin typeface="Arial Black"/>
              </a:defRPr>
            </a:pPr>
            <a:r>
              <a:t>PRICED AGAINST LABOR,</a:t>
            </a:r>
            <a:br/>
            <a:r>
              <a:t>NOT SOFTWARE SEATS.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200400"/>
            <a:ext cx="3931920" cy="3474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337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999999"/>
                </a:solidFill>
                <a:latin typeface="Arial"/>
              </a:defRPr>
            </a:pPr>
            <a:r>
              <a:t>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03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E86C00"/>
                </a:solidFill>
                <a:latin typeface="Arial Black"/>
              </a:defRPr>
            </a:pPr>
            <a:r>
              <a:t>$5K/mo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51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999999"/>
                </a:solidFill>
                <a:latin typeface="Arial"/>
              </a:defRPr>
            </a:pPr>
            <a:r>
              <a:t>$60K ACV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617720"/>
            <a:ext cx="3200400" cy="254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7548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1-2 agents</a:t>
            </a:r>
            <a:br/>
            <a:r>
              <a:t>Core automation</a:t>
            </a:r>
            <a:br/>
            <a:r>
              <a:t>Chat + email channels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3200400"/>
            <a:ext cx="3931920" cy="3474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3337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999999"/>
                </a:solidFill>
                <a:latin typeface="Arial"/>
              </a:defRPr>
            </a:pPr>
            <a:r>
              <a:t>ENTERPRISE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3703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E86C00"/>
                </a:solidFill>
                <a:latin typeface="Arial Black"/>
              </a:defRPr>
            </a:pPr>
            <a:r>
              <a:t>$15K/mo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4251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999999"/>
                </a:solidFill>
                <a:latin typeface="Arial"/>
              </a:defRPr>
            </a:pPr>
            <a:r>
              <a:t>$180K ACV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4617720"/>
            <a:ext cx="3200400" cy="254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47548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Full agent suite</a:t>
            </a:r>
            <a:br/>
            <a:r>
              <a:t>Voice AI + Arabic</a:t>
            </a:r>
            <a:br/>
            <a:r>
              <a:t>Custom integrations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3200400"/>
            <a:ext cx="3931920" cy="3474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0" y="3337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999999"/>
                </a:solidFill>
                <a:latin typeface="Arial"/>
              </a:defRPr>
            </a:pPr>
            <a:r>
              <a:t>EXPANSION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3703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E86C00"/>
                </a:solidFill>
                <a:latin typeface="Arial Black"/>
              </a:defRPr>
            </a:pPr>
            <a:r>
              <a:t>+$3-5K/agent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4251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999999"/>
                </a:solidFill>
                <a:latin typeface="Arial"/>
              </a:defRPr>
            </a:pPr>
            <a:r>
              <a:t>Per additional agent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66960" y="4617720"/>
            <a:ext cx="3200400" cy="254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0" y="47548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Add Sales, Marketing,</a:t>
            </a:r>
            <a:br/>
            <a:r>
              <a:t>or Service agents</a:t>
            </a:r>
            <a:br/>
            <a:r>
              <a:t>to existing 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713232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999999"/>
                </a:solidFill>
                <a:latin typeface="Arial"/>
              </a:defRPr>
            </a:pPr>
            <a:r>
              <a:t>A single sales rep costs $80-120K/year. Our agents do the work of 3-5 reps at a fraction of the cost.</a:t>
            </a:r>
            <a:br/>
            <a:r>
              <a:t>Target NRR: 140%+ as customers add agents across departments.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E86C00"/>
                </a:solidFill>
                <a:latin typeface="Arial Black"/>
              </a:defRPr>
            </a:pPr>
            <a:r>
              <a:t>COMPETITIVE LANDSCAPE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51560"/>
            <a:ext cx="1828800" cy="381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600" b="1">
                <a:solidFill>
                  <a:srgbClr val="000000"/>
                </a:solidFill>
                <a:latin typeface="Arial Black"/>
              </a:defRPr>
            </a:pPr>
            <a:r>
              <a:t>FULL-STACK AUTONOMY IS THE MOAT.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743200"/>
            <a:ext cx="12435840" cy="822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8346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120640" y="283464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Full Agent</a:t>
            </a:r>
            <a:br/>
            <a:r>
              <a:t>Autonomy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83464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Voice AI</a:t>
            </a:r>
            <a:br/>
            <a:r>
              <a:t>+ Arabic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283464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Multi-Agent</a:t>
            </a:r>
            <a:br/>
            <a:r>
              <a:t>Orchestration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78640" y="28346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Production</a:t>
            </a:r>
            <a:br/>
            <a:r>
              <a:t>Scale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566160"/>
            <a:ext cx="12435840" cy="822960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7033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E86C00"/>
                </a:solidFill>
                <a:latin typeface="Arial"/>
              </a:defRPr>
            </a:pPr>
            <a:r>
              <a:t>Salesteq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65760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000000"/>
                </a:solidFill>
                <a:latin typeface="Arial"/>
              </a:defRPr>
            </a:pPr>
            <a: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365760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000000"/>
                </a:solidFill>
                <a:latin typeface="Arial"/>
              </a:defRPr>
            </a:pPr>
            <a: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365760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000000"/>
                </a:solidFill>
                <a:latin typeface="Arial"/>
              </a:defRPr>
            </a:pPr>
            <a: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78640" y="365760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000000"/>
                </a:solidFill>
                <a:latin typeface="Arial"/>
              </a:defRPr>
            </a:pPr>
            <a:r>
              <a:t>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4389120"/>
            <a:ext cx="1243584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5262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11x.ai / Artisan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4480559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000000"/>
                </a:solidFill>
                <a:latin typeface="Arial"/>
              </a:defRPr>
            </a:pPr>
            <a: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4480559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000000"/>
                </a:solidFill>
                <a:latin typeface="Arial"/>
              </a:defRPr>
            </a:pPr>
            <a:r>
              <a:t>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4480559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000000"/>
                </a:solidFill>
                <a:latin typeface="Arial"/>
              </a:defRPr>
            </a:pPr>
            <a:r>
              <a:t>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978640" y="4480559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000000"/>
                </a:solidFill>
                <a:latin typeface="Arial"/>
              </a:defRPr>
            </a:pPr>
            <a:r>
              <a:t>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5212080"/>
            <a:ext cx="12435840" cy="8229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3492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Salesforce / HubSpot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530352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000000"/>
                </a:solidFill>
                <a:latin typeface="Arial"/>
              </a:defRPr>
            </a:pPr>
            <a:r>
              <a:t>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530352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000000"/>
                </a:solidFill>
                <a:latin typeface="Arial"/>
              </a:defRPr>
            </a:pPr>
            <a:r>
              <a:t>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530352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000000"/>
                </a:solidFill>
                <a:latin typeface="Arial"/>
              </a:defRPr>
            </a:pPr>
            <a:r>
              <a:t>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978640" y="53035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000000"/>
                </a:solidFill>
                <a:latin typeface="Arial"/>
              </a:defRPr>
            </a:pPr>
            <a:r>
              <a:t>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6035040"/>
            <a:ext cx="1243584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6172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Clay / Apollo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6126479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000000"/>
                </a:solidFill>
                <a:latin typeface="Arial"/>
              </a:defRPr>
            </a:pPr>
            <a:r>
              <a:t>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6126479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000000"/>
                </a:solidFill>
                <a:latin typeface="Arial"/>
              </a:defRPr>
            </a:pPr>
            <a:r>
              <a:t>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6126479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000000"/>
                </a:solidFill>
                <a:latin typeface="Arial"/>
              </a:defRPr>
            </a:pPr>
            <a:r>
              <a:t>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978640" y="6126479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000000"/>
                </a:solidFill>
                <a:latin typeface="Arial"/>
              </a:defRPr>
            </a:pPr>
            <a:r>
              <a:t>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7280" y="6858000"/>
            <a:ext cx="12435840" cy="8229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69951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Regional BPOs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694944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000000"/>
                </a:solidFill>
                <a:latin typeface="Arial"/>
              </a:defRPr>
            </a:pPr>
            <a:r>
              <a:t>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694944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000000"/>
                </a:solidFill>
                <a:latin typeface="Arial"/>
              </a:defRPr>
            </a:pPr>
            <a:r>
              <a:t>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694944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000000"/>
                </a:solidFill>
                <a:latin typeface="Arial"/>
              </a:defRPr>
            </a:pPr>
            <a:r>
              <a:t>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978640" y="69494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000000"/>
                </a:solidFill>
                <a:latin typeface="Arial"/>
              </a:defRPr>
            </a:pPr>
            <a:r>
              <a:t>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713232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A1A1A"/>
                </a:solidFill>
                <a:latin typeface="Arial"/>
              </a:defRPr>
            </a:pPr>
            <a:r>
              <a:t>Point solutions (11x, Artisan) automate one function without voice or MENA presence.</a:t>
            </a:r>
            <a:br/>
            <a:r>
              <a:t>Legacy CRM (Salesforce) augments humans but doesn't replace the work. We do both, end-to-end.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E86C00"/>
                </a:solidFill>
                <a:latin typeface="Arial Black"/>
              </a:defRPr>
            </a:pPr>
            <a:r>
              <a:t>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51560"/>
            <a:ext cx="1828800" cy="381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5400" b="1">
                <a:solidFill>
                  <a:srgbClr val="FFFFFF"/>
                </a:solidFill>
                <a:latin typeface="Arial Black"/>
              </a:defRPr>
            </a:pPr>
            <a:r>
              <a:t>BUILT TO WIN.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999999"/>
                </a:solidFill>
                <a:latin typeface="Arial"/>
              </a:defRPr>
            </a:pPr>
            <a:r>
              <a:t>Our team has built systems that scaled, replaced human effort, and ran in production.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017520"/>
            <a:ext cx="3931920" cy="2560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154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E86C00"/>
                </a:solidFill>
                <a:latin typeface="Arial Black"/>
              </a:defRPr>
            </a:pPr>
            <a:r>
              <a:t>VIKTOR ANDREAS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566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99999"/>
                </a:solidFill>
                <a:latin typeface="Arial"/>
              </a:defRPr>
            </a:pPr>
            <a:r>
              <a:t>CEO &amp; Co-Founder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931920"/>
            <a:ext cx="3200400" cy="254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1148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2x Founder. Scaled previous</a:t>
            </a:r>
            <a:br/>
            <a:r>
              <a:t>company to $10M revenue in</a:t>
            </a:r>
            <a:br/>
            <a:r>
              <a:t>1 year. Commercial + product.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3017520"/>
            <a:ext cx="3931920" cy="2560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3154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E86C00"/>
                </a:solidFill>
                <a:latin typeface="Arial Black"/>
              </a:defRPr>
            </a:pPr>
            <a:r>
              <a:t>DR. MILAN JELISAVCIC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3566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99999"/>
                </a:solidFill>
                <a:latin typeface="Arial"/>
              </a:defRPr>
            </a:pPr>
            <a:r>
              <a:t>CTO &amp; Co-Founder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3931920"/>
            <a:ext cx="3200400" cy="254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41148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Invented universal transfer</a:t>
            </a:r>
            <a:br/>
            <a:r>
              <a:t>learning algorithms. PhD in</a:t>
            </a:r>
            <a:br/>
            <a:r>
              <a:t>AI/ML. Systems architect.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0" y="3017520"/>
            <a:ext cx="3931920" cy="2560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0" y="3154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E86C00"/>
                </a:solidFill>
                <a:latin typeface="Arial Black"/>
              </a:defRPr>
            </a:pPr>
            <a:r>
              <a:t>DR. NICKOLAY SHMYREV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3566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99999"/>
                </a:solidFill>
                <a:latin typeface="Arial"/>
              </a:defRPr>
            </a:pPr>
            <a:r>
              <a:t>Co-Founder, Speech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66960" y="3931920"/>
            <a:ext cx="3200400" cy="254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0" y="41148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Inventor of Vosk — the world's</a:t>
            </a:r>
            <a:br/>
            <a:r>
              <a:t>most deployed open-source</a:t>
            </a:r>
            <a:br/>
            <a:r>
              <a:t>speech recognition engine.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999999"/>
                </a:solidFill>
                <a:latin typeface="Arial"/>
              </a:defRPr>
            </a:pPr>
            <a:r>
              <a:t>BOARD &amp; ADVISORS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6355080"/>
            <a:ext cx="12344400" cy="127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65836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Peter David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69951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E86C00"/>
                </a:solidFill>
                <a:latin typeface="Arial"/>
              </a:defRPr>
            </a:pPr>
            <a:r>
              <a:t>ex-CFO Sitecore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65836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Jeroen van der Lingen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69951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E86C00"/>
                </a:solidFill>
                <a:latin typeface="Arial"/>
              </a:defRPr>
            </a:pPr>
            <a:r>
              <a:t>ex-CRO SAP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65836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Hans de Visser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69951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E86C00"/>
                </a:solidFill>
                <a:latin typeface="Arial"/>
              </a:defRPr>
            </a:pPr>
            <a:r>
              <a:t>ex-MD BMW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E86C00"/>
                </a:solidFill>
                <a:latin typeface="Arial Black"/>
              </a:defRPr>
            </a:pPr>
            <a:r>
              <a:t>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51560"/>
            <a:ext cx="1828800" cy="381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600" b="1">
                <a:solidFill>
                  <a:srgbClr val="FFFFFF"/>
                </a:solidFill>
                <a:latin typeface="Arial Black"/>
              </a:defRPr>
            </a:pPr>
            <a:r>
              <a:t>FROM 1 CUSTOMER TO 20.</a:t>
            </a:r>
            <a:br/>
            <a:r>
              <a:t>FROM $350K TO $2M ARR.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017520"/>
            <a:ext cx="12344400" cy="1371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4480" y="2907792"/>
            <a:ext cx="365760" cy="36576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383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E86C00"/>
                </a:solidFill>
                <a:latin typeface="Arial"/>
              </a:defRPr>
            </a:pPr>
            <a:r>
              <a:t>H1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0332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FFFFFF"/>
                </a:solidFill>
                <a:latin typeface="Arial Black"/>
              </a:defRPr>
            </a:pPr>
            <a:r>
              <a:t>PRODUCTIZE &amp;</a:t>
            </a:r>
            <a:br/>
            <a:r>
              <a:t>REPLICATE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4663440"/>
            <a:ext cx="3657600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8463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■  Ship Sales + Marketing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3035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■  Standardize onboarding (&lt; 2 weeks)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7607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■  5-10 customers across 2 verticals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62179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■  Target: $500K ARR</a:t>
            </a:r>
          </a:p>
        </p:txBody>
      </p:sp>
      <p:sp>
        <p:nvSpPr>
          <p:cNvPr id="14" name="Oval 13"/>
          <p:cNvSpPr/>
          <p:nvPr/>
        </p:nvSpPr>
        <p:spPr>
          <a:xfrm>
            <a:off x="5852160" y="2907792"/>
            <a:ext cx="365760" cy="36576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3383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E86C00"/>
                </a:solidFill>
                <a:latin typeface="Arial"/>
              </a:defRPr>
            </a:pPr>
            <a:r>
              <a:t>H2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370332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FFFFFF"/>
                </a:solidFill>
                <a:latin typeface="Arial Black"/>
              </a:defRPr>
            </a:pPr>
            <a:r>
              <a:t>SCALE</a:t>
            </a:r>
            <a:br/>
            <a:r>
              <a:t>AUTONOMY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60" y="4663440"/>
            <a:ext cx="3657600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48463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■  End-to-end autonomy without supervision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53035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■  Deployment in days, not months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57607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■  15-20 customers, expand to 3rd vertical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62179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■  Target: $1.5M ARR</a:t>
            </a:r>
          </a:p>
        </p:txBody>
      </p:sp>
      <p:sp>
        <p:nvSpPr>
          <p:cNvPr id="22" name="Oval 21"/>
          <p:cNvSpPr/>
          <p:nvPr/>
        </p:nvSpPr>
        <p:spPr>
          <a:xfrm>
            <a:off x="10149840" y="2907792"/>
            <a:ext cx="365760" cy="36576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3383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E86C00"/>
                </a:solidFill>
                <a:latin typeface="Arial"/>
              </a:defRPr>
            </a:pPr>
            <a:r>
              <a:t>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370332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FFFFFF"/>
                </a:solidFill>
                <a:latin typeface="Arial Black"/>
              </a:defRPr>
            </a:pPr>
            <a:r>
              <a:t>REPLACE REVENUE</a:t>
            </a:r>
            <a:br/>
            <a:r>
              <a:t>LABOR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4663440"/>
            <a:ext cx="3657600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48463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■  Sales, Marketing, Service run as 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53035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■  Customers measurably reduce headcount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57607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■  Expand to US market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62179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■  Target: $2M+ ARR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713232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999999"/>
                </a:solidFill>
                <a:latin typeface="Arial"/>
              </a:defRPr>
            </a:pPr>
            <a:r>
              <a:t>Each phase increases gross margin and reduces human involvement in delivery.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1887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7200" b="1">
                <a:solidFill>
                  <a:srgbClr val="E86C00"/>
                </a:solidFill>
                <a:latin typeface="Arial Black"/>
              </a:defRPr>
            </a:pPr>
            <a:r>
              <a:t>$3.5M SEED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0">
                <a:solidFill>
                  <a:srgbClr val="FFFFFF"/>
                </a:solidFill>
                <a:latin typeface="Arial"/>
              </a:defRPr>
            </a:pPr>
            <a:r>
              <a:t>Every dollar deployed to move from human-operated</a:t>
            </a:r>
            <a:br/>
            <a:r>
              <a:t>revenue to AI-operated revenue.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999999"/>
                </a:solidFill>
                <a:latin typeface="Arial"/>
              </a:defRPr>
            </a:pPr>
            <a:r>
              <a:t>USE OF FUNDS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794760"/>
            <a:ext cx="12344400" cy="127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4023360"/>
            <a:ext cx="3931920" cy="2286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160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E86C00"/>
                </a:solidFill>
                <a:latin typeface="Arial Black"/>
              </a:defRPr>
            </a:pPr>
            <a:r>
              <a:t>$1.5M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663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999999"/>
                </a:solidFill>
                <a:latin typeface="Arial"/>
              </a:defRPr>
            </a:pPr>
            <a:r>
              <a:t>ENGINEERING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983480"/>
            <a:ext cx="3200400" cy="254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51206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Ship Sales + Marketing agents</a:t>
            </a:r>
            <a:br/>
            <a:r>
              <a:t>Voice infrastructure scaling</a:t>
            </a:r>
            <a:br/>
            <a:r>
              <a:t>Rust platform hardening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4023360"/>
            <a:ext cx="3931920" cy="2286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4160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E86C00"/>
                </a:solidFill>
                <a:latin typeface="Arial Black"/>
              </a:defRPr>
            </a:pPr>
            <a:r>
              <a:t>$1.0M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4663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999999"/>
                </a:solidFill>
                <a:latin typeface="Arial"/>
              </a:defRPr>
            </a:pPr>
            <a:r>
              <a:t>GO-TO-MARKET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4983480"/>
            <a:ext cx="3200400" cy="254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1206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2 Account Executives (DACH + GCC)</a:t>
            </a:r>
            <a:br/>
            <a:r>
              <a:t>Customer success team</a:t>
            </a:r>
            <a:br/>
            <a:r>
              <a:t>Industry events &amp; partnerships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0" y="4023360"/>
            <a:ext cx="3931920" cy="2286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0" y="4160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E86C00"/>
                </a:solidFill>
                <a:latin typeface="Arial Black"/>
              </a:defRPr>
            </a:pPr>
            <a:r>
              <a:t>$1.0M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4663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999999"/>
                </a:solidFill>
                <a:latin typeface="Arial"/>
              </a:defRPr>
            </a:pPr>
            <a:r>
              <a:t>OPERATIONS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66960" y="4983480"/>
            <a:ext cx="3200400" cy="254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0" y="51206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Infrastructure &amp; compute</a:t>
            </a:r>
            <a:br/>
            <a:r>
              <a:t>18 months runway</a:t>
            </a:r>
            <a:br/>
            <a:r>
              <a:t>Legal &amp; compliance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675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999999"/>
                </a:solidFill>
                <a:latin typeface="Arial"/>
              </a:defRPr>
            </a:pPr>
            <a:r>
              <a:t>18-MONTH TARGETS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7086600"/>
            <a:ext cx="12344400" cy="127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7223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E86C00"/>
                </a:solidFill>
                <a:latin typeface="Arial Black"/>
              </a:defRPr>
            </a:pPr>
            <a:r>
              <a:t>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772667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Enterprise Customers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7223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E86C00"/>
                </a:solidFill>
                <a:latin typeface="Arial Black"/>
              </a:defRPr>
            </a:pPr>
            <a:r>
              <a:t>$2M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772667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ARR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7223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E86C00"/>
                </a:solidFill>
                <a:latin typeface="Arial Black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772667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Verticals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7223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E86C00"/>
                </a:solidFill>
                <a:latin typeface="Arial Black"/>
              </a:defRPr>
            </a:pPr>
            <a:r>
              <a:t>&lt; 2 wk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772667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Onboarding 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