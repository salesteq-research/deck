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esteq-horizont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645920" cy="3665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D3D3F"/>
                </a:solidFill>
                <a:latin typeface="JetBrains Mono"/>
              </a:defRPr>
            </a:pPr>
            <a:r>
              <a:t>AI COMMERCIAL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1887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AF9F0"/>
                </a:solidFill>
                <a:latin typeface="Inter"/>
              </a:defRPr>
            </a:pPr>
            <a:r>
              <a:t>AI agents that run</a:t>
            </a:r>
            <a:br/>
            <a:r>
              <a:t>your revenue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D3D3F"/>
                </a:solidFill>
                <a:latin typeface="Inter"/>
              </a:defRPr>
            </a:pPr>
            <a:r>
              <a:t>We replace human-operated sales, marketing, and customer</a:t>
            </a:r>
            <a:br/>
            <a:r>
              <a:t>service with autonomous AI workers.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97757"/>
                </a:solidFill>
                <a:latin typeface="Inter"/>
              </a:defRPr>
            </a:pPr>
            <a:r>
              <a:t>$3.5M Seed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9494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D3D3F"/>
                </a:solidFill>
                <a:latin typeface="JetBrains Mono"/>
              </a:defRPr>
            </a:pPr>
            <a:r>
              <a:t>agent.salesteq.com</a:t>
            </a:r>
          </a:p>
        </p:txBody>
      </p:sp>
      <p:pic>
        <p:nvPicPr>
          <p:cNvPr id="9" name="Picture 8" descr="salesteq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EEDE4"/>
                </a:solidFill>
                <a:latin typeface="Inter"/>
              </a:defRPr>
            </a:pPr>
            <a:r>
              <a:t>01</a:t>
            </a:r>
          </a:p>
        </p:txBody>
      </p:sp>
      <p:pic>
        <p:nvPicPr>
          <p:cNvPr id="3" name="Picture 2" descr="salesteq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31314"/>
                </a:solidFill>
                <a:latin typeface="Inter"/>
              </a:defRPr>
            </a:pPr>
            <a:r>
              <a:t>Scaling revenue still means</a:t>
            </a:r>
            <a:br/>
            <a:r>
              <a:t>scaling headcount.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D97757"/>
                </a:solidFill>
                <a:latin typeface="Inter"/>
              </a:rPr>
              <a:t>—  </a:t>
            </a:r>
            <a:r>
              <a:rPr sz="2000" b="1">
                <a:solidFill>
                  <a:srgbClr val="131314"/>
                </a:solidFill>
                <a:latin typeface="Inter"/>
              </a:rPr>
              <a:t>70% of commercial teams' time</a:t>
            </a:r>
            <a:r>
              <a:rPr sz="2000">
                <a:solidFill>
                  <a:srgbClr val="131314"/>
                </a:solidFill>
                <a:latin typeface="Inter"/>
              </a:rPr>
              <a:t> is consumed by admin, follow-ups, and coordination — not selling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D97757"/>
                </a:solidFill>
                <a:latin typeface="Inter"/>
              </a:rPr>
              <a:t>—  </a:t>
            </a:r>
            <a:r>
              <a:rPr sz="2000" b="1">
                <a:solidFill>
                  <a:srgbClr val="131314"/>
                </a:solidFill>
                <a:latin typeface="Inter"/>
              </a:rPr>
              <a:t>Revenue growth = headcount growth = cost growth.</a:t>
            </a:r>
            <a:r>
              <a:rPr sz="2000">
                <a:solidFill>
                  <a:srgbClr val="131314"/>
                </a:solidFill>
                <a:latin typeface="Inter"/>
              </a:rPr>
              <a:t> The model hasn't changed in 30 years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D97757"/>
                </a:solidFill>
                <a:latin typeface="Inter"/>
              </a:rPr>
              <a:t>—  </a:t>
            </a:r>
            <a:r>
              <a:rPr sz="2000" b="1">
                <a:solidFill>
                  <a:srgbClr val="131314"/>
                </a:solidFill>
                <a:latin typeface="Inter"/>
              </a:rPr>
              <a:t>CRMs and sales tools optimize humans.</a:t>
            </a:r>
            <a:r>
              <a:rPr sz="2000">
                <a:solidFill>
                  <a:srgbClr val="131314"/>
                </a:solidFill>
                <a:latin typeface="Inter"/>
              </a:rPr>
              <a:t> They don't replace the work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D97757"/>
                </a:solidFill>
                <a:latin typeface="Inter"/>
              </a:rPr>
              <a:t>—  </a:t>
            </a:r>
            <a:r>
              <a:rPr sz="2000" b="1">
                <a:solidFill>
                  <a:srgbClr val="131314"/>
                </a:solidFill>
                <a:latin typeface="Inter"/>
              </a:rPr>
              <a:t>Churn, missed deals, and inconsistent service</a:t>
            </a:r>
            <a:r>
              <a:rPr sz="2000">
                <a:solidFill>
                  <a:srgbClr val="131314"/>
                </a:solidFill>
                <a:latin typeface="Inter"/>
              </a:rPr>
              <a:t> are structural — not fixable by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675120"/>
            <a:ext cx="12801600" cy="73152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720840"/>
            <a:ext cx="11887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Inter"/>
              </a:defRPr>
            </a:pPr>
            <a:r>
              <a:t>Software made humans more efficient. AI agents make humans optional.</a:t>
            </a:r>
          </a:p>
        </p:txBody>
      </p:sp>
      <p:pic>
        <p:nvPicPr>
          <p:cNvPr id="10" name="Picture 9" descr="salesteq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252527"/>
                </a:solidFill>
                <a:latin typeface="Inter"/>
              </a:defRPr>
            </a:pPr>
            <a:r>
              <a:t>02</a:t>
            </a:r>
          </a:p>
        </p:txBody>
      </p:sp>
      <p:pic>
        <p:nvPicPr>
          <p:cNvPr id="3" name="Picture 2" descr="salesteq-horizont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AF9F0"/>
                </a:solidFill>
                <a:latin typeface="Inter"/>
              </a:defRPr>
            </a:pPr>
            <a:r>
              <a:t>This is already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4114800" cy="2286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97757"/>
                </a:solidFill>
                <a:latin typeface="Inter"/>
              </a:defRPr>
            </a:pPr>
            <a:r>
              <a:t>$350K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AF9F0"/>
                </a:solidFill>
                <a:latin typeface="JetBrains Mono"/>
              </a:defRPr>
            </a:pPr>
            <a:r>
              <a:t>REVENUE IN 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D3D3F"/>
                </a:solidFill>
                <a:latin typeface="Inter"/>
              </a:defRPr>
            </a:pPr>
            <a:r>
              <a:t>Live enterprise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108960"/>
            <a:ext cx="3749039" cy="105156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200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4612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0"/>
                </a:solidFill>
                <a:latin typeface="Inter"/>
              </a:defRPr>
            </a:pPr>
            <a:r>
              <a:t>Daily autonomous</a:t>
            </a:r>
            <a:br/>
            <a:r>
              <a:t>interactions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3108960"/>
            <a:ext cx="3749039" cy="105156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320040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324612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0"/>
                </a:solidFill>
                <a:latin typeface="Inter"/>
              </a:defRPr>
            </a:pPr>
            <a:r>
              <a:t>Voice calls</a:t>
            </a:r>
            <a:br/>
            <a:r>
              <a:t>per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4343400"/>
            <a:ext cx="3749039" cy="105156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44348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48056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0"/>
                </a:solidFill>
                <a:latin typeface="Inter"/>
              </a:defRPr>
            </a:pPr>
            <a:r>
              <a:t>Monthly website</a:t>
            </a:r>
            <a:br/>
            <a:r>
              <a:t>visits served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4343400"/>
            <a:ext cx="3749039" cy="105156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443484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448056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9F0"/>
                </a:solidFill>
                <a:latin typeface="Inter"/>
              </a:defRPr>
            </a:pPr>
            <a:r>
              <a:t>Human handoffs</a:t>
            </a:r>
            <a:br/>
            <a:r>
              <a:t>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LIVE CUSTOMERS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126480"/>
            <a:ext cx="1234440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1280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AF9F0"/>
                </a:solidFill>
                <a:latin typeface="Inter"/>
              </a:defRPr>
            </a:pPr>
            <a:r>
              <a:t>Naghi Group (BMW, Rolls Royce, Land Rover, Hyundai, Jaguar)   ·   DAR Global   ·   Allianz   ·   Suhner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94944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57"/>
                </a:solidFill>
                <a:latin typeface="Inter"/>
              </a:defRPr>
            </a:pPr>
            <a:r>
              <a:t>NVIDIA Inception Program Member</a:t>
            </a:r>
          </a:p>
        </p:txBody>
      </p:sp>
      <p:pic>
        <p:nvPicPr>
          <p:cNvPr id="27" name="Picture 26" descr="salesteq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EEDE4"/>
                </a:solidFill>
                <a:latin typeface="Inter"/>
              </a:defRPr>
            </a:pPr>
            <a:r>
              <a:t>03</a:t>
            </a:r>
          </a:p>
        </p:txBody>
      </p:sp>
      <p:pic>
        <p:nvPicPr>
          <p:cNvPr id="3" name="Picture 2" descr="salesteq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31314"/>
                </a:solidFill>
                <a:latin typeface="Inter"/>
              </a:defRPr>
            </a:pPr>
            <a:r>
              <a:t>One platform. Full</a:t>
            </a:r>
            <a:br/>
            <a:r>
              <a:t>autonomous operations.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4023360" cy="329184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57"/>
                </a:solidFill>
                <a:latin typeface="JetBrains Mono"/>
              </a:defRPr>
            </a:pPr>
            <a:r>
              <a:t>SALES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D3D3F"/>
                </a:solidFill>
                <a:latin typeface="Inter"/>
              </a:defRPr>
            </a:pPr>
            <a:r>
              <a:t>Prospect to close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526280"/>
            <a:ext cx="310896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Lead generation &amp;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5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Personalized outreach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7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Pipeline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7220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Follow-up automation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3657600"/>
            <a:ext cx="4023360" cy="329184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57"/>
                </a:solidFill>
                <a:latin typeface="JetBrains Mono"/>
              </a:defRPr>
            </a:pPr>
            <a:r>
              <a:t>MARKETING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160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D3D3F"/>
                </a:solidFill>
                <a:latin typeface="Inter"/>
              </a:defRPr>
            </a:pPr>
            <a:r>
              <a:t>Attract to engage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526280"/>
            <a:ext cx="310896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6634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Content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16635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Campaign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66927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Market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17220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Performance optimization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3657600"/>
            <a:ext cx="4023360" cy="329184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7757"/>
                </a:solidFill>
                <a:latin typeface="JetBrains Mono"/>
              </a:defRPr>
            </a:pPr>
            <a:r>
              <a:t>SERVICE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160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D3D3F"/>
                </a:solidFill>
                <a:latin typeface="Inter"/>
              </a:defRPr>
            </a:pPr>
            <a:r>
              <a:t>Inquiry to resolution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4526280"/>
            <a:ext cx="3108960" cy="228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46634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Chat &amp; voice interactions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16635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Arabic + local dialects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66927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Appointment booking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17220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—  Inventory-aware 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722376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D3D3F"/>
                </a:solidFill>
                <a:latin typeface="JetBrains Mono"/>
              </a:defRPr>
            </a:pPr>
            <a:r>
              <a:t>55 integrated tools  ·  2M company database  ·  Real-time intelligence  ·  Human-in-the-loop when needed</a:t>
            </a:r>
          </a:p>
        </p:txBody>
      </p:sp>
      <p:pic>
        <p:nvPicPr>
          <p:cNvPr id="32" name="Picture 31" descr="salesteq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EEDE4"/>
                </a:solidFill>
                <a:latin typeface="Inter"/>
              </a:defRPr>
            </a:pPr>
            <a:r>
              <a:t>04</a:t>
            </a:r>
          </a:p>
        </p:txBody>
      </p:sp>
      <p:pic>
        <p:nvPicPr>
          <p:cNvPr id="3" name="Picture 2" descr="salesteq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1887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31314"/>
                </a:solidFill>
                <a:latin typeface="Inter"/>
              </a:defRPr>
            </a:pPr>
            <a:r>
              <a:t>Naghi Group: AI running customer</a:t>
            </a:r>
            <a:br/>
            <a:r>
              <a:t>operations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D3D3F"/>
                </a:solidFill>
                <a:latin typeface="Inter"/>
              </a:defRPr>
            </a:pPr>
            <a:r>
              <a:t>Mohamed Yousuf Naghi &amp; Brothers Group</a:t>
            </a:r>
            <a:br/>
            <a:r>
              <a:t>Century-old Saudi conglomerate  ·  15,000+ 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57"/>
                </a:solidFill>
                <a:latin typeface="JetBrains Mono"/>
              </a:defRPr>
            </a:pPr>
            <a:r>
              <a:t>WHAT WE DEPLOYED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26280"/>
            <a:ext cx="548640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Inter"/>
              </a:rPr>
              <a:t>—  </a:t>
            </a:r>
            <a:r>
              <a:rPr sz="1500">
                <a:solidFill>
                  <a:srgbClr val="131314"/>
                </a:solidFill>
                <a:latin typeface="Inter"/>
              </a:rPr>
              <a:t>AI agents handling all customer service inquiries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Inter"/>
              </a:rPr>
              <a:t>—  </a:t>
            </a:r>
            <a:r>
              <a:rPr sz="1500">
                <a:solidFill>
                  <a:srgbClr val="131314"/>
                </a:solidFill>
                <a:latin typeface="Inter"/>
              </a:rPr>
              <a:t>Voice AI with Arabic dialects (ASR + TTS)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Inter"/>
              </a:rPr>
              <a:t>—  </a:t>
            </a:r>
            <a:r>
              <a:rPr sz="1500">
                <a:solidFill>
                  <a:srgbClr val="131314"/>
                </a:solidFill>
                <a:latin typeface="Inter"/>
              </a:rPr>
              <a:t>Real-time inventory integration across brands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Inter"/>
              </a:rPr>
              <a:t>—  </a:t>
            </a:r>
            <a:r>
              <a:rPr sz="1500">
                <a:solidFill>
                  <a:srgbClr val="131314"/>
                </a:solidFill>
                <a:latin typeface="Inter"/>
              </a:rPr>
              <a:t>Appointment booking, test drives, financing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7757"/>
                </a:solidFill>
                <a:latin typeface="JetBrains Mono"/>
              </a:defRPr>
            </a:pPr>
            <a: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26280"/>
            <a:ext cx="548640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7091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97757"/>
                </a:solidFill>
                <a:latin typeface="Inter"/>
              </a:defRPr>
            </a:pPr>
            <a: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754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31314"/>
                </a:solidFill>
                <a:latin typeface="Inter"/>
              </a:defRPr>
            </a:pPr>
            <a:r>
              <a:t>daily autonomous interactions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949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97757"/>
                </a:solidFill>
                <a:latin typeface="Inter"/>
              </a:defRPr>
            </a:pPr>
            <a:r>
              <a:t>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54406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31314"/>
                </a:solidFill>
                <a:latin typeface="Inter"/>
              </a:defRPr>
            </a:pPr>
            <a:r>
              <a:t>voice calls per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080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97757"/>
                </a:solidFill>
                <a:latin typeface="Inter"/>
              </a:defRPr>
            </a:pPr>
            <a:r>
              <a:t>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1264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31314"/>
                </a:solidFill>
                <a:latin typeface="Inter"/>
              </a:defRPr>
            </a:pPr>
            <a:r>
              <a:t>monthly website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7665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D97757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8122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31314"/>
                </a:solidFill>
                <a:latin typeface="Inter"/>
              </a:defRPr>
            </a:pPr>
            <a:r>
              <a:t>brands served (BMW, Rolls Royce, Jaguar, Land Rover, Hyundai)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949440"/>
            <a:ext cx="12801600" cy="64008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995160"/>
            <a:ext cx="11887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97757"/>
                </a:solidFill>
                <a:latin typeface="Inter"/>
              </a:defRPr>
            </a:pPr>
            <a:r>
              <a:t>Zero human handoff. Fully autonomous. Running 24/7 in production since 2025.</a:t>
            </a:r>
          </a:p>
        </p:txBody>
      </p:sp>
      <p:pic>
        <p:nvPicPr>
          <p:cNvPr id="23" name="Picture 22" descr="salesteq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252527"/>
                </a:solidFill>
                <a:latin typeface="Inter"/>
              </a:defRPr>
            </a:pPr>
            <a:r>
              <a:t>05</a:t>
            </a:r>
          </a:p>
        </p:txBody>
      </p:sp>
      <p:pic>
        <p:nvPicPr>
          <p:cNvPr id="3" name="Picture 2" descr="salesteq-horizont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AF9F0"/>
                </a:solidFill>
                <a:latin typeface="Inter"/>
              </a:defRPr>
            </a:pPr>
            <a:r>
              <a:t>Three shifts converging.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54864" cy="10972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Inter"/>
              </a:defRPr>
            </a:pPr>
            <a:r>
              <a:t>AI agents reached</a:t>
            </a:r>
            <a:br/>
            <a:r>
              <a:t>commercial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0"/>
                </a:solidFill>
                <a:latin typeface="Inter"/>
              </a:defRPr>
            </a:pPr>
            <a:r>
              <a:t>LLMs can now reason, use tools, and execute multi-step</a:t>
            </a:r>
            <a:br/>
            <a:r>
              <a:t>workflows with enterprise-grade accuracy. The gap between</a:t>
            </a:r>
            <a:br/>
            <a:r>
              <a:t>'demo' and 'production' closed in 2025.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2527280" cy="914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54864" cy="10972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Inter"/>
              </a:defRPr>
            </a:pPr>
            <a:r>
              <a:t>Voice AI matured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0"/>
                </a:solidFill>
                <a:latin typeface="Inter"/>
              </a:defRPr>
            </a:pPr>
            <a:r>
              <a:t>Real-time, multi-language speech recognition and synthesis</a:t>
            </a:r>
            <a:br/>
            <a:r>
              <a:t>is now fast and cheap enough for production. Our co-founder</a:t>
            </a:r>
            <a:br/>
            <a:r>
              <a:t>invented Vosk — the most deployed open-source speech engine.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126480"/>
            <a:ext cx="12527280" cy="914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54864" cy="10972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40080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Inter"/>
              </a:defRPr>
            </a:pPr>
            <a:r>
              <a:t>Enterprises are</a:t>
            </a:r>
            <a:br/>
            <a:r>
              <a:t>actively buying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0080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AF9F0"/>
                </a:solidFill>
                <a:latin typeface="Inter"/>
              </a:defRPr>
            </a:pPr>
            <a:r>
              <a:t>Vision 2030 (GCC), EU digital transformation, and post-COVID</a:t>
            </a:r>
            <a:br/>
            <a:r>
              <a:t>cost pressure created a wave of enterprises actively seeking</a:t>
            </a:r>
            <a:br/>
            <a:r>
              <a:t>AI-first operations — not just tools.</a:t>
            </a:r>
          </a:p>
        </p:txBody>
      </p:sp>
      <p:pic>
        <p:nvPicPr>
          <p:cNvPr id="18" name="Picture 17" descr="salesteq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EEDE4"/>
                </a:solidFill>
                <a:latin typeface="Inter"/>
              </a:defRPr>
            </a:pPr>
            <a:r>
              <a:t>06</a:t>
            </a:r>
          </a:p>
        </p:txBody>
      </p:sp>
      <p:pic>
        <p:nvPicPr>
          <p:cNvPr id="3" name="Picture 2" descr="salesteq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1887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31314"/>
                </a:solidFill>
                <a:latin typeface="Inter"/>
              </a:defRPr>
            </a:pPr>
            <a:r>
              <a:t>Bottoms-up: $84M SAM</a:t>
            </a:r>
            <a:br/>
            <a:r>
              <a:t>in first vertical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1887200" cy="777240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1.4M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61187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Mid-sized companies globally with complex products &amp; long sales 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480560"/>
            <a:ext cx="9601200" cy="777240"/>
          </a:xfrm>
          <a:prstGeom prst="roundRect">
            <a:avLst/>
          </a:prstGeom>
          <a:solidFill>
            <a:srgbClr val="B86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39" y="45720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100K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617720"/>
            <a:ext cx="6858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In DACH + GCC (our beachhead) — automotive, insurance, real estate, manufacturing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86400"/>
            <a:ext cx="7315200" cy="777240"/>
          </a:xfrm>
          <a:prstGeom prst="roundRect">
            <a:avLst/>
          </a:prstGeom>
          <a:solidFill>
            <a:srgbClr val="9E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55778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62356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Automotive dealer groups in DACH + GCC (first wedge)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6492240"/>
            <a:ext cx="5029200" cy="777240"/>
          </a:xfrm>
          <a:prstGeom prst="roundRect">
            <a:avLst/>
          </a:prstGeom>
          <a:solidFill>
            <a:srgbClr val="7A3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658367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Inter"/>
              </a:defRPr>
            </a:pPr>
            <a:r>
              <a:t>$84M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6629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Serviceable addressable market at $60K ACV — first vertical, first two 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40664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D3D3F"/>
                </a:solidFill>
                <a:latin typeface="Inter"/>
              </a:defRPr>
            </a:pPr>
            <a:r>
              <a:t>Expansion: Insurance (Allianz), Real Estate (DAR Global), Manufacturing (Suhner) already in pipeline</a:t>
            </a:r>
          </a:p>
        </p:txBody>
      </p:sp>
      <p:pic>
        <p:nvPicPr>
          <p:cNvPr id="20" name="Picture 19" descr="salesteq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252527"/>
                </a:solidFill>
                <a:latin typeface="Inter"/>
              </a:defRPr>
            </a:pPr>
            <a:r>
              <a:t>07</a:t>
            </a:r>
          </a:p>
        </p:txBody>
      </p:sp>
      <p:pic>
        <p:nvPicPr>
          <p:cNvPr id="3" name="Picture 2" descr="salesteq-horizont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1887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AF9F0"/>
                </a:solidFill>
                <a:latin typeface="Inter"/>
              </a:defRPr>
            </a:pPr>
            <a:r>
              <a:t>Priced against labor,</a:t>
            </a:r>
            <a:br/>
            <a:r>
              <a:t>not software seats.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4023360" cy="32004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D3D3F"/>
                </a:solidFill>
                <a:latin typeface="JetBrains Mono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D97757"/>
                </a:solidFill>
                <a:latin typeface="Inter"/>
              </a:defRPr>
            </a:pPr>
            <a:r>
              <a:t>$5K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1605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D3D3F"/>
                </a:solidFill>
                <a:latin typeface="Inter"/>
              </a:defRPr>
            </a:pPr>
            <a: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$60K ACV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89204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9F0"/>
                </a:solidFill>
                <a:latin typeface="Inter"/>
              </a:defRPr>
            </a:pPr>
            <a:r>
              <a:t>1–2 agents</a:t>
            </a:r>
            <a:br/>
            <a:r>
              <a:t>Core automation</a:t>
            </a:r>
            <a:br/>
            <a:r>
              <a:t>Chat + email 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3474720"/>
            <a:ext cx="4023360" cy="32004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6118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D3D3F"/>
                </a:solidFill>
                <a:latin typeface="JetBrains Mono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931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D97757"/>
                </a:solidFill>
                <a:latin typeface="Inter"/>
              </a:defRPr>
            </a:pPr>
            <a:r>
              <a:t>$15K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1605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D3D3F"/>
                </a:solidFill>
                <a:latin typeface="Inter"/>
              </a:defRPr>
            </a:pPr>
            <a: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262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$180K ACV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89204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502920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9F0"/>
                </a:solidFill>
                <a:latin typeface="Inter"/>
              </a:defRPr>
            </a:pPr>
            <a:r>
              <a:t>Full agent suite</a:t>
            </a:r>
            <a:br/>
            <a:r>
              <a:t>Voice AI + Arabic</a:t>
            </a:r>
            <a:br/>
            <a:r>
              <a:t>Custom integrations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474720"/>
            <a:ext cx="4023360" cy="32004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36118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D3D3F"/>
                </a:solidFill>
                <a:latin typeface="JetBrains Mono"/>
              </a:defRPr>
            </a:pPr>
            <a:r>
              <a:t>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93192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D97757"/>
                </a:solidFill>
                <a:latin typeface="Inter"/>
              </a:defRPr>
            </a:pPr>
            <a:r>
              <a:t>+$3–5K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0" y="41605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D3D3F"/>
                </a:solidFill>
                <a:latin typeface="Inter"/>
              </a:defRPr>
            </a:pPr>
            <a:r>
              <a:t>/agent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5262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Per additional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489204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502920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9F0"/>
                </a:solidFill>
                <a:latin typeface="Inter"/>
              </a:defRPr>
            </a:pPr>
            <a:r>
              <a:t>Add Sales, Marketing,</a:t>
            </a:r>
            <a:br/>
            <a:r>
              <a:t>or Service agents</a:t>
            </a:r>
            <a:br/>
            <a:r>
              <a:t>to existing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040880"/>
            <a:ext cx="1280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D3D3F"/>
                </a:solidFill>
                <a:latin typeface="Inter"/>
              </a:defRPr>
            </a:pPr>
            <a:r>
              <a:t>A single sales rep costs $80–120K/year. Our agents do the work of 3–5 reps at a fraction of the cost.</a:t>
            </a:r>
            <a:br/>
            <a:r>
              <a:t>Target NRR: 140%+ as customers add agents across departments.</a:t>
            </a:r>
          </a:p>
        </p:txBody>
      </p:sp>
      <p:pic>
        <p:nvPicPr>
          <p:cNvPr id="29" name="Picture 28" descr="salesteq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EEDE4"/>
                </a:solidFill>
                <a:latin typeface="Inter"/>
              </a:defRPr>
            </a:pPr>
            <a:r>
              <a:t>08</a:t>
            </a:r>
          </a:p>
        </p:txBody>
      </p:sp>
      <p:pic>
        <p:nvPicPr>
          <p:cNvPr id="3" name="Picture 2" descr="salesteq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1887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31314"/>
                </a:solidFill>
                <a:latin typeface="Inter"/>
              </a:defRPr>
            </a:pPr>
            <a:r>
              <a:t>Full-stack autonomy is the moat.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2527280" cy="77724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840480" cy="59435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9F0"/>
                </a:solidFill>
                <a:latin typeface="JetBrains Mon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120640" y="301752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9F0"/>
                </a:solidFill>
                <a:latin typeface="JetBrains Mono"/>
              </a:defRPr>
            </a:pPr>
            <a:r>
              <a:t>Full Agent</a:t>
            </a:r>
            <a:br/>
            <a:r>
              <a:t>Autonomy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301752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9F0"/>
                </a:solidFill>
                <a:latin typeface="JetBrains Mono"/>
              </a:defRPr>
            </a:pPr>
            <a:r>
              <a:t>Voice AI</a:t>
            </a:r>
            <a:br/>
            <a:r>
              <a:t>+ Arabic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1752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9F0"/>
                </a:solidFill>
                <a:latin typeface="JetBrains Mono"/>
              </a:defRPr>
            </a:pPr>
            <a:r>
              <a:t>Multi-Agent</a:t>
            </a:r>
            <a:br/>
            <a:r>
              <a:t>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301752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AF9F0"/>
                </a:solidFill>
                <a:latin typeface="JetBrains Mono"/>
              </a:defRPr>
            </a:pPr>
            <a:r>
              <a:t>Production</a:t>
            </a:r>
            <a:br/>
            <a:r>
              <a:t>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12527280" cy="777240"/>
          </a:xfrm>
          <a:prstGeom prst="rect">
            <a:avLst/>
          </a:prstGeom>
          <a:solidFill>
            <a:srgbClr val="F7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3749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57"/>
                </a:solidFill>
                <a:latin typeface="Inter"/>
              </a:defRPr>
            </a:pPr>
            <a:r>
              <a:t>Salesteq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5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379475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79475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379475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80559"/>
            <a:ext cx="12527280" cy="777240"/>
          </a:xfrm>
          <a:prstGeom prst="rect">
            <a:avLst/>
          </a:prstGeom>
          <a:solidFill>
            <a:srgbClr val="FA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3749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1314"/>
                </a:solidFill>
                <a:latin typeface="Inter"/>
              </a:defRPr>
            </a:pPr>
            <a:r>
              <a:t>11x.ai / Artisan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57199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57199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57199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457199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D3D3F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57800"/>
            <a:ext cx="12527280" cy="777240"/>
          </a:xfrm>
          <a:prstGeom prst="rect">
            <a:avLst/>
          </a:prstGeom>
          <a:solidFill>
            <a:srgbClr val="F0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94960"/>
            <a:ext cx="3749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1314"/>
                </a:solidFill>
                <a:latin typeface="Inter"/>
              </a:defRPr>
            </a:pPr>
            <a:r>
              <a:t>Salesforce / HubSpot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34924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534924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34924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5349240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035040"/>
            <a:ext cx="12527280" cy="777240"/>
          </a:xfrm>
          <a:prstGeom prst="rect">
            <a:avLst/>
          </a:prstGeom>
          <a:solidFill>
            <a:srgbClr val="FA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172200"/>
            <a:ext cx="3749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1314"/>
                </a:solidFill>
                <a:latin typeface="Inter"/>
              </a:defRPr>
            </a:pPr>
            <a:r>
              <a:t>Clay / Apollo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612647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612647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612647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12647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D3D3F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812279"/>
            <a:ext cx="12527280" cy="777240"/>
          </a:xfrm>
          <a:prstGeom prst="rect">
            <a:avLst/>
          </a:prstGeom>
          <a:solidFill>
            <a:srgbClr val="F0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6949440"/>
            <a:ext cx="3749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31314"/>
                </a:solidFill>
                <a:latin typeface="Inter"/>
              </a:defRPr>
            </a:pPr>
            <a:r>
              <a:t>Regional BPOs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690371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59" y="690371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690371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C3333"/>
                </a:solidFill>
                <a:latin typeface="Inter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903719"/>
            <a:ext cx="1737360" cy="594359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B57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7040880"/>
            <a:ext cx="12344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D3D3F"/>
                </a:solidFill>
                <a:latin typeface="Inter"/>
              </a:defRPr>
            </a:pPr>
            <a:r>
              <a:t>Point solutions (11x, Artisan) automate one function without voice or MENA presence.</a:t>
            </a:r>
            <a:br/>
            <a:r>
              <a:t>Legacy CRM augments humans but doesn't replace the work. We do both, end-to-end.</a:t>
            </a:r>
          </a:p>
        </p:txBody>
      </p:sp>
      <p:pic>
        <p:nvPicPr>
          <p:cNvPr id="44" name="Picture 43" descr="salesteq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252527"/>
                </a:solidFill>
                <a:latin typeface="Inter"/>
              </a:defRPr>
            </a:pPr>
            <a:r>
              <a:t>09</a:t>
            </a:r>
          </a:p>
        </p:txBody>
      </p:sp>
      <p:pic>
        <p:nvPicPr>
          <p:cNvPr id="3" name="Picture 2" descr="salesteq-horizont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AF9F0"/>
                </a:solidFill>
                <a:latin typeface="Inter"/>
              </a:defRPr>
            </a:pPr>
            <a:r>
              <a:t>Built to win.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D3D3F"/>
                </a:solidFill>
                <a:latin typeface="Inter"/>
              </a:defRPr>
            </a:pPr>
            <a:r>
              <a:t>Our team has built systems that scaled, replaced human effort, and ran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4023360" cy="2286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97757"/>
                </a:solidFill>
                <a:latin typeface="Inter"/>
              </a:defRPr>
            </a:pPr>
            <a:r>
              <a:t>Viktor Andreas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CEO &amp; Co-Founder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11480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3291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9F0"/>
                </a:solidFill>
                <a:latin typeface="Inter"/>
              </a:defRPr>
            </a:pPr>
            <a:r>
              <a:t>2x Founder. Scaled previous</a:t>
            </a:r>
            <a:br/>
            <a:r>
              <a:t>company to $10M revenue</a:t>
            </a:r>
            <a:br/>
            <a:r>
              <a:t>in 1 year. Commercial + product.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291840"/>
            <a:ext cx="4023360" cy="2286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4290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97757"/>
                </a:solidFill>
                <a:latin typeface="Inter"/>
              </a:defRPr>
            </a:pPr>
            <a:r>
              <a:t>Dr. Milan Jelisavcic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794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CTO &amp; Co-Founder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11480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4251960"/>
            <a:ext cx="3291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9F0"/>
                </a:solidFill>
                <a:latin typeface="Inter"/>
              </a:defRPr>
            </a:pPr>
            <a:r>
              <a:t>Invented universal transfer</a:t>
            </a:r>
            <a:br/>
            <a:r>
              <a:t>learning algorithms. PhD in</a:t>
            </a:r>
            <a:br/>
            <a:r>
              <a:t>AI/ML. Systems architect.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3291840"/>
            <a:ext cx="4023360" cy="2286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34290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97757"/>
                </a:solidFill>
                <a:latin typeface="Inter"/>
              </a:defRPr>
            </a:pPr>
            <a:r>
              <a:t>Dr. Nickolay Shmyrev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7947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Co-Founder, Speech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411480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251960"/>
            <a:ext cx="32918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9F0"/>
                </a:solidFill>
                <a:latin typeface="Inter"/>
              </a:defRPr>
            </a:pPr>
            <a:r>
              <a:t>Inventor of Vosk — the world's</a:t>
            </a:r>
            <a:br/>
            <a:r>
              <a:t>most deployed open-source</a:t>
            </a:r>
            <a:br/>
            <a:r>
              <a:t>speech recognition engine.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BOARD &amp; ADVISORS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63640"/>
            <a:ext cx="1252728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AF9F0"/>
                </a:solidFill>
                <a:latin typeface="Inter"/>
              </a:defRPr>
            </a:pPr>
            <a:r>
              <a:t>Peter David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85800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97757"/>
                </a:solidFill>
                <a:latin typeface="Inter"/>
              </a:defRPr>
            </a:pPr>
            <a:r>
              <a:t>ex-CFO Sitecore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649224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AF9F0"/>
                </a:solidFill>
                <a:latin typeface="Inter"/>
              </a:defRPr>
            </a:pPr>
            <a:r>
              <a:t>Jeroen van der Lingen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685800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97757"/>
                </a:solidFill>
                <a:latin typeface="Inter"/>
              </a:defRPr>
            </a:pPr>
            <a:r>
              <a:t>ex-CRO SAP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49224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AF9F0"/>
                </a:solidFill>
                <a:latin typeface="Inter"/>
              </a:defRPr>
            </a:pPr>
            <a:r>
              <a:t>Hans de Visser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85800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97757"/>
                </a:solidFill>
                <a:latin typeface="Inter"/>
              </a:defRPr>
            </a:pPr>
            <a:r>
              <a:t>ex-MD BMW</a:t>
            </a:r>
          </a:p>
        </p:txBody>
      </p:sp>
      <p:pic>
        <p:nvPicPr>
          <p:cNvPr id="31" name="Picture 30" descr="salesteq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2743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0" b="1">
                <a:solidFill>
                  <a:srgbClr val="EEEDE4"/>
                </a:solidFill>
                <a:latin typeface="Inter"/>
              </a:defRPr>
            </a:pPr>
            <a:r>
              <a:t>10</a:t>
            </a:r>
          </a:p>
        </p:txBody>
      </p:sp>
      <p:pic>
        <p:nvPicPr>
          <p:cNvPr id="3" name="Picture 2" descr="salesteq-horizont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7757"/>
                </a:solidFill>
                <a:latin typeface="JetBrains Mono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1887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31314"/>
                </a:solidFill>
                <a:latin typeface="Inter"/>
              </a:defRPr>
            </a:pPr>
            <a:r>
              <a:t>From 1 customer to 20.</a:t>
            </a:r>
            <a:br/>
            <a:r>
              <a:t>From $350K to $2M ARR.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125272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1272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57"/>
                </a:solidFill>
                <a:latin typeface="JetBrains Mono"/>
              </a:defRPr>
            </a:pPr>
            <a:r>
              <a:t>H1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1314"/>
                </a:solidFill>
                <a:latin typeface="Inter"/>
              </a:defRPr>
            </a:pPr>
            <a:r>
              <a:t>Productize &amp;</a:t>
            </a:r>
            <a:br/>
            <a:r>
              <a:t>replicate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029200"/>
            <a:ext cx="365760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Ship Sales + Marketing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05272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Standardize onboarding (&lt; 2 weeks)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44184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5–10 customers across 2 verticals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83096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Target: $500K ARR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0" y="31272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749039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57"/>
                </a:solidFill>
                <a:latin typeface="JetBrains Mono"/>
              </a:defRPr>
            </a:pPr>
            <a:r>
              <a:t>H2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1314"/>
                </a:solidFill>
                <a:latin typeface="Inter"/>
              </a:defRPr>
            </a:pPr>
            <a:r>
              <a:t>Scale</a:t>
            </a:r>
            <a:br/>
            <a:r>
              <a:t>autonomy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5029200"/>
            <a:ext cx="365760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516636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End-to-end autonomy, no supervision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605272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Deployment in days, not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6044184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15–20 customers, 3rd vertical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6483096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Target: $1.5M ARR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0" y="31272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749039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7757"/>
                </a:solidFill>
                <a:latin typeface="JetBrains Mono"/>
              </a:defRPr>
            </a:pPr>
            <a: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06908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31314"/>
                </a:solidFill>
                <a:latin typeface="Inter"/>
              </a:defRPr>
            </a:pPr>
            <a:r>
              <a:t>Replace revenue</a:t>
            </a:r>
            <a:br/>
            <a:r>
              <a:t>labor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5029200"/>
            <a:ext cx="365760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516636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Sales, Marketing, Service as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5605272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Customers measurably reduce headcount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6044184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Expand to US 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6483096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31314"/>
                </a:solidFill>
                <a:latin typeface="Inter"/>
              </a:defRPr>
            </a:pPr>
            <a:r>
              <a:t>—  Target: $2M+ ARR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722376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D3D3F"/>
                </a:solidFill>
                <a:latin typeface="Inter"/>
              </a:defRPr>
            </a:pPr>
            <a:r>
              <a:t>Each phase increases gross margin and reduces human involvement in delivery.</a:t>
            </a:r>
          </a:p>
        </p:txBody>
      </p:sp>
      <p:pic>
        <p:nvPicPr>
          <p:cNvPr id="33" name="Picture 32" descr="salesteq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31520" y="7955279"/>
            <a:ext cx="1097280" cy="2743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esteq-horizontal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280160" cy="2851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371600"/>
            <a:ext cx="11887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D97757"/>
                </a:solidFill>
                <a:latin typeface="Inter"/>
              </a:defRPr>
            </a:pPr>
            <a:r>
              <a:t>$3.5M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1887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AF9F0"/>
                </a:solidFill>
                <a:latin typeface="Inter"/>
              </a:defRPr>
            </a:pPr>
            <a:r>
              <a:t>Every dollar deployed to move from human-operated</a:t>
            </a:r>
            <a:br/>
            <a:r>
              <a:t>revenue to AI-operated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1252728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4023360" cy="210312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97757"/>
                </a:solidFill>
                <a:latin typeface="Inter"/>
              </a:defRPr>
            </a:pPr>
            <a:r>
              <a:t>$1.5M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02920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Ship Sales + Marketing agents</a:t>
            </a:r>
            <a:br/>
            <a:r>
              <a:t>Voice infrastructure scaling</a:t>
            </a:r>
            <a:br/>
            <a:r>
              <a:t>Rust platform hardening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4114800"/>
            <a:ext cx="4023360" cy="210312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2062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97757"/>
                </a:solidFill>
                <a:latin typeface="Inter"/>
              </a:defRPr>
            </a:pPr>
            <a:r>
              <a:t>$1.0M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GO-TO-MARKET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502920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516636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2 Account Executives (DACH + GCC)</a:t>
            </a:r>
            <a:br/>
            <a:r>
              <a:t>Customer success team</a:t>
            </a:r>
            <a:br/>
            <a:r>
              <a:t>Industry events &amp; partnerships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114800"/>
            <a:ext cx="4023360" cy="210312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420624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97757"/>
                </a:solidFill>
                <a:latin typeface="Inter"/>
              </a:defRPr>
            </a:pPr>
            <a:r>
              <a:t>$1.0M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5029200"/>
            <a:ext cx="3108960" cy="1828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516636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Infrastructure &amp; compute</a:t>
            </a:r>
            <a:br/>
            <a:r>
              <a:t>18 months runway</a:t>
            </a:r>
            <a:br/>
            <a:r>
              <a:t>Legal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D3D3F"/>
                </a:solidFill>
                <a:latin typeface="JetBrains Mono"/>
              </a:defRPr>
            </a:pPr>
            <a:r>
              <a:t>18-MONTH TARGETS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812280"/>
            <a:ext cx="12527280" cy="1371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949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452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Enterprise</a:t>
            </a:r>
            <a:br/>
            <a: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6949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$2M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7452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ARR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949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7452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Verticals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949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97757"/>
                </a:solidFill>
                <a:latin typeface="Inter"/>
              </a:defRPr>
            </a:pPr>
            <a:r>
              <a:t>&lt; 2 wk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7452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9F0"/>
                </a:solidFill>
                <a:latin typeface="Inter"/>
              </a:defRPr>
            </a:pPr>
            <a:r>
              <a:t>Onboarding</a:t>
            </a:r>
            <a:br/>
            <a:r>
              <a:t>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790956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D3D3F"/>
                </a:solidFill>
                <a:latin typeface="JetBrains Mono"/>
              </a:defRPr>
            </a:pPr>
            <a:r>
              <a:t>viktor@salesteq.com</a:t>
            </a:r>
          </a:p>
        </p:txBody>
      </p:sp>
      <p:pic>
        <p:nvPicPr>
          <p:cNvPr id="33" name="Picture 32" descr="salesteq-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0" y="74066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