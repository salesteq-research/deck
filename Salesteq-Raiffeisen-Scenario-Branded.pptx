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AF9F0"/>
                </a:solidFill>
                <a:latin typeface="Inter"/>
              </a:defRPr>
            </a:pPr>
            <a:r>
              <a:t>Salesteq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3716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SALESTEQ × RAIFFEISEN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5200" b="1">
                <a:solidFill>
                  <a:srgbClr val="FAF9F0"/>
                </a:solidFill>
                <a:latin typeface="Inter"/>
              </a:defRPr>
            </a:pPr>
            <a:r>
              <a:t>Test and Learn</a:t>
            </a:r>
            <a:br/>
            <a:r>
              <a:t>mit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3D3D3F"/>
                </a:solidFill>
                <a:latin typeface="Inter"/>
              </a:defRPr>
            </a:pPr>
            <a:r>
              <a:t>Wie AI den Vertrieb bei Raiffeisen unterstützen könnte.</a:t>
            </a:r>
            <a:br/>
            <a:r>
              <a:t>Kein fertiger Plan — ein Gedankenanstoss.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Ivo Schneider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Leiter Vertrieb, Raiffeisen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Viktor Andreas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Gründer &amp; CEO, Salesteq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521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FAF9F0"/>
                </a:solidFill>
                <a:latin typeface="Inter"/>
              </a:defRPr>
            </a:pPr>
            <a:r>
              <a:t>März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3D3D3F"/>
                </a:solidFill>
                <a:latin typeface="JetBrains Mono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AI kann den Vertrieb stärken —</a:t>
            </a:r>
            <a:br/>
            <a:r>
              <a:t>ohne IT-Projekt, ohne Risiko.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316736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2A2A"/>
                </a:solidFill>
                <a:latin typeface="Inter"/>
              </a:defRPr>
            </a:pPr>
            <a:r>
              <a:t>Raiffeisen investiert bereits in AI (Meeting-Vorbereitung, Chatbot Tina). Die nächste Welle — proaktive Kundenansprache, Berater-Training, Cross-Selling-Intelligenz — erfordert keine grossen IT-Projekte. Sie erfordert einen Partner mit Produktionserfahrung.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VIER SZENARIEN ZUR DISKUSSION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08960"/>
            <a:ext cx="3154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3154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Training &amp;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611880"/>
            <a:ext cx="2788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Berater schneller produktiv machen.</a:t>
            </a:r>
            <a:br/>
            <a:r>
              <a:t>AI als Sparringspartner für Produkt-</a:t>
            </a:r>
            <a:br/>
            <a:r>
              <a:t>und Beratungswissen. SAQ-Vorbereitung.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9080" y="3108960"/>
            <a:ext cx="3154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9080" y="3108960"/>
            <a:ext cx="3154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3246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611880"/>
            <a:ext cx="2788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37033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Trigger-basierte Ansprache bei Zins-</a:t>
            </a:r>
            <a:br/>
            <a:r>
              <a:t>änderungen, Ablauf Festhypothek,</a:t>
            </a:r>
            <a:br/>
            <a:r>
              <a:t>Lebensereignissen. RM gibt frei.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3108960"/>
            <a:ext cx="3154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108960"/>
            <a:ext cx="3154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3246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Produktwissen &amp; Qualität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19" y="3611880"/>
            <a:ext cx="2788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19" y="37033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Einheitliches, aktuelles Produktwissen</a:t>
            </a:r>
            <a:br/>
            <a:r>
              <a:t>über alle 212 Banken. In Echtzeit,</a:t>
            </a:r>
            <a:br/>
            <a:r>
              <a:t>drei Sprachen, audit-fähig.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44200" y="3108960"/>
            <a:ext cx="3154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0" y="3108960"/>
            <a:ext cx="3154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27080" y="3246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Erster Kundenkontakt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27080" y="3611880"/>
            <a:ext cx="2788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27080" y="37033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Routineanfragen automatisch beantwortet —</a:t>
            </a:r>
            <a:br/>
            <a:r>
              <a:t>Chat und Telefon, DE/FR/IT.</a:t>
            </a:r>
            <a:br/>
            <a:r>
              <a:t>Berater-Kapazität freisetzen.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943600"/>
            <a:ext cx="131673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60167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D8A4E"/>
                </a:solidFill>
                <a:latin typeface="Inter"/>
              </a:defRPr>
            </a:pPr>
            <a:r>
              <a:t>✓  Kein IT-Projekt nötig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60167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D8A4E"/>
                </a:solidFill>
                <a:latin typeface="Inter"/>
              </a:defRPr>
            </a:pPr>
            <a:r>
              <a:t>✓  Kein Kernbanksystem-Zugang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60167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D8A4E"/>
                </a:solidFill>
                <a:latin typeface="Inter"/>
              </a:defRPr>
            </a:pPr>
            <a:r>
              <a:t>✓  Kein grosses Budget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0167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D8A4E"/>
                </a:solidFill>
                <a:latin typeface="Inter"/>
              </a:defRPr>
            </a:pPr>
            <a:r>
              <a:t>✓  Ergebnisse in Wochen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6675120"/>
            <a:ext cx="13167360" cy="45720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72084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A2A2A"/>
                </a:solidFill>
                <a:latin typeface="Inter"/>
              </a:defRPr>
            </a:pPr>
            <a:r>
              <a:t>Dieses Vorgehen hat sich bewährt: Mit Allianz Suisse haben wir einen identischen Test-and-Learn-Ansatz erfolgreich umgesetzt.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AI im Vertrieb: Das Gesamtbild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4114800" cy="50292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Was viele Banken heute tun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Meeting-Vorbereitung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Kundendossiers automatisch zusammengestellt</a:t>
            </a:r>
            <a:br/>
            <a:r>
              <a:t>(Copilot, interne Prototypen).</a:t>
            </a:r>
            <a:br/>
            <a:r>
              <a:t>Raiffeisen arbeitet hier bereits.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Chatbots für FAQ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Einfache Fragen auf der Website beantwortet</a:t>
            </a:r>
            <a:br/>
            <a:r>
              <a:t>(Raiffeisen: «Tina» via Rasa).</a:t>
            </a:r>
            <a:br/>
            <a:r>
              <a:t>Begrenzt auf Q&amp;A.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Dokumenten-Analyse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KYC, Compliance-Prüfung, Vertragserkennung.</a:t>
            </a:r>
            <a:br/>
            <a:r>
              <a:t>Meist Backoffice-getrieben.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1965960"/>
            <a:ext cx="4114800" cy="50292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Wo der Vorsprung entsteht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erkennt Trigger und bereitet personalisierte</a:t>
            </a:r>
            <a:br/>
            <a:r>
              <a:t>Ansprache vor — RM gibt frei.</a:t>
            </a:r>
            <a:br/>
            <a:r>
              <a:t>Systematisch statt zufällig.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Training &amp; Produktwissen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als Sparringspartner für Berater.</a:t>
            </a:r>
            <a:br/>
            <a:r>
              <a:t>Übt Gespräche, testet Wissen,</a:t>
            </a:r>
            <a:br/>
            <a:r>
              <a:t>skaliert über 212 Banken.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Cross-Selling-Intelligenz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Portfolio-Analyse gegen Produktangebot.</a:t>
            </a:r>
            <a:br/>
            <a:r>
              <a:t>Erkennt Lücken und schlägt dem RM</a:t>
            </a:r>
            <a:br/>
            <a:r>
              <a:t>die nächstbeste Aktion vor.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1828800"/>
            <a:ext cx="4389120" cy="5669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75520" y="182880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12680" y="1965960"/>
            <a:ext cx="4114800" cy="50292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93392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D97757"/>
                </a:solidFill>
                <a:latin typeface="JetBrains Mono"/>
              </a:defRPr>
            </a:pPr>
            <a:r>
              <a:t>ZUKUNFT (2–3 JAHRE)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Was Standard sein wird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Voice AI im Kundenkontakt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286207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04120" y="295351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Nahtlose Übergabe an den Berater.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41605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Autonome Kampagnen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41655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20" y="450799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AI plant und führt personalisierte</a:t>
            </a:r>
            <a:br/>
            <a:r>
              <a:t>Kampagnen durch — mit menschlicher</a:t>
            </a:r>
            <a:br/>
            <a:r>
              <a:t>Aufsicht und Freigabe.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57150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RM-Copilot im Gespräch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971032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6062472"/>
            <a:ext cx="3931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Echtzeit-Unterstützung während der</a:t>
            </a:r>
            <a:br/>
            <a:r>
              <a:t>Beratung: Produktvorschläge, regulatorische</a:t>
            </a:r>
            <a:br/>
            <a:r>
              <a:t>Hinweise, Next-Best-Action.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7543800"/>
            <a:ext cx="13167360" cy="18288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754380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AF9F0"/>
                </a:solidFill>
                <a:latin typeface="Inter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SZENARIEN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Vier Szenarien für den Vertrieb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Jedes Szenario steht für sich. Wir empfehlen, mit einem zu beginnen — welches, entscheiden Sie.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Training &amp; Onboarding neuer Berater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28600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Das «Neustart»-Programm bildet Quereinsteiger in 12–24 Monaten zum Kundenberater aus. AI kann diesen Prozess beschleunigen: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AI-Sparringspartner für Produktwissen (Hypotheken, Vorsorge, Anlagen)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Simulierte Kundensituationen mit strukturiertem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Neue RMs schneller produktiv, SAQ-Zertifizierung besser vorbereitet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84048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Einarbeitungszeit verkürzen, Qualität sichern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82880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182880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659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9339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28600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3774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Bei Zinssenkungen, Lebensereignissen oder Marktveränderungen: AI identifiziert betroffene Kunden und bereitet die Ansprache vor.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8346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Personalisierte Nachrichten (DE/FR/IT), dem RM zur Freigabe vorgelegt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546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Trigger-basiert: Zinsänderungen, Ablauf Festhypothek, Pensionierung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Systematische Betreuung — auch für das lange Ende des Kundenstamms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384048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387705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Cross-Selling-Potenzial systematisch nutzen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Produktwissen &amp; Beratungsqualität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30352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212 Banken, tausende Berater, laufend neue Produkte und regulatorische Änderungen. Wissen konsistent zu halten ist eine Herausforderung.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AI beantwortet Produktfragen in Echtzeit — Hypotheken, Vorsorge, Anlagen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Immer aktuell: neue Konditionen, FINMA, nDSG automatisch integriert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Internes Nachschlagewerk in natürlicher Sprache, drei Sprachen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685800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Beratungsqualität über alle 212 Banken sichern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4846320"/>
            <a:ext cx="658368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89520" y="4846320"/>
            <a:ext cx="658368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4983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D97757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010912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Erster Kundenkontakt (Website &amp; Telefon)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0" y="5303520"/>
            <a:ext cx="6217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53949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B6B6B"/>
                </a:solidFill>
                <a:latin typeface="Inter"/>
              </a:defRPr>
            </a:pPr>
            <a:r>
              <a:t>Routineanfragen binden Beraterkapazität. AI kann den ersten Kontakt übernehmen und qualifiziert weiterleiten.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58521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Konto, Karten, Zinsen, Öffnungszeiten — automatisch, in drei Sprachen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617220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Komplexe Anliegen erkannt und an den richtigen RM weitergeleitet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9224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2A2A2A"/>
                </a:solidFill>
                <a:latin typeface="Inter"/>
              </a:defRPr>
            </a:pPr>
            <a:r>
              <a:t>→  Eigene Sprach-Engine: auch per Telefon, nicht nur Chat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26680" y="6858000"/>
            <a:ext cx="630936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6894576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RM-Kapazität für echte Beratung freisetzen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AI als Sparringspartner für Kundenberater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12–24 Monate Einarbeitung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Das «Neustart»-Quereinsteigerprogramm dauert 12–24 Monate.</a:t>
            </a:r>
            <a:br/>
            <a:r>
              <a:t>In dieser Zeit ist ein RM noch nicht voll produktiv —</a:t>
            </a:r>
            <a:br/>
            <a:r>
              <a:t>aber die Filiale trägt bereits die Kosten.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Produktkomplexität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Hypotheken (SARON, Festhypothek), Vorsorge (3a, 3b,</a:t>
            </a:r>
            <a:br/>
            <a:r>
              <a:t>Pensionskasse, Freizügigkeit), Anlagen (Fonds, ETF,</a:t>
            </a:r>
            <a:br/>
            <a:r>
              <a:t>Vermögensverwaltung) — alles muss sitzen. SAQ-Zertifizierung.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212 Banken, uneinheitlich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alle gleichzeitig.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Übungsgespräche mit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RMs üben Beratungsgespräche mit einem AI-Kunden:</a:t>
            </a:r>
            <a:br/>
            <a:r>
              <a:t>Hypothekenberatung, Vorsorgeplanung, Reklamation.</a:t>
            </a:r>
            <a:br/>
            <a:r>
              <a:t>Strukturiertes Feedback nach jedem Gespräch.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«Was ist der Unterschied zwischen SARON und Festhypothek</a:t>
            </a:r>
            <a:br/>
            <a:r>
              <a:t>bei aktueller Zinslage?» — AI beantwortet Produktfragen</a:t>
            </a:r>
            <a:br/>
            <a:r>
              <a:t>sofort, mit aktuellen Konditionen.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Konsistenz über alle Banken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Dieselbe Wissensquelle für alle 212 Banken. Neue Produkte,</a:t>
            </a:r>
            <a:br/>
            <a:r>
              <a:t>Konditionsänderungen, regulatorische Updates — einmal</a:t>
            </a:r>
            <a:br/>
            <a:r>
              <a:t>gepflegt, überall verfügbar. Skaliert ohne Trainer.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Proaktive Ansprache statt verpasste Gelegenheiten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Jede Zinssenkung, jeder Hypothekenablauf, jede Pensionierung ist ein Beratungsanlass — aber nur wenn er erkannt und genutzt wird.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Trigger werden nicht erkannt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Zinssenkungen betreffen hunderte Kunden gleichzeitig.</a:t>
            </a:r>
            <a:br/>
            <a:r>
              <a:t>Ablaufende Festhypotheken, Pensionierungen in 5 Jahren —</a:t>
            </a:r>
            <a:br/>
            <a:r>
              <a:t>die Daten existieren, aber niemand handelt systematisch.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Ansprache ist zeitintensiv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personalisierte Nachricht erfordert Recherche:</a:t>
            </a:r>
            <a:br/>
            <a:r>
              <a:t>Welches Produkt? Letzte Interaktion? Welche Sprache?</a:t>
            </a:r>
            <a:br/>
            <a:r>
              <a:t>Ein RM schafft 5–10 pro Tag — es bräuchte 50.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Das lange Ende wird vernachlässigt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Die Top-Kunden werden betreut. Aber die 80% darunter —</a:t>
            </a:r>
            <a:br/>
            <a:r>
              <a:t>solide Kunden mit Cross-Selling-Potenzial — bekommen</a:t>
            </a:r>
            <a:br/>
            <a:r>
              <a:t>nur Kontakt, wenn sie selbst anrufen.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Trigger-basierte Erkennung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AI überwacht Ereignisse: SNB-Zinsänderung, Ablauf</a:t>
            </a:r>
            <a:br/>
            <a:r>
              <a:t>Festhypothek in 6 Monaten, Kunde wird 60. Erstellt</a:t>
            </a:r>
            <a:br/>
            <a:r>
              <a:t>automatisch eine priorisierte Kontaktliste.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Personalisierte Entwürfe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Für jeden Kunden ein vorformulierter Entwurf — in der</a:t>
            </a:r>
            <a:br/>
            <a:r>
              <a:t>richtigen Sprache (DE/FR/IT), mit Kontext. «Ihr Festzins</a:t>
            </a:r>
            <a:br/>
            <a:r>
              <a:t>läuft im September ab...» RM gibt frei.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Skalierung ohne Qualitätsverlust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Statt 5 Anrufe pro Tag: 50 personalisierte Nachrichten,</a:t>
            </a:r>
            <a:br/>
            <a:r>
              <a:t>alle vom RM freigegeben. Kein Massenversand —</a:t>
            </a:r>
            <a:br/>
            <a:r>
              <a:t>individuelle Ansprache. Auch für das «lange Ende».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McKinsey: Agentic AI im Banking-Vertrieb steigert den Umsatz pro RM um 3–15% und erhöht Kundengespräche um ~40%.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Einheitliches Produktwissen für 212 Banken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Laufend neue Produkte, Konditionsänderungen, regulatorische Updates — wie bleibt jeder Berater aktuell?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Wissen veraltet schnell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Hypothekenmodelle, geänderte 3a-Maximalbeträge,</a:t>
            </a:r>
            <a:br/>
            <a:r>
              <a:t>FINMA-Auflagen, nDSG-Anforderungen — Schulungen</a:t>
            </a:r>
            <a:br/>
            <a:r>
              <a:t>erreichen nicht alle gleichzeitig.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Dezentrale 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212 selbstständige Genossenschaftsbanken bedeuten</a:t>
            </a:r>
            <a:br/>
            <a:r>
              <a:t>212 unterschiedliche Wissensstände. Was in St. Gallen</a:t>
            </a:r>
            <a:br/>
            <a:r>
              <a:t>bekannt ist, muss in Winterthur nicht angekommen sein.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Kosten der Inkonsistenz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Ein Berater, der veraltete Konditionen nennt oder ein</a:t>
            </a:r>
            <a:br/>
            <a:r>
              <a:t>Produkt nicht kennt, verliert Vertrauen. Im schlimmsten</a:t>
            </a:r>
            <a:br/>
            <a:r>
              <a:t>Fall: Compliance-Risiko durch falsche Beratung.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AI-Wissensbasis in Echtzeit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Ein interner AI-Assistent, der alle Produktdokumente</a:t>
            </a:r>
            <a:br/>
            <a:r>
              <a:t>und Konditionen kennt. Berater fragen in natürlicher</a:t>
            </a:r>
            <a:br/>
            <a:r>
              <a:t>Sprache: «Welche Vorsorge-Optionen hat ein 55-Jähriger?»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Immer aktuell, automatisch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Neue Konditionen oder regulatorische Änderungen werden</a:t>
            </a:r>
            <a:br/>
            <a:r>
              <a:t>eingepflegt und sind sofort für alle 212 Banken verfügbar.</a:t>
            </a:r>
            <a:br/>
            <a:r>
              <a:t>Kein Schulungsrundlauf, kein veraltetes PDF.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Nachvollziehbar &amp; zitierfähig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Antwort mit Quellenangabe — Berater kann prüfen,</a:t>
            </a:r>
            <a:br/>
            <a:r>
              <a:t>woher die Information stammt. Keine Blackbox.</a:t>
            </a:r>
            <a:br/>
            <a:r>
              <a:t>Audit-fähig für Compliance-Prüfungen. DE/FR/IT.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Einheitliches Produktwissen reduziert Beratungsfehler, stärkt das Kundenvertrauen und senkt Compliance-Risiken.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USE CASE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Erster Kundenkontakt: Chat und Telefon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Routineanfragen binden Beraterkapazität. AI übernimmt den ersten Kontakt und leitet qualifiziert weiter.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HERAUSFORDERUNG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Verpasste Anrufe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Während ein RM berät, klingelt das Telefon. Kontoeröffnung,</a:t>
            </a:r>
            <a:br/>
            <a:r>
              <a:t>Kartensperrung, Zinskonditionen — Routinefragen, die sofort</a:t>
            </a:r>
            <a:br/>
            <a:r>
              <a:t>beantwortet werden könnten.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Tina reicht nicht mehr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Der bestehende Chatbot (Rasa) beantwortet einfache FAQ.</a:t>
            </a:r>
            <a:br/>
            <a:r>
              <a:t>Aber: keine echte Konversation, kein Sprachverständnis,</a:t>
            </a:r>
            <a:br/>
            <a:r>
              <a:t>keine qualifizierte Weiterleitung, kein Telefon.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Drei Sprachen, 896 Standorte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Jede Filiale bedient DE-, FR- oder IT-sprachige Kunden.</a:t>
            </a:r>
            <a:br/>
            <a:r>
              <a:t>Ein AI-Agent muss alle drei Sprachen fliessend beherrschen —</a:t>
            </a:r>
            <a:br/>
            <a:r>
              <a:t>im Chat und am Telefon.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5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37744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Intelligenter Erstkontakt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432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AI beantwortet Routineanfragen auf der Website. Erkennt,</a:t>
            </a:r>
            <a:br/>
            <a:r>
              <a:t>wenn ein Anliegen komplex wird (Hypothek, Vorsorge)</a:t>
            </a:r>
            <a:br/>
            <a:r>
              <a:t>und leitet an den richtigen RM weiter.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393192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023359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Eigene Voice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29768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Salesteq hat eine eigene Sprach-Engine (nicht ElevenLabs/</a:t>
            </a:r>
            <a:br/>
            <a:r>
              <a:t>Deepgram). Läuft in Produktion: Arabische Dialekte für</a:t>
            </a:r>
            <a:br/>
            <a:r>
              <a:t>BMW/Naghi. DE/FR/IT ist technisch gelöst.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5486400"/>
            <a:ext cx="6400800" cy="1371600"/>
          </a:xfrm>
          <a:prstGeom prst="rect">
            <a:avLst/>
          </a:prstGeom>
          <a:solidFill>
            <a:srgbClr val="F3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557784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Qualifizierte Weiterleitung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85216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Der AI-Agent sammelt Kontext (Name, Anliegen, Sprache,</a:t>
            </a:r>
            <a:br/>
            <a:r>
              <a:t>Dringlichkeit) und übergibt an den Berater — mit</a:t>
            </a:r>
            <a:br/>
            <a:r>
              <a:t>Zusammenfassung. Der RM startet informiert.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7178040"/>
            <a:ext cx="13167360" cy="45720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7242048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Chatbot Tina sparte 10'000 Anrufe in 6 Monaten. Ein AI-Agent mit Voice und Konversationsfähigkeit kann das verzehnfachen.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Klein anfangen. Gemeinsam lernen.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Inter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6400800" cy="32004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2D8A4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Einen Ansprechpartner im Vertrieb (kein IT-Team nötig)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Bereitschaft, ein kleines Experiment zu starten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920240"/>
            <a:ext cx="64008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920240"/>
            <a:ext cx="6400800" cy="320040"/>
          </a:xfrm>
          <a:prstGeom prst="rect">
            <a:avLst/>
          </a:prstGeom>
          <a:solidFill>
            <a:srgbClr val="F7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965960"/>
            <a:ext cx="6035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B84A4A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331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 grosses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69747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 grosses IT-Involvement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6323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Keine langfristigen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90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A2A2A"/>
                </a:solidFill>
                <a:latin typeface="Inter"/>
              </a:defRPr>
            </a:pPr>
            <a:r>
              <a:t>·  Keinen Zugang zu Kernbanksystemen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Big Picture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Gemeinsam erarbeiten:</a:t>
            </a:r>
            <a:br/>
            <a:r>
              <a:t>«Zukunft des Vertriebs mit AI.»</a:t>
            </a:r>
            <a:br/>
            <a:r>
              <a:t>Wo liegt das grösste Potenzial?</a:t>
            </a:r>
            <a:br/>
            <a:r>
              <a:t>Welcher Use Case zuerst?</a:t>
            </a:r>
            <a:br/>
            <a:br/>
            <a:r>
              <a:t>Ein halber Tag Workshop.</a:t>
            </a:r>
            <a:br/>
            <a:r>
              <a:t>Ergebnis: priorisierte Szenarien.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Konkreter Use Case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Ausarbeitung eines Szenarios</a:t>
            </a:r>
            <a:br/>
            <a:r>
              <a:t>für eine Raiffeisenbank.</a:t>
            </a:r>
            <a:br/>
            <a:r>
              <a:t>Z.B. Training-Sparringspartner</a:t>
            </a:r>
            <a:br/>
            <a:r>
              <a:t>oder proaktive Kundenansprache.</a:t>
            </a:r>
            <a:br/>
            <a:br/>
            <a:r>
              <a:t>Funktionierender Prototyp,</a:t>
            </a:r>
            <a:br/>
            <a:r>
              <a:t>keine Slides.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3–8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0" y="4297680"/>
            <a:ext cx="438912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4297680"/>
            <a:ext cx="438912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0">
                <a:solidFill>
                  <a:srgbClr val="D9775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31314"/>
                </a:solidFill>
                <a:latin typeface="Inter"/>
              </a:defRPr>
            </a:pPr>
            <a:r>
              <a:t>Entscheiden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04120" y="5212080"/>
            <a:ext cx="39319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4120" y="53035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Ergebnisse gemeinsam bewerten.</a:t>
            </a:r>
            <a:br/>
            <a:r>
              <a:t>Feedback der Berater einholen.</a:t>
            </a:r>
            <a:br/>
            <a:br/>
            <a:r>
              <a:t>Wenn es funktioniert: skalieren.</a:t>
            </a:r>
            <a:br/>
            <a:r>
              <a:t>Wenn nicht: kein Schaden,</a:t>
            </a:r>
            <a:br/>
            <a:r>
              <a:t>viel gelernt.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7086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Woche 9–12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31314"/>
                </a:solidFill>
                <a:latin typeface="Inter"/>
              </a:defRPr>
            </a:pPr>
            <a:r>
              <a:t>Warum Salesteq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2286000" cy="381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316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Inter"/>
              </a:defRPr>
            </a:pPr>
            <a:r>
              <a:t>Austausch vom März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Im Gespräch mit Ivo Schneider und Lukas Seger wurde vereinbart, ein einfaches Szenario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6B6B6B"/>
                </a:solidFill>
                <a:latin typeface="Inter"/>
              </a:defRPr>
            </a:pPr>
            <a:r>
              <a:t>vorzubereiten — basierend auf dem Ansatz bei Allianz Suisse.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1261872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280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31314"/>
                </a:solidFill>
                <a:latin typeface="Inter"/>
              </a:defRPr>
            </a:pPr>
            <a:r>
              <a:t>Vorgehen in 3 Schritten: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1: Big Picture — «Zukunft des Vertriebs mit AI bei Raiffeisen»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Was Salesteq mitbringt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31920"/>
            <a:ext cx="603504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Mandantenfähig: 212 Banken = 212 isolierte Mandanten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5955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566160"/>
            <a:ext cx="6400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66160"/>
            <a:ext cx="6400800" cy="36576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657600"/>
            <a:ext cx="6035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31314"/>
                </a:solidFill>
                <a:latin typeface="Inter"/>
              </a:defRPr>
            </a:pPr>
            <a:r>
              <a:t>Was Salesteq nicht 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931920"/>
            <a:ext cx="6035040" cy="12700"/>
          </a:xfrm>
          <a:prstGeom prst="rect">
            <a:avLst/>
          </a:prstGeom>
          <a:solidFill>
            <a:srgbClr val="E8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0233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CRM-Ersatz (BSI, Salesforce bleiben bestehen)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407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Copilot-Konkurrent (ergänzt, ersetzt nicht)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14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 fertiges Bankenprodukt (wir bauen gemeinsam)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17550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A2A2A"/>
                </a:solidFill>
                <a:latin typeface="Inter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675120"/>
            <a:ext cx="13167360" cy="1005840"/>
          </a:xfrm>
          <a:prstGeom prst="rect">
            <a:avLst/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67665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AF9F0"/>
                </a:solidFill>
                <a:latin typeface="Inter"/>
              </a:defRPr>
            </a:pPr>
            <a:r>
              <a:t>Kein Druck, keine Eile.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7086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Wenn das Szenario Sinn macht, finden wir den richtigen Anfang.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36092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3D3D3F"/>
                </a:solidFill>
                <a:latin typeface="Inter"/>
              </a:defRPr>
            </a:pPr>
            <a:r>
              <a:t>Wenn nicht, war es ein gutes Gespräch.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812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3D3D3F"/>
                </a:solidFill>
                <a:latin typeface="Inter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7818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999999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