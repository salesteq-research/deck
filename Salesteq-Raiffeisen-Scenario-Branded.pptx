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3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200" b="1">
                <a:solidFill>
                  <a:srgbClr val="FAF9F0"/>
                </a:solidFill>
                <a:latin typeface="Space Grotesk"/>
              </a:defRPr>
            </a:pPr>
            <a:r>
              <a:t>Salesteq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3810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D97757"/>
                </a:solidFill>
                <a:latin typeface="JetBrains Mono"/>
              </a:defRPr>
            </a:pPr>
            <a:r>
              <a:t>SALESTEQ × RAIFFEISEN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5200" b="1">
                <a:solidFill>
                  <a:srgbClr val="FAF9F0"/>
                </a:solidFill>
                <a:latin typeface="Space Grotesk"/>
              </a:defRPr>
            </a:pPr>
            <a:r>
              <a:t>Test and Learn</a:t>
            </a:r>
            <a:br/>
            <a:r>
              <a:t>mit AI.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3D3D3F"/>
                </a:solidFill>
                <a:latin typeface="Space Grotesk"/>
              </a:defRPr>
            </a:pPr>
            <a:r>
              <a:t>Wie AI den Vertrieb bei Raiffeisen unterstützen könnte.</a:t>
            </a:r>
            <a:br/>
            <a:r>
              <a:t>Kein fertiger Plan — ein Gedankenanstoss.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85216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00" b="0">
                <a:solidFill>
                  <a:srgbClr val="3D3D3F"/>
                </a:solidFill>
                <a:latin typeface="JetBrains Mono"/>
              </a:defRPr>
            </a:pPr>
            <a:r>
              <a:t>VORBEREITET FÜR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080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FAF9F0"/>
                </a:solidFill>
                <a:latin typeface="Space Grotesk"/>
              </a:defRPr>
            </a:pPr>
            <a:r>
              <a:t>Ivo Schneider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0080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3D3D3F"/>
                </a:solidFill>
                <a:latin typeface="Space Grotesk"/>
              </a:defRPr>
            </a:pPr>
            <a:r>
              <a:t>Leiter Vertrieb, Raiffeisen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585216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00" b="0">
                <a:solidFill>
                  <a:srgbClr val="3D3D3F"/>
                </a:solidFill>
                <a:latin typeface="JetBrains Mono"/>
              </a:defRPr>
            </a:pPr>
            <a:r>
              <a:t>VON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080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FAF9F0"/>
                </a:solidFill>
                <a:latin typeface="Space Grotesk"/>
              </a:defRPr>
            </a:pPr>
            <a:r>
              <a:t>Viktor Andreas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0080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3D3D3F"/>
                </a:solidFill>
                <a:latin typeface="Space Grotesk"/>
              </a:defRPr>
            </a:pPr>
            <a:r>
              <a:t>Gründer &amp; CEO, Salesteq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585216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00" b="0">
                <a:solidFill>
                  <a:srgbClr val="3D3D3F"/>
                </a:solidFill>
                <a:latin typeface="JetBrains Mono"/>
              </a:defRPr>
            </a:pPr>
            <a:r>
              <a:t>DATUM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6080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FAF9F0"/>
                </a:solidFill>
                <a:latin typeface="Space Grotesk"/>
              </a:defRPr>
            </a:pPr>
            <a:r>
              <a:t>März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78181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00" b="0">
                <a:solidFill>
                  <a:srgbClr val="3D3D3F"/>
                </a:solidFill>
                <a:latin typeface="JetBrains Mono"/>
              </a:defRPr>
            </a:pPr>
            <a:r>
              <a:t>Vertraulich  ·  Salesteq × Raiffeisen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0" y="78181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800" b="0">
                <a:solidFill>
                  <a:srgbClr val="3D3D3F"/>
                </a:solidFill>
                <a:latin typeface="JetBrains Mono"/>
              </a:defRPr>
            </a:pPr>
            <a:r>
              <a:t>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D97757"/>
                </a:solidFill>
                <a:latin typeface="JetBrains Mono"/>
              </a:defRPr>
            </a:pPr>
            <a:r>
              <a:t>ZUSAMMENFASSUNG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800" b="1">
                <a:solidFill>
                  <a:srgbClr val="131314"/>
                </a:solidFill>
                <a:latin typeface="Space Grotesk"/>
              </a:defRPr>
            </a:pPr>
            <a:r>
              <a:t>Gemeinsam herausfinden, was AI</a:t>
            </a:r>
            <a:br/>
            <a:r>
              <a:t>für den Vertrieb bei Raiffeisen bedeutet.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2286000" cy="3810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1316736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74519"/>
            <a:ext cx="12801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20"/>
              </a:lnSpc>
              <a:spcAft>
                <a:spcPts val="200"/>
              </a:spcAft>
              <a:defRPr sz="1200" b="0">
                <a:solidFill>
                  <a:srgbClr val="2A2A2A"/>
                </a:solidFill>
                <a:latin typeface="Space Grotesk"/>
              </a:defRPr>
            </a:pPr>
            <a:r>
              <a:t>Raiffeisen investiert bereits in AI (Meeting-Vorbereitung, Chatbot Tina). Die Frage ist nicht ob,</a:t>
            </a:r>
          </a:p>
          <a:p>
            <a:pPr algn="l">
              <a:lnSpc>
                <a:spcPts val="1620"/>
              </a:lnSpc>
              <a:spcAft>
                <a:spcPts val="200"/>
              </a:spcAft>
              <a:defRPr sz="1200" b="1">
                <a:solidFill>
                  <a:srgbClr val="2A2A2A"/>
                </a:solidFill>
                <a:latin typeface="Space Grotesk"/>
              </a:defRPr>
            </a:pPr>
            <a:r>
              <a:t>sondern wo und wie AI im Vertrieb den grössten Hebel hat.</a:t>
            </a:r>
          </a:p>
          <a:p>
            <a:pPr algn="l">
              <a:lnSpc>
                <a:spcPts val="810"/>
              </a:lnSpc>
              <a:spcAft>
                <a:spcPts val="200"/>
              </a:spcAft>
              <a:defRPr sz="600" b="0">
                <a:solidFill>
                  <a:srgbClr val="2A2A2A"/>
                </a:solidFill>
                <a:latin typeface="Space Grotesk"/>
              </a:defRPr>
            </a:pPr>
          </a:p>
          <a:p>
            <a:pPr algn="l">
              <a:lnSpc>
                <a:spcPts val="1620"/>
              </a:lnSpc>
              <a:spcAft>
                <a:spcPts val="200"/>
              </a:spcAft>
              <a:defRPr sz="1200" b="0">
                <a:solidFill>
                  <a:srgbClr val="2A2A2A"/>
                </a:solidFill>
                <a:latin typeface="Space Grotesk"/>
              </a:defRPr>
            </a:pPr>
            <a:r>
              <a:t>Wir schlagen vor, das gemeinsam zu erkunden — nicht mit einem fertigen Produktangebot, sondern</a:t>
            </a:r>
          </a:p>
          <a:p>
            <a:pPr algn="l">
              <a:lnSpc>
                <a:spcPts val="1620"/>
              </a:lnSpc>
              <a:spcAft>
                <a:spcPts val="200"/>
              </a:spcAft>
              <a:defRPr sz="1200" b="0">
                <a:solidFill>
                  <a:srgbClr val="2A2A2A"/>
                </a:solidFill>
                <a:latin typeface="Space Grotesk"/>
              </a:defRPr>
            </a:pPr>
            <a:r>
              <a:t>als Sparringspartner mit Produktionserfahrung. So haben wir auch mit Allianz Suisse begonnen.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0896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D97757"/>
                </a:solidFill>
                <a:latin typeface="JetBrains Mono"/>
              </a:defRPr>
            </a:pPr>
            <a:r>
              <a:t>WAS WIR GEMEINSAM ERKUNDEN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383280"/>
            <a:ext cx="7772400" cy="3291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3383280"/>
            <a:ext cx="7772400" cy="36576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2044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131314"/>
                </a:solidFill>
                <a:latin typeface="Space Grotesk"/>
              </a:defRPr>
            </a:pPr>
            <a:r>
              <a:t>Vertriebsprozess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3520440"/>
            <a:ext cx="5760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6B6B6B"/>
                </a:solidFill>
                <a:latin typeface="Space Grotesk"/>
              </a:defRPr>
            </a:pPr>
            <a:r>
              <a:t>Wo im Alltag eines Kundenberaters — von der</a:t>
            </a:r>
            <a:br/>
            <a:r>
              <a:t>Vorbereitung bis zur Nachbetreuung — kann AI</a:t>
            </a:r>
            <a:br/>
            <a:r>
              <a:t>die grösste Wirkung entfalten?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29768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131314"/>
                </a:solidFill>
                <a:latin typeface="Space Grotesk"/>
              </a:defRPr>
            </a:pPr>
            <a:r>
              <a:t>Kundenprozess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4297680"/>
            <a:ext cx="5760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6B6B6B"/>
                </a:solidFill>
                <a:latin typeface="Space Grotesk"/>
              </a:defRPr>
            </a:pPr>
            <a:r>
              <a:t>An welchen Kontaktpunkten mit dem Kunden —</a:t>
            </a:r>
            <a:br/>
            <a:r>
              <a:t>Erstanfrage, Beratungsgespräch, Nachfassung —</a:t>
            </a:r>
            <a:br/>
            <a:r>
              <a:t>gibt es ungenutzte Kapazität?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0749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131314"/>
                </a:solidFill>
                <a:latin typeface="Space Grotesk"/>
              </a:defRPr>
            </a:pPr>
            <a:r>
              <a:t>Skalierung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5074920"/>
            <a:ext cx="5760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6B6B6B"/>
                </a:solidFill>
                <a:latin typeface="Space Grotesk"/>
              </a:defRPr>
            </a:pPr>
            <a:r>
              <a:t>Was funktioniert in einer Filiale und lässt sich</a:t>
            </a:r>
            <a:br/>
            <a:r>
              <a:t>auf 212 Genossenschaftsbanken übertragen?</a:t>
            </a:r>
            <a:br/>
            <a:r>
              <a:t>Was ist spezifisch, was ist universell?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85216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131314"/>
                </a:solidFill>
                <a:latin typeface="Space Grotesk"/>
              </a:defRPr>
            </a:pPr>
            <a:r>
              <a:t>Organisation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5852160"/>
            <a:ext cx="5760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6B6B6B"/>
                </a:solidFill>
                <a:latin typeface="Space Grotesk"/>
              </a:defRPr>
            </a:pPr>
            <a:r>
              <a:t>Wie passt AI in die bestehende Vertriebssteuerung?</a:t>
            </a:r>
            <a:br/>
            <a:r>
              <a:t>Wo unterstützt es den RM, wo die Filialleitung,</a:t>
            </a:r>
            <a:br/>
            <a:r>
              <a:t>wo die zentrale Vertriebsführung?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310896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D97757"/>
                </a:solidFill>
                <a:latin typeface="JetBrains Mono"/>
              </a:defRPr>
            </a:pPr>
            <a:r>
              <a:t>IDEENBACKLOG (BEISPIELE)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0" y="3383280"/>
            <a:ext cx="4754880" cy="3291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4000" y="3383280"/>
            <a:ext cx="4754880" cy="36576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0" y="35204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131314"/>
                </a:solidFill>
                <a:latin typeface="Space Grotesk"/>
              </a:defRPr>
            </a:pPr>
            <a:r>
              <a:t>RM-Training &amp; Onboarding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04320" y="35204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50" b="0">
                <a:solidFill>
                  <a:srgbClr val="6B6B6B"/>
                </a:solidFill>
                <a:latin typeface="Space Grotesk"/>
              </a:defRPr>
            </a:pPr>
            <a:r>
              <a:t>Sparringspartner für neue Berater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39044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131314"/>
                </a:solidFill>
                <a:latin typeface="Space Grotesk"/>
              </a:defRPr>
            </a:pPr>
            <a:r>
              <a:t>Produktwissen on-demand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704320" y="390448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50" b="0">
                <a:solidFill>
                  <a:srgbClr val="6B6B6B"/>
                </a:solidFill>
                <a:latin typeface="Space Grotesk"/>
              </a:defRPr>
            </a:pPr>
            <a:r>
              <a:t>Einheitliche Wissensbasis, 212 Banken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428853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131314"/>
                </a:solidFill>
                <a:latin typeface="Space Grotesk"/>
              </a:defRPr>
            </a:pPr>
            <a:r>
              <a:t>Erster Kundenkontakt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04320" y="428853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50" b="0">
                <a:solidFill>
                  <a:srgbClr val="6B6B6B"/>
                </a:solidFill>
                <a:latin typeface="Space Grotesk"/>
              </a:defRPr>
            </a:pPr>
            <a:r>
              <a:t>Chat und Telefon in DE/FR/IT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467258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131314"/>
                </a:solidFill>
                <a:latin typeface="Space Grotesk"/>
              </a:defRPr>
            </a:pPr>
            <a:r>
              <a:t>Beratungsvor- und -nachbereitung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704320" y="467258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50" b="0">
                <a:solidFill>
                  <a:srgbClr val="6B6B6B"/>
                </a:solidFill>
                <a:latin typeface="Space Grotesk"/>
              </a:defRPr>
            </a:pPr>
            <a:r>
              <a:t>Briefings, Follow-ups, Dokumentation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0" y="505663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131314"/>
                </a:solidFill>
                <a:latin typeface="Space Grotesk"/>
              </a:defRPr>
            </a:pPr>
            <a:r>
              <a:t>Cross-Selling-Signale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704320" y="505663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50" b="0">
                <a:solidFill>
                  <a:srgbClr val="6B6B6B"/>
                </a:solidFill>
                <a:latin typeface="Space Grotesk"/>
              </a:defRPr>
            </a:pPr>
            <a:r>
              <a:t>Portfolio-Lücken erkennen und priorisieren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0" y="54406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131314"/>
                </a:solidFill>
                <a:latin typeface="Space Grotesk"/>
              </a:defRPr>
            </a:pPr>
            <a:r>
              <a:t>Proaktive Kontaktanlässe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704320" y="54406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50" b="0">
                <a:solidFill>
                  <a:srgbClr val="6B6B6B"/>
                </a:solidFill>
                <a:latin typeface="Space Grotesk"/>
              </a:defRPr>
            </a:pPr>
            <a:r>
              <a:t>Trigger bei Lebensereignissen, Zinsänderungen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0" y="582472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131314"/>
                </a:solidFill>
                <a:latin typeface="Space Grotesk"/>
              </a:defRPr>
            </a:pPr>
            <a:r>
              <a:t>Kampagnen-Unterstützung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704320" y="582472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50" b="0">
                <a:solidFill>
                  <a:srgbClr val="6B6B6B"/>
                </a:solidFill>
                <a:latin typeface="Space Grotesk"/>
              </a:defRPr>
            </a:pPr>
            <a:r>
              <a:t>Personalisierte Ansprache in drei Sprachen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26880" y="620877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131314"/>
                </a:solidFill>
                <a:latin typeface="Space Grotesk"/>
              </a:defRPr>
            </a:pPr>
            <a:r>
              <a:t>Wissenstransfer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704320" y="620877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50" b="0">
                <a:solidFill>
                  <a:srgbClr val="6B6B6B"/>
                </a:solidFill>
                <a:latin typeface="Space Grotesk"/>
              </a:defRPr>
            </a:pPr>
            <a:r>
              <a:t>Best Practices zwischen Filialen teilen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" y="6903720"/>
            <a:ext cx="131673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69494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2D8A4E"/>
                </a:solidFill>
                <a:latin typeface="Space Grotesk"/>
              </a:defRPr>
            </a:pPr>
            <a:r>
              <a:t>✓  Kein IT-Projekt nötig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06240" y="69494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2D8A4E"/>
                </a:solidFill>
                <a:latin typeface="Space Grotesk"/>
              </a:defRPr>
            </a:pPr>
            <a:r>
              <a:t>✓  Kein Kernbanksystem-Zugang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98079" y="69494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2D8A4E"/>
                </a:solidFill>
                <a:latin typeface="Space Grotesk"/>
              </a:defRPr>
            </a:pPr>
            <a:r>
              <a:t>✓  Kein Budget erforderlich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789920" y="69494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2D8A4E"/>
                </a:solidFill>
                <a:latin typeface="Space Grotesk"/>
              </a:defRPr>
            </a:pPr>
            <a:r>
              <a:t>✓  Ergebnisse in Wochen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" y="78181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00" b="0">
                <a:solidFill>
                  <a:srgbClr val="999999"/>
                </a:solidFill>
                <a:latin typeface="JetBrains Mono"/>
              </a:defRPr>
            </a:pPr>
            <a:r>
              <a:t>Vertraulich  ·  Salesteq × Raiffeisen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801600" y="78181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800" b="0">
                <a:solidFill>
                  <a:srgbClr val="999999"/>
                </a:solidFill>
                <a:latin typeface="JetBrains Mono"/>
              </a:defRPr>
            </a:pPr>
            <a: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D97757"/>
                </a:solidFill>
                <a:latin typeface="JetBrains Mono"/>
              </a:defRPr>
            </a:pPr>
            <a:r>
              <a:t>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800" b="1">
                <a:solidFill>
                  <a:srgbClr val="131314"/>
                </a:solidFill>
                <a:latin typeface="Space Grotesk"/>
              </a:defRPr>
            </a:pPr>
            <a:r>
              <a:t>AI im Vertrieb: Das Gesamtbild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2286000" cy="3810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280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6B6B6B"/>
                </a:solidFill>
                <a:latin typeface="Space Grotesk"/>
              </a:defRPr>
            </a:pPr>
            <a:r>
              <a:t>Was heute schon möglich ist, was kommt — und wo Raiffeisen sich positionieren kann.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4389120" cy="5669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4389120" cy="36576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1965960"/>
            <a:ext cx="4114800" cy="502920"/>
          </a:xfrm>
          <a:prstGeom prst="rect">
            <a:avLst/>
          </a:prstGeom>
          <a:solidFill>
            <a:srgbClr val="F5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93392"/>
            <a:ext cx="3840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00" b="1">
                <a:solidFill>
                  <a:srgbClr val="D97757"/>
                </a:solidFill>
                <a:latin typeface="JetBrains Mono"/>
              </a:defRPr>
            </a:pPr>
            <a:r>
              <a:t>BEREITS VERBREITET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176272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6B6B6B"/>
                </a:solidFill>
                <a:latin typeface="Space Grotesk"/>
              </a:defRPr>
            </a:pPr>
            <a:r>
              <a:t>Was viele Banken heute tun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60604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131314"/>
                </a:solidFill>
                <a:latin typeface="Space Grotesk"/>
              </a:defRPr>
            </a:pPr>
            <a:r>
              <a:t>Meeting-Vorbereitung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" y="2862072"/>
            <a:ext cx="3931920" cy="12700"/>
          </a:xfrm>
          <a:prstGeom prst="rect">
            <a:avLst/>
          </a:prstGeom>
          <a:solidFill>
            <a:srgbClr val="E8E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53512"/>
            <a:ext cx="39319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6B6B6B"/>
                </a:solidFill>
                <a:latin typeface="Space Grotesk"/>
              </a:defRPr>
            </a:pPr>
            <a:r>
              <a:t>Kundendossiers automatisch zusammengestellt</a:t>
            </a:r>
            <a:br/>
            <a:r>
              <a:t>(Copilot, interne Prototypen).</a:t>
            </a:r>
            <a:br/>
            <a:r>
              <a:t>Raiffeisen arbeitet hier bereits.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16052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131314"/>
                </a:solidFill>
                <a:latin typeface="Space Grotesk"/>
              </a:defRPr>
            </a:pPr>
            <a:r>
              <a:t>Chatbots für FAQ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0120" y="4416552"/>
            <a:ext cx="3931920" cy="12700"/>
          </a:xfrm>
          <a:prstGeom prst="rect">
            <a:avLst/>
          </a:prstGeom>
          <a:solidFill>
            <a:srgbClr val="E8E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507992"/>
            <a:ext cx="39319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6B6B6B"/>
                </a:solidFill>
                <a:latin typeface="Space Grotesk"/>
              </a:defRPr>
            </a:pPr>
            <a:r>
              <a:t>Einfache Fragen auf der Website beantwortet</a:t>
            </a:r>
            <a:br/>
            <a:r>
              <a:t>(Raiffeisen: «Tina» via Rasa).</a:t>
            </a:r>
            <a:br/>
            <a:r>
              <a:t>Begrenzt auf Q&amp;A.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571500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131314"/>
                </a:solidFill>
                <a:latin typeface="Space Grotesk"/>
              </a:defRPr>
            </a:pPr>
            <a:r>
              <a:t>Dokumenten-Analyse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0120" y="5971032"/>
            <a:ext cx="3931920" cy="12700"/>
          </a:xfrm>
          <a:prstGeom prst="rect">
            <a:avLst/>
          </a:prstGeom>
          <a:solidFill>
            <a:srgbClr val="E8E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6062472"/>
            <a:ext cx="39319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6B6B6B"/>
                </a:solidFill>
                <a:latin typeface="Space Grotesk"/>
              </a:defRPr>
            </a:pPr>
            <a:r>
              <a:t>KYC, Compliance-Prüfung, Vertragserkennung.</a:t>
            </a:r>
            <a:br/>
            <a:r>
              <a:t>Meist Backoffice-getrieben.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03520" y="1828800"/>
            <a:ext cx="4389120" cy="5669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03520" y="1828800"/>
            <a:ext cx="4389120" cy="36576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40680" y="1965960"/>
            <a:ext cx="4114800" cy="502920"/>
          </a:xfrm>
          <a:prstGeom prst="rect">
            <a:avLst/>
          </a:prstGeom>
          <a:solidFill>
            <a:srgbClr val="F8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77840" y="1993392"/>
            <a:ext cx="3840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00" b="1">
                <a:solidFill>
                  <a:srgbClr val="D97757"/>
                </a:solidFill>
                <a:latin typeface="JetBrains Mono"/>
              </a:defRPr>
            </a:pPr>
            <a:r>
              <a:t>NÄCHSTE WELLE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77840" y="2176272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6B6B6B"/>
                </a:solidFill>
                <a:latin typeface="Space Grotesk"/>
              </a:defRPr>
            </a:pPr>
            <a:r>
              <a:t>Wo der Vorsprung entsteht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32120" y="260604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131314"/>
                </a:solidFill>
                <a:latin typeface="Space Grotesk"/>
              </a:defRPr>
            </a:pPr>
            <a:r>
              <a:t>Proaktive Kundenansprache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32120" y="2862072"/>
            <a:ext cx="3931920" cy="12700"/>
          </a:xfrm>
          <a:prstGeom prst="rect">
            <a:avLst/>
          </a:prstGeom>
          <a:solidFill>
            <a:srgbClr val="E8E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32120" y="2953512"/>
            <a:ext cx="39319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6B6B6B"/>
                </a:solidFill>
                <a:latin typeface="Space Grotesk"/>
              </a:defRPr>
            </a:pPr>
            <a:r>
              <a:t>AI erkennt Trigger und bereitet personalisierte</a:t>
            </a:r>
            <a:br/>
            <a:r>
              <a:t>Ansprache vor — RM gibt frei.</a:t>
            </a:r>
            <a:br/>
            <a:r>
              <a:t>Systematisch statt zufällig.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416052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131314"/>
                </a:solidFill>
                <a:latin typeface="Space Grotesk"/>
              </a:defRPr>
            </a:pPr>
            <a:r>
              <a:t>Training &amp; Produktwissen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532120" y="4416552"/>
            <a:ext cx="3931920" cy="12700"/>
          </a:xfrm>
          <a:prstGeom prst="rect">
            <a:avLst/>
          </a:prstGeom>
          <a:solidFill>
            <a:srgbClr val="E8E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532120" y="4507992"/>
            <a:ext cx="39319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6B6B6B"/>
                </a:solidFill>
                <a:latin typeface="Space Grotesk"/>
              </a:defRPr>
            </a:pPr>
            <a:r>
              <a:t>AI als Sparringspartner für Berater.</a:t>
            </a:r>
            <a:br/>
            <a:r>
              <a:t>Übt Gespräche, testet Wissen,</a:t>
            </a:r>
            <a:br/>
            <a:r>
              <a:t>skaliert über 212 Banken.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32120" y="571500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131314"/>
                </a:solidFill>
                <a:latin typeface="Space Grotesk"/>
              </a:defRPr>
            </a:pPr>
            <a:r>
              <a:t>Cross-Selling-Intelligenz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532120" y="5971032"/>
            <a:ext cx="3931920" cy="12700"/>
          </a:xfrm>
          <a:prstGeom prst="rect">
            <a:avLst/>
          </a:prstGeom>
          <a:solidFill>
            <a:srgbClr val="E8E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532120" y="6062472"/>
            <a:ext cx="39319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6B6B6B"/>
                </a:solidFill>
                <a:latin typeface="Space Grotesk"/>
              </a:defRPr>
            </a:pPr>
            <a:r>
              <a:t>Portfolio-Analyse gegen Produktangebot.</a:t>
            </a:r>
            <a:br/>
            <a:r>
              <a:t>Erkennt Lücken und schlägt dem RM</a:t>
            </a:r>
            <a:br/>
            <a:r>
              <a:t>die nächstbeste Aktion vor.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875520" y="1828800"/>
            <a:ext cx="4389120" cy="5669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875520" y="1828800"/>
            <a:ext cx="4389120" cy="36576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012680" y="1965960"/>
            <a:ext cx="4114800" cy="502920"/>
          </a:xfrm>
          <a:prstGeom prst="rect">
            <a:avLst/>
          </a:prstGeom>
          <a:solidFill>
            <a:srgbClr val="F5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49840" y="1993392"/>
            <a:ext cx="3840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00" b="1">
                <a:solidFill>
                  <a:srgbClr val="D97757"/>
                </a:solidFill>
                <a:latin typeface="JetBrains Mono"/>
              </a:defRPr>
            </a:pPr>
            <a:r>
              <a:t>ZUKUNFT (2–3 JAHRE)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49840" y="2176272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6B6B6B"/>
                </a:solidFill>
                <a:latin typeface="Space Grotesk"/>
              </a:defRPr>
            </a:pPr>
            <a:r>
              <a:t>Was Standard sein wird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04120" y="260604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131314"/>
                </a:solidFill>
                <a:latin typeface="Space Grotesk"/>
              </a:defRPr>
            </a:pPr>
            <a:r>
              <a:t>Voice AI im Kundenkontakt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104120" y="2862072"/>
            <a:ext cx="3931920" cy="12700"/>
          </a:xfrm>
          <a:prstGeom prst="rect">
            <a:avLst/>
          </a:prstGeom>
          <a:solidFill>
            <a:srgbClr val="E8E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04120" y="2953512"/>
            <a:ext cx="39319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6B6B6B"/>
                </a:solidFill>
                <a:latin typeface="Space Grotesk"/>
              </a:defRPr>
            </a:pPr>
            <a:r>
              <a:t>Telefonische Erstberatung durch AI.</a:t>
            </a:r>
            <a:br/>
            <a:r>
              <a:t>DE/FR/IT, natürliche Stimme.</a:t>
            </a:r>
            <a:br/>
            <a:r>
              <a:t>Nahtlose Übergabe an den Berater.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04120" y="416052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131314"/>
                </a:solidFill>
                <a:latin typeface="Space Grotesk"/>
              </a:defRPr>
            </a:pPr>
            <a:r>
              <a:t>Autonome Kampagnen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104120" y="4416552"/>
            <a:ext cx="3931920" cy="12700"/>
          </a:xfrm>
          <a:prstGeom prst="rect">
            <a:avLst/>
          </a:prstGeom>
          <a:solidFill>
            <a:srgbClr val="E8E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104120" y="4507992"/>
            <a:ext cx="39319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6B6B6B"/>
                </a:solidFill>
                <a:latin typeface="Space Grotesk"/>
              </a:defRPr>
            </a:pPr>
            <a:r>
              <a:t>AI plant und führt personalisierte</a:t>
            </a:r>
            <a:br/>
            <a:r>
              <a:t>Kampagnen durch — mit menschlicher</a:t>
            </a:r>
            <a:br/>
            <a:r>
              <a:t>Aufsicht und Freigabe.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104120" y="571500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131314"/>
                </a:solidFill>
                <a:latin typeface="Space Grotesk"/>
              </a:defRPr>
            </a:pPr>
            <a:r>
              <a:t>RM-Copilot im Gespräch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104120" y="5971032"/>
            <a:ext cx="3931920" cy="12700"/>
          </a:xfrm>
          <a:prstGeom prst="rect">
            <a:avLst/>
          </a:prstGeom>
          <a:solidFill>
            <a:srgbClr val="E8E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104120" y="6062472"/>
            <a:ext cx="39319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6B6B6B"/>
                </a:solidFill>
                <a:latin typeface="Space Grotesk"/>
              </a:defRPr>
            </a:pPr>
            <a:r>
              <a:t>Echtzeit-Unterstützung während der</a:t>
            </a:r>
            <a:br/>
            <a:r>
              <a:t>Beratung: Produktvorschläge, regulatorische</a:t>
            </a:r>
            <a:br/>
            <a:r>
              <a:t>Hinweise, Next-Best-Action.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31520" y="7543800"/>
            <a:ext cx="13167360" cy="182880"/>
          </a:xfrm>
          <a:prstGeom prst="rect">
            <a:avLst/>
          </a:prstGeom>
          <a:solidFill>
            <a:srgbClr val="131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4400" y="7543800"/>
            <a:ext cx="1280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FAF9F0"/>
                </a:solidFill>
                <a:latin typeface="Space Grotesk"/>
              </a:defRPr>
            </a:pPr>
            <a:r>
              <a:t>Salesteq positioniert sich in der «nächsten Welle» — mit Produktionserfahrung, die andere noch nicht haben.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1520" y="78181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00" b="0">
                <a:solidFill>
                  <a:srgbClr val="999999"/>
                </a:solidFill>
                <a:latin typeface="JetBrains Mono"/>
              </a:defRPr>
            </a:pPr>
            <a:r>
              <a:t>Vertraulich  ·  Salesteq × Raiffeisen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801600" y="78181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800" b="0">
                <a:solidFill>
                  <a:srgbClr val="999999"/>
                </a:solidFill>
                <a:latin typeface="JetBrains Mono"/>
              </a:defRPr>
            </a:pPr>
            <a: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D97757"/>
                </a:solidFill>
                <a:latin typeface="JetBrains Mono"/>
              </a:defRPr>
            </a:pPr>
            <a:r>
              <a:t>IDEENBACKLOG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800" b="1">
                <a:solidFill>
                  <a:srgbClr val="131314"/>
                </a:solidFill>
                <a:latin typeface="Space Grotesk"/>
              </a:defRPr>
            </a:pPr>
            <a:r>
              <a:t>Mögliche Szenarien — entlang des Vertriebsprozesses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2286000" cy="3810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280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6B6B6B"/>
                </a:solidFill>
                <a:latin typeface="Space Grotesk"/>
              </a:defRPr>
            </a:pPr>
            <a:r>
              <a:t>Diese Ideen sind ein Ausgangspunkt. Was davon relevant ist und was fehlt, erarbeiten wir gemeinsam.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6583680" cy="2834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6583680" cy="36576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D97757"/>
                </a:solidFill>
                <a:latin typeface="Space Grotesk"/>
              </a:defRPr>
            </a:pPr>
            <a: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993392"/>
            <a:ext cx="5669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31314"/>
                </a:solidFill>
                <a:latin typeface="Space Grotesk"/>
              </a:defRPr>
            </a:pPr>
            <a:r>
              <a:t>Training &amp; Onboarding neuer Berater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2286000"/>
            <a:ext cx="6217920" cy="12700"/>
          </a:xfrm>
          <a:prstGeom prst="rect">
            <a:avLst/>
          </a:prstGeom>
          <a:solidFill>
            <a:srgbClr val="E8E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377440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6B6B6B"/>
                </a:solidFill>
                <a:latin typeface="Space Grotesk"/>
              </a:defRPr>
            </a:pPr>
            <a:r>
              <a:t>Das «Neustart»-Programm bildet Quereinsteiger in 12–24 Monaten zum Kundenberater aus. AI kann diesen Prozess beschleunigen: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834640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2A2A2A"/>
                </a:solidFill>
                <a:latin typeface="Space Grotesk"/>
              </a:defRPr>
            </a:pPr>
            <a:r>
              <a:t>→  AI-Sparringspartner für Produktwissen (Hypotheken, Vorsorge, Anlagen)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154680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2A2A2A"/>
                </a:solidFill>
                <a:latin typeface="Space Grotesk"/>
              </a:defRPr>
            </a:pPr>
            <a:r>
              <a:t>→  Simulierte Kundensituationen mit strukturiertem Feedback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474720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2A2A2A"/>
                </a:solidFill>
                <a:latin typeface="Space Grotesk"/>
              </a:defRPr>
            </a:pPr>
            <a:r>
              <a:t>→  Neue RMs schneller produktiv, SAQ-Zertifizierung besser vorbereitet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" y="3840480"/>
            <a:ext cx="6309360" cy="320040"/>
          </a:xfrm>
          <a:prstGeom prst="rect">
            <a:avLst/>
          </a:prstGeom>
          <a:solidFill>
            <a:srgbClr val="F8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3877056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D97757"/>
                </a:solidFill>
                <a:latin typeface="Space Grotesk"/>
              </a:defRPr>
            </a:pPr>
            <a:r>
              <a:t>Wirkung: Einarbeitungszeit verkürzen, Qualität sichern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89520" y="1828800"/>
            <a:ext cx="6583680" cy="2834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589520" y="1828800"/>
            <a:ext cx="6583680" cy="36576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0" y="19659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D97757"/>
                </a:solidFill>
                <a:latin typeface="Space Grotesk"/>
              </a:defRPr>
            </a:pPr>
            <a:r>
              <a:t>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1993392"/>
            <a:ext cx="5669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31314"/>
                </a:solidFill>
                <a:latin typeface="Space Grotesk"/>
              </a:defRPr>
            </a:pPr>
            <a:r>
              <a:t>Proaktive Kundenansprache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0" y="2286000"/>
            <a:ext cx="6217920" cy="12700"/>
          </a:xfrm>
          <a:prstGeom prst="rect">
            <a:avLst/>
          </a:prstGeom>
          <a:solidFill>
            <a:srgbClr val="E8E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0" y="2377440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6B6B6B"/>
                </a:solidFill>
                <a:latin typeface="Space Grotesk"/>
              </a:defRPr>
            </a:pPr>
            <a:r>
              <a:t>Bei Zinssenkungen, Lebensereignissen oder Marktveränderungen: AI identifiziert betroffene Kunden und bereitet die Ansprache vor.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2834640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2A2A2A"/>
                </a:solidFill>
                <a:latin typeface="Space Grotesk"/>
              </a:defRPr>
            </a:pPr>
            <a:r>
              <a:t>→  Personalisierte Nachrichten (DE/FR/IT), dem RM zur Freigabe vorgelegt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3154680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2A2A2A"/>
                </a:solidFill>
                <a:latin typeface="Space Grotesk"/>
              </a:defRPr>
            </a:pPr>
            <a:r>
              <a:t>→  Trigger-basiert: Zinsänderungen, Ablauf Festhypothek, Pensionierung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3474720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2A2A2A"/>
                </a:solidFill>
                <a:latin typeface="Space Grotesk"/>
              </a:defRPr>
            </a:pPr>
            <a:r>
              <a:t>→  Systematische Betreuung — auch für das lange Ende des Kundenstamms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26680" y="3840480"/>
            <a:ext cx="6309360" cy="320040"/>
          </a:xfrm>
          <a:prstGeom prst="rect">
            <a:avLst/>
          </a:prstGeom>
          <a:solidFill>
            <a:srgbClr val="F8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9560" y="3877056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D97757"/>
                </a:solidFill>
                <a:latin typeface="Space Grotesk"/>
              </a:defRPr>
            </a:pPr>
            <a:r>
              <a:t>Wirkung: Cross-Selling-Potenzial systematisch nutzen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4846320"/>
            <a:ext cx="6583680" cy="2834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1520" y="4846320"/>
            <a:ext cx="6583680" cy="36576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49834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D97757"/>
                </a:solidFill>
                <a:latin typeface="Space Grotesk"/>
              </a:defRPr>
            </a:pPr>
            <a:r>
              <a:t>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80160" y="5010912"/>
            <a:ext cx="5669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31314"/>
                </a:solidFill>
                <a:latin typeface="Space Grotesk"/>
              </a:defRPr>
            </a:pPr>
            <a:r>
              <a:t>Produktwissen &amp; Beratungsqualität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400" y="5303520"/>
            <a:ext cx="6217920" cy="12700"/>
          </a:xfrm>
          <a:prstGeom prst="rect">
            <a:avLst/>
          </a:prstGeom>
          <a:solidFill>
            <a:srgbClr val="E8E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5394959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6B6B6B"/>
                </a:solidFill>
                <a:latin typeface="Space Grotesk"/>
              </a:defRPr>
            </a:pPr>
            <a:r>
              <a:t>212 Banken, tausende Berater, laufend neue Produkte und regulatorische Änderungen. Wissen konsistent zu halten ist eine Herausforderung.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5852160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2A2A2A"/>
                </a:solidFill>
                <a:latin typeface="Space Grotesk"/>
              </a:defRPr>
            </a:pPr>
            <a:r>
              <a:t>→  AI beantwortet Produktfragen in Echtzeit — Hypotheken, Vorsorge, Anlagen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6172200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2A2A2A"/>
                </a:solidFill>
                <a:latin typeface="Space Grotesk"/>
              </a:defRPr>
            </a:pPr>
            <a:r>
              <a:t>→  Immer aktuell: neue Konditionen, FINMA, nDSG automatisch integriert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6492240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2A2A2A"/>
                </a:solidFill>
                <a:latin typeface="Space Grotesk"/>
              </a:defRPr>
            </a:pPr>
            <a:r>
              <a:t>→  Internes Nachschlagewerk in natürlicher Sprache, drei Sprachen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68680" y="6858000"/>
            <a:ext cx="6309360" cy="320040"/>
          </a:xfrm>
          <a:prstGeom prst="rect">
            <a:avLst/>
          </a:prstGeom>
          <a:solidFill>
            <a:srgbClr val="F8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51560" y="6894576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D97757"/>
                </a:solidFill>
                <a:latin typeface="Space Grotesk"/>
              </a:defRPr>
            </a:pPr>
            <a:r>
              <a:t>Wirkung: Beratungsqualität über alle 212 Banken sichern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589520" y="4846320"/>
            <a:ext cx="6583680" cy="2834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589520" y="4846320"/>
            <a:ext cx="6583680" cy="36576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0" y="49834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D97757"/>
                </a:solidFill>
                <a:latin typeface="Space Grotesk"/>
              </a:defRPr>
            </a:pPr>
            <a:r>
              <a:t>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38160" y="5010912"/>
            <a:ext cx="5669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31314"/>
                </a:solidFill>
                <a:latin typeface="Space Grotesk"/>
              </a:defRPr>
            </a:pPr>
            <a:r>
              <a:t>Erster Kundenkontakt (Website &amp; Telefon)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72400" y="5303520"/>
            <a:ext cx="6217920" cy="12700"/>
          </a:xfrm>
          <a:prstGeom prst="rect">
            <a:avLst/>
          </a:prstGeom>
          <a:solidFill>
            <a:srgbClr val="E8E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772400" y="5394959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6B6B6B"/>
                </a:solidFill>
                <a:latin typeface="Space Grotesk"/>
              </a:defRPr>
            </a:pPr>
            <a:r>
              <a:t>Routineanfragen binden Beraterkapazität. AI kann den ersten Kontakt übernehmen und qualifiziert weiterleiten.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0" y="5852160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2A2A2A"/>
                </a:solidFill>
                <a:latin typeface="Space Grotesk"/>
              </a:defRPr>
            </a:pPr>
            <a:r>
              <a:t>→  Konto, Karten, Zinsen, Öffnungszeiten — automatisch, in drei Sprachen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0" y="6172200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2A2A2A"/>
                </a:solidFill>
                <a:latin typeface="Space Grotesk"/>
              </a:defRPr>
            </a:pPr>
            <a:r>
              <a:t>→  Komplexe Anliegen erkannt und an den richtigen RM weitergeleitet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72400" y="6492240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2A2A2A"/>
                </a:solidFill>
                <a:latin typeface="Space Grotesk"/>
              </a:defRPr>
            </a:pPr>
            <a:r>
              <a:t>→  Eigene Sprach-Engine: auch per Telefon, nicht nur Chat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726680" y="6858000"/>
            <a:ext cx="6309360" cy="320040"/>
          </a:xfrm>
          <a:prstGeom prst="rect">
            <a:avLst/>
          </a:prstGeom>
          <a:solidFill>
            <a:srgbClr val="F8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909560" y="6894576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D97757"/>
                </a:solidFill>
                <a:latin typeface="Space Grotesk"/>
              </a:defRPr>
            </a:pPr>
            <a:r>
              <a:t>Wirkung: RM-Kapazität für echte Beratung freisetzen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1520" y="78181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00" b="0">
                <a:solidFill>
                  <a:srgbClr val="999999"/>
                </a:solidFill>
                <a:latin typeface="JetBrains Mono"/>
              </a:defRPr>
            </a:pPr>
            <a:r>
              <a:t>Vertraulich  ·  Salesteq × Raiffeisen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801600" y="78181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800" b="0">
                <a:solidFill>
                  <a:srgbClr val="999999"/>
                </a:solidFill>
                <a:latin typeface="JetBrains Mono"/>
              </a:defRPr>
            </a:pPr>
            <a: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D97757"/>
                </a:solidFill>
                <a:latin typeface="JetBrains Mono"/>
              </a:defRPr>
            </a:pPr>
            <a:r>
              <a:t>USE CASE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800" b="1">
                <a:solidFill>
                  <a:srgbClr val="131314"/>
                </a:solidFill>
                <a:latin typeface="Space Grotesk"/>
              </a:defRPr>
            </a:pPr>
            <a:r>
              <a:t>AI als Sparringspartner für Kundenberater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2286000" cy="3810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280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6B6B6B"/>
                </a:solidFill>
                <a:latin typeface="Space Grotesk"/>
              </a:defRPr>
            </a:pPr>
            <a:r>
              <a:t>Ob neue Berater im «Neustart»-Programm oder erfahrene RMs bei neuen Produkten — die Herausforderung ist dieselbe.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6400800" cy="320040"/>
          </a:xfrm>
          <a:prstGeom prst="rect">
            <a:avLst/>
          </a:prstGeom>
          <a:solidFill>
            <a:srgbClr val="F8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6035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D97757"/>
                </a:solidFill>
                <a:latin typeface="JetBrains Mono"/>
              </a:defRPr>
            </a:pPr>
            <a:r>
              <a:t>HERAUSFORDERUNG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377440"/>
            <a:ext cx="6400800" cy="1371600"/>
          </a:xfrm>
          <a:prstGeom prst="rect">
            <a:avLst/>
          </a:prstGeom>
          <a:solidFill>
            <a:srgbClr val="F5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68880"/>
            <a:ext cx="6035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31314"/>
                </a:solidFill>
                <a:latin typeface="Space Grotesk"/>
              </a:defRPr>
            </a:pPr>
            <a:r>
              <a:t>12–24 Monate Einarbeitung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43200"/>
            <a:ext cx="6035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6B6B6B"/>
                </a:solidFill>
                <a:latin typeface="Space Grotesk"/>
              </a:defRPr>
            </a:pPr>
            <a:r>
              <a:t>Das «Neustart»-Quereinsteigerprogramm dauert 12–24 Monate.</a:t>
            </a:r>
            <a:br/>
            <a:r>
              <a:t>In dieser Zeit ist ein RM noch nicht voll produktiv —</a:t>
            </a:r>
            <a:br/>
            <a:r>
              <a:t>aber die Filiale trägt bereits die Kosten.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931920"/>
            <a:ext cx="6400800" cy="1371600"/>
          </a:xfrm>
          <a:prstGeom prst="rect">
            <a:avLst/>
          </a:prstGeom>
          <a:solidFill>
            <a:srgbClr val="F5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023359"/>
            <a:ext cx="6035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31314"/>
                </a:solidFill>
                <a:latin typeface="Space Grotesk"/>
              </a:defRPr>
            </a:pPr>
            <a:r>
              <a:t>Produktkomplexität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297680"/>
            <a:ext cx="6035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6B6B6B"/>
                </a:solidFill>
                <a:latin typeface="Space Grotesk"/>
              </a:defRPr>
            </a:pPr>
            <a:r>
              <a:t>Hypotheken (SARON, Festhypothek), Vorsorge (3a, 3b,</a:t>
            </a:r>
            <a:br/>
            <a:r>
              <a:t>Pensionskasse, Freizügigkeit), Anlagen (Fonds, ETF,</a:t>
            </a:r>
            <a:br/>
            <a:r>
              <a:t>Vermögensverwaltung) — alles muss sitzen. SAQ-Zertifizierung.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5486400"/>
            <a:ext cx="6400800" cy="1371600"/>
          </a:xfrm>
          <a:prstGeom prst="rect">
            <a:avLst/>
          </a:prstGeom>
          <a:solidFill>
            <a:srgbClr val="F5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577840"/>
            <a:ext cx="6035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31314"/>
                </a:solidFill>
                <a:latin typeface="Space Grotesk"/>
              </a:defRPr>
            </a:pPr>
            <a:r>
              <a:t>212 Banken, uneinheitlich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852160"/>
            <a:ext cx="6035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6B6B6B"/>
                </a:solidFill>
                <a:latin typeface="Space Grotesk"/>
              </a:defRPr>
            </a:pPr>
            <a:r>
              <a:t>Jede Genossenschaftsbank bildet selbst aus.</a:t>
            </a:r>
            <a:br/>
            <a:r>
              <a:t>Wissensstand und Beratungsqualität variieren.</a:t>
            </a:r>
            <a:br/>
            <a:r>
              <a:t>Zentrales Training erreicht nicht alle gleichzeitig.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89520" y="1920240"/>
            <a:ext cx="6400800" cy="320040"/>
          </a:xfrm>
          <a:prstGeom prst="rect">
            <a:avLst/>
          </a:prstGeom>
          <a:solidFill>
            <a:srgbClr val="F8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0" y="1965960"/>
            <a:ext cx="6035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D97757"/>
                </a:solidFill>
                <a:latin typeface="JetBrains Mono"/>
              </a:defRPr>
            </a:pPr>
            <a:r>
              <a:t>WAS AI VERÄNDERN KANN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89520" y="2377440"/>
            <a:ext cx="6400800" cy="1371600"/>
          </a:xfrm>
          <a:prstGeom prst="rect">
            <a:avLst/>
          </a:prstGeom>
          <a:solidFill>
            <a:srgbClr val="F5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2468880"/>
            <a:ext cx="6035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31314"/>
                </a:solidFill>
                <a:latin typeface="Space Grotesk"/>
              </a:defRPr>
            </a:pPr>
            <a:r>
              <a:t>Übungsgespräche mit 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2743200"/>
            <a:ext cx="6035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6B6B6B"/>
                </a:solidFill>
                <a:latin typeface="Space Grotesk"/>
              </a:defRPr>
            </a:pPr>
            <a:r>
              <a:t>Neue RMs üben Beratungsgespräche mit einem AI-Kunden:</a:t>
            </a:r>
            <a:br/>
            <a:r>
              <a:t>Hypothekenberatung, Vorsorgeplanung, Reklamation.</a:t>
            </a:r>
            <a:br/>
            <a:r>
              <a:t>Strukturiertes Feedback nach jedem Gespräch.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89520" y="3931920"/>
            <a:ext cx="6400800" cy="1371600"/>
          </a:xfrm>
          <a:prstGeom prst="rect">
            <a:avLst/>
          </a:prstGeom>
          <a:solidFill>
            <a:srgbClr val="F5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023359"/>
            <a:ext cx="6035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31314"/>
                </a:solidFill>
                <a:latin typeface="Space Grotesk"/>
              </a:defRPr>
            </a:pPr>
            <a:r>
              <a:t>Produktwissen on-demand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4297680"/>
            <a:ext cx="6035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6B6B6B"/>
                </a:solidFill>
                <a:latin typeface="Space Grotesk"/>
              </a:defRPr>
            </a:pPr>
            <a:r>
              <a:t>«Was ist der Unterschied zwischen SARON und Festhypothek</a:t>
            </a:r>
            <a:br/>
            <a:r>
              <a:t>bei aktueller Zinslage?» — AI beantwortet Produktfragen</a:t>
            </a:r>
            <a:br/>
            <a:r>
              <a:t>sofort, mit aktuellen Konditionen.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589520" y="5486400"/>
            <a:ext cx="6400800" cy="1371600"/>
          </a:xfrm>
          <a:prstGeom prst="rect">
            <a:avLst/>
          </a:prstGeom>
          <a:solidFill>
            <a:srgbClr val="F5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0" y="5577840"/>
            <a:ext cx="6035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31314"/>
                </a:solidFill>
                <a:latin typeface="Space Grotesk"/>
              </a:defRPr>
            </a:pPr>
            <a:r>
              <a:t>Konsistenz über alle Banken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5852160"/>
            <a:ext cx="6035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6B6B6B"/>
                </a:solidFill>
                <a:latin typeface="Space Grotesk"/>
              </a:defRPr>
            </a:pPr>
            <a:r>
              <a:t>Dieselbe Wissensquelle für alle 212 Banken. Neue Produkte,</a:t>
            </a:r>
            <a:br/>
            <a:r>
              <a:t>Konditionsänderungen, regulatorische Updates — einmal</a:t>
            </a:r>
            <a:br/>
            <a:r>
              <a:t>gepflegt, überall verfügbar. Skaliert ohne Trainer.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7178040"/>
            <a:ext cx="13167360" cy="457200"/>
          </a:xfrm>
          <a:prstGeom prst="rect">
            <a:avLst/>
          </a:prstGeom>
          <a:solidFill>
            <a:srgbClr val="131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7242048"/>
            <a:ext cx="1280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Space Grotesk"/>
              </a:defRPr>
            </a:pPr>
            <a:r>
              <a:t>Ein neuer RM, der nach 6 statt 18 Monaten produktiv berät, spart einer Filiale ein halbes Jahr Opportunitätskosten.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78181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00" b="0">
                <a:solidFill>
                  <a:srgbClr val="999999"/>
                </a:solidFill>
                <a:latin typeface="JetBrains Mono"/>
              </a:defRPr>
            </a:pPr>
            <a:r>
              <a:t>Vertraulich  ·  Salesteq × Raiffeisen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801600" y="78181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800" b="0">
                <a:solidFill>
                  <a:srgbClr val="999999"/>
                </a:solidFill>
                <a:latin typeface="JetBrains Mono"/>
              </a:defRPr>
            </a:pPr>
            <a: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D97757"/>
                </a:solidFill>
                <a:latin typeface="JetBrains Mono"/>
              </a:defRPr>
            </a:pPr>
            <a:r>
              <a:t>USE CASE 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800" b="1">
                <a:solidFill>
                  <a:srgbClr val="131314"/>
                </a:solidFill>
                <a:latin typeface="Space Grotesk"/>
              </a:defRPr>
            </a:pPr>
            <a:r>
              <a:t>Proaktive Ansprache statt verpasste Gelegenheiten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2286000" cy="3810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280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6B6B6B"/>
                </a:solidFill>
                <a:latin typeface="Space Grotesk"/>
              </a:defRPr>
            </a:pPr>
            <a:r>
              <a:t>Jede Zinssenkung, jeder Hypothekenablauf, jede Pensionierung ist ein Beratungsanlass — aber nur wenn er erkannt und genutzt wird.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6400800" cy="320040"/>
          </a:xfrm>
          <a:prstGeom prst="rect">
            <a:avLst/>
          </a:prstGeom>
          <a:solidFill>
            <a:srgbClr val="F8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6035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D97757"/>
                </a:solidFill>
                <a:latin typeface="JetBrains Mono"/>
              </a:defRPr>
            </a:pPr>
            <a:r>
              <a:t>HERAUSFORDERUNG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377440"/>
            <a:ext cx="6400800" cy="1371600"/>
          </a:xfrm>
          <a:prstGeom prst="rect">
            <a:avLst/>
          </a:prstGeom>
          <a:solidFill>
            <a:srgbClr val="F5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68880"/>
            <a:ext cx="6035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31314"/>
                </a:solidFill>
                <a:latin typeface="Space Grotesk"/>
              </a:defRPr>
            </a:pPr>
            <a:r>
              <a:t>Trigger werden nicht erkannt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43200"/>
            <a:ext cx="6035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6B6B6B"/>
                </a:solidFill>
                <a:latin typeface="Space Grotesk"/>
              </a:defRPr>
            </a:pPr>
            <a:r>
              <a:t>Zinssenkungen betreffen hunderte Kunden gleichzeitig.</a:t>
            </a:r>
            <a:br/>
            <a:r>
              <a:t>Ablaufende Festhypotheken, Pensionierungen in 5 Jahren —</a:t>
            </a:r>
            <a:br/>
            <a:r>
              <a:t>die Daten existieren, aber niemand handelt systematisch.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931920"/>
            <a:ext cx="6400800" cy="1371600"/>
          </a:xfrm>
          <a:prstGeom prst="rect">
            <a:avLst/>
          </a:prstGeom>
          <a:solidFill>
            <a:srgbClr val="F5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023359"/>
            <a:ext cx="6035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31314"/>
                </a:solidFill>
                <a:latin typeface="Space Grotesk"/>
              </a:defRPr>
            </a:pPr>
            <a:r>
              <a:t>Ansprache ist zeitintensiv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297680"/>
            <a:ext cx="6035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6B6B6B"/>
                </a:solidFill>
                <a:latin typeface="Space Grotesk"/>
              </a:defRPr>
            </a:pPr>
            <a:r>
              <a:t>Jede personalisierte Nachricht erfordert Recherche:</a:t>
            </a:r>
            <a:br/>
            <a:r>
              <a:t>Welches Produkt? Letzte Interaktion? Welche Sprache?</a:t>
            </a:r>
            <a:br/>
            <a:r>
              <a:t>Ein RM schafft 5–10 pro Tag — es bräuchte 50.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5486400"/>
            <a:ext cx="6400800" cy="1371600"/>
          </a:xfrm>
          <a:prstGeom prst="rect">
            <a:avLst/>
          </a:prstGeom>
          <a:solidFill>
            <a:srgbClr val="F5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577840"/>
            <a:ext cx="6035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31314"/>
                </a:solidFill>
                <a:latin typeface="Space Grotesk"/>
              </a:defRPr>
            </a:pPr>
            <a:r>
              <a:t>Das lange Ende wird vernachlässigt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852160"/>
            <a:ext cx="6035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6B6B6B"/>
                </a:solidFill>
                <a:latin typeface="Space Grotesk"/>
              </a:defRPr>
            </a:pPr>
            <a:r>
              <a:t>Die Top-Kunden werden betreut. Aber die 80% darunter —</a:t>
            </a:r>
            <a:br/>
            <a:r>
              <a:t>solide Kunden mit Cross-Selling-Potenzial — bekommen</a:t>
            </a:r>
            <a:br/>
            <a:r>
              <a:t>nur Kontakt, wenn sie selbst anrufen.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89520" y="1920240"/>
            <a:ext cx="6400800" cy="320040"/>
          </a:xfrm>
          <a:prstGeom prst="rect">
            <a:avLst/>
          </a:prstGeom>
          <a:solidFill>
            <a:srgbClr val="F8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0" y="1965960"/>
            <a:ext cx="6035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D97757"/>
                </a:solidFill>
                <a:latin typeface="JetBrains Mono"/>
              </a:defRPr>
            </a:pPr>
            <a:r>
              <a:t>WAS AI VERÄNDERN KANN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89520" y="2377440"/>
            <a:ext cx="6400800" cy="1371600"/>
          </a:xfrm>
          <a:prstGeom prst="rect">
            <a:avLst/>
          </a:prstGeom>
          <a:solidFill>
            <a:srgbClr val="F5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2468880"/>
            <a:ext cx="6035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31314"/>
                </a:solidFill>
                <a:latin typeface="Space Grotesk"/>
              </a:defRPr>
            </a:pPr>
            <a:r>
              <a:t>Trigger-basierte Erkennung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2743200"/>
            <a:ext cx="6035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6B6B6B"/>
                </a:solidFill>
                <a:latin typeface="Space Grotesk"/>
              </a:defRPr>
            </a:pPr>
            <a:r>
              <a:t>AI überwacht Ereignisse: SNB-Zinsänderung, Ablauf</a:t>
            </a:r>
            <a:br/>
            <a:r>
              <a:t>Festhypothek in 6 Monaten, Kunde wird 60. Erstellt</a:t>
            </a:r>
            <a:br/>
            <a:r>
              <a:t>automatisch eine priorisierte Kontaktliste.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89520" y="3931920"/>
            <a:ext cx="6400800" cy="1371600"/>
          </a:xfrm>
          <a:prstGeom prst="rect">
            <a:avLst/>
          </a:prstGeom>
          <a:solidFill>
            <a:srgbClr val="F5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023359"/>
            <a:ext cx="6035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31314"/>
                </a:solidFill>
                <a:latin typeface="Space Grotesk"/>
              </a:defRPr>
            </a:pPr>
            <a:r>
              <a:t>Personalisierte Entwürfe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4297680"/>
            <a:ext cx="6035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6B6B6B"/>
                </a:solidFill>
                <a:latin typeface="Space Grotesk"/>
              </a:defRPr>
            </a:pPr>
            <a:r>
              <a:t>Für jeden Kunden ein vorformulierter Entwurf — in der</a:t>
            </a:r>
            <a:br/>
            <a:r>
              <a:t>richtigen Sprache (DE/FR/IT), mit Kontext. «Ihr Festzins</a:t>
            </a:r>
            <a:br/>
            <a:r>
              <a:t>läuft im September ab...» RM gibt frei.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589520" y="5486400"/>
            <a:ext cx="6400800" cy="1371600"/>
          </a:xfrm>
          <a:prstGeom prst="rect">
            <a:avLst/>
          </a:prstGeom>
          <a:solidFill>
            <a:srgbClr val="F5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0" y="5577840"/>
            <a:ext cx="6035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31314"/>
                </a:solidFill>
                <a:latin typeface="Space Grotesk"/>
              </a:defRPr>
            </a:pPr>
            <a:r>
              <a:t>Skalierung ohne Qualitätsverlust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5852160"/>
            <a:ext cx="6035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6B6B6B"/>
                </a:solidFill>
                <a:latin typeface="Space Grotesk"/>
              </a:defRPr>
            </a:pPr>
            <a:r>
              <a:t>Statt 5 Anrufe pro Tag: 50 personalisierte Nachrichten,</a:t>
            </a:r>
            <a:br/>
            <a:r>
              <a:t>alle vom RM freigegeben. Kein Massenversand —</a:t>
            </a:r>
            <a:br/>
            <a:r>
              <a:t>individuelle Ansprache. Auch für das «lange Ende».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7178040"/>
            <a:ext cx="13167360" cy="457200"/>
          </a:xfrm>
          <a:prstGeom prst="rect">
            <a:avLst/>
          </a:prstGeom>
          <a:solidFill>
            <a:srgbClr val="131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7242048"/>
            <a:ext cx="1280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Space Grotesk"/>
              </a:defRPr>
            </a:pPr>
            <a:r>
              <a:t>McKinsey: Agentic AI im Banking-Vertrieb steigert den Umsatz pro RM um 3–15% und erhöht Kundengespräche um ~40%.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78181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00" b="0">
                <a:solidFill>
                  <a:srgbClr val="999999"/>
                </a:solidFill>
                <a:latin typeface="JetBrains Mono"/>
              </a:defRPr>
            </a:pPr>
            <a:r>
              <a:t>Vertraulich  ·  Salesteq × Raiffeisen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801600" y="78181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800" b="0">
                <a:solidFill>
                  <a:srgbClr val="999999"/>
                </a:solidFill>
                <a:latin typeface="JetBrains Mono"/>
              </a:defRPr>
            </a:pPr>
            <a: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D97757"/>
                </a:solidFill>
                <a:latin typeface="JetBrains Mono"/>
              </a:defRPr>
            </a:pPr>
            <a:r>
              <a:t>USE CASE 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800" b="1">
                <a:solidFill>
                  <a:srgbClr val="131314"/>
                </a:solidFill>
                <a:latin typeface="Space Grotesk"/>
              </a:defRPr>
            </a:pPr>
            <a:r>
              <a:t>Einheitliches Produktwissen für 212 Banken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2286000" cy="3810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280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6B6B6B"/>
                </a:solidFill>
                <a:latin typeface="Space Grotesk"/>
              </a:defRPr>
            </a:pPr>
            <a:r>
              <a:t>Laufend neue Produkte, Konditionsänderungen, regulatorische Updates — wie bleibt jeder Berater aktuell?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6400800" cy="320040"/>
          </a:xfrm>
          <a:prstGeom prst="rect">
            <a:avLst/>
          </a:prstGeom>
          <a:solidFill>
            <a:srgbClr val="F8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6035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D97757"/>
                </a:solidFill>
                <a:latin typeface="JetBrains Mono"/>
              </a:defRPr>
            </a:pPr>
            <a:r>
              <a:t>HERAUSFORDERUNG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377440"/>
            <a:ext cx="6400800" cy="1371600"/>
          </a:xfrm>
          <a:prstGeom prst="rect">
            <a:avLst/>
          </a:prstGeom>
          <a:solidFill>
            <a:srgbClr val="F5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68880"/>
            <a:ext cx="6035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31314"/>
                </a:solidFill>
                <a:latin typeface="Space Grotesk"/>
              </a:defRPr>
            </a:pPr>
            <a:r>
              <a:t>Wissen veraltet schnell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43200"/>
            <a:ext cx="6035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6B6B6B"/>
                </a:solidFill>
                <a:latin typeface="Space Grotesk"/>
              </a:defRPr>
            </a:pPr>
            <a:r>
              <a:t>Neue Hypothekenmodelle, geänderte 3a-Maximalbeträge,</a:t>
            </a:r>
            <a:br/>
            <a:r>
              <a:t>FINMA-Auflagen, nDSG-Anforderungen — Schulungen</a:t>
            </a:r>
            <a:br/>
            <a:r>
              <a:t>erreichen nicht alle gleichzeitig.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931920"/>
            <a:ext cx="6400800" cy="1371600"/>
          </a:xfrm>
          <a:prstGeom prst="rect">
            <a:avLst/>
          </a:prstGeom>
          <a:solidFill>
            <a:srgbClr val="F5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023359"/>
            <a:ext cx="6035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31314"/>
                </a:solidFill>
                <a:latin typeface="Space Grotesk"/>
              </a:defRPr>
            </a:pPr>
            <a:r>
              <a:t>Dezentrale Struktur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297680"/>
            <a:ext cx="6035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6B6B6B"/>
                </a:solidFill>
                <a:latin typeface="Space Grotesk"/>
              </a:defRPr>
            </a:pPr>
            <a:r>
              <a:t>212 selbstständige Genossenschaftsbanken bedeuten</a:t>
            </a:r>
            <a:br/>
            <a:r>
              <a:t>212 unterschiedliche Wissensstände. Was in St. Gallen</a:t>
            </a:r>
            <a:br/>
            <a:r>
              <a:t>bekannt ist, muss in Winterthur nicht angekommen sein.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5486400"/>
            <a:ext cx="6400800" cy="1371600"/>
          </a:xfrm>
          <a:prstGeom prst="rect">
            <a:avLst/>
          </a:prstGeom>
          <a:solidFill>
            <a:srgbClr val="F5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577840"/>
            <a:ext cx="6035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31314"/>
                </a:solidFill>
                <a:latin typeface="Space Grotesk"/>
              </a:defRPr>
            </a:pPr>
            <a:r>
              <a:t>Kosten der Inkonsistenz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852160"/>
            <a:ext cx="6035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6B6B6B"/>
                </a:solidFill>
                <a:latin typeface="Space Grotesk"/>
              </a:defRPr>
            </a:pPr>
            <a:r>
              <a:t>Ein Berater, der veraltete Konditionen nennt oder ein</a:t>
            </a:r>
            <a:br/>
            <a:r>
              <a:t>Produkt nicht kennt, verliert Vertrauen. Im schlimmsten</a:t>
            </a:r>
            <a:br/>
            <a:r>
              <a:t>Fall: Compliance-Risiko durch falsche Beratung.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89520" y="1920240"/>
            <a:ext cx="6400800" cy="320040"/>
          </a:xfrm>
          <a:prstGeom prst="rect">
            <a:avLst/>
          </a:prstGeom>
          <a:solidFill>
            <a:srgbClr val="F8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0" y="1965960"/>
            <a:ext cx="6035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D97757"/>
                </a:solidFill>
                <a:latin typeface="JetBrains Mono"/>
              </a:defRPr>
            </a:pPr>
            <a:r>
              <a:t>WAS AI VERÄNDERN KANN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89520" y="2377440"/>
            <a:ext cx="6400800" cy="1371600"/>
          </a:xfrm>
          <a:prstGeom prst="rect">
            <a:avLst/>
          </a:prstGeom>
          <a:solidFill>
            <a:srgbClr val="F5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2468880"/>
            <a:ext cx="6035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31314"/>
                </a:solidFill>
                <a:latin typeface="Space Grotesk"/>
              </a:defRPr>
            </a:pPr>
            <a:r>
              <a:t>AI-Wissensbasis in Echtzeit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2743200"/>
            <a:ext cx="6035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6B6B6B"/>
                </a:solidFill>
                <a:latin typeface="Space Grotesk"/>
              </a:defRPr>
            </a:pPr>
            <a:r>
              <a:t>Ein interner AI-Assistent, der alle Produktdokumente</a:t>
            </a:r>
            <a:br/>
            <a:r>
              <a:t>und Konditionen kennt. Berater fragen in natürlicher</a:t>
            </a:r>
            <a:br/>
            <a:r>
              <a:t>Sprache: «Welche Vorsorge-Optionen hat ein 55-Jähriger?»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89520" y="3931920"/>
            <a:ext cx="6400800" cy="1371600"/>
          </a:xfrm>
          <a:prstGeom prst="rect">
            <a:avLst/>
          </a:prstGeom>
          <a:solidFill>
            <a:srgbClr val="F5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023359"/>
            <a:ext cx="6035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31314"/>
                </a:solidFill>
                <a:latin typeface="Space Grotesk"/>
              </a:defRPr>
            </a:pPr>
            <a:r>
              <a:t>Immer aktuell, automatisch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4297680"/>
            <a:ext cx="6035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6B6B6B"/>
                </a:solidFill>
                <a:latin typeface="Space Grotesk"/>
              </a:defRPr>
            </a:pPr>
            <a:r>
              <a:t>Neue Konditionen oder regulatorische Änderungen werden</a:t>
            </a:r>
            <a:br/>
            <a:r>
              <a:t>eingepflegt und sind sofort für alle 212 Banken verfügbar.</a:t>
            </a:r>
            <a:br/>
            <a:r>
              <a:t>Kein Schulungsrundlauf, kein veraltetes PDF.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589520" y="5486400"/>
            <a:ext cx="6400800" cy="1371600"/>
          </a:xfrm>
          <a:prstGeom prst="rect">
            <a:avLst/>
          </a:prstGeom>
          <a:solidFill>
            <a:srgbClr val="F5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0" y="5577840"/>
            <a:ext cx="6035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31314"/>
                </a:solidFill>
                <a:latin typeface="Space Grotesk"/>
              </a:defRPr>
            </a:pPr>
            <a:r>
              <a:t>Nachvollziehbar &amp; zitierfähig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5852160"/>
            <a:ext cx="6035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6B6B6B"/>
                </a:solidFill>
                <a:latin typeface="Space Grotesk"/>
              </a:defRPr>
            </a:pPr>
            <a:r>
              <a:t>Jede Antwort mit Quellenangabe — Berater kann prüfen,</a:t>
            </a:r>
            <a:br/>
            <a:r>
              <a:t>woher die Information stammt. Keine Blackbox.</a:t>
            </a:r>
            <a:br/>
            <a:r>
              <a:t>Audit-fähig für Compliance-Prüfungen. DE/FR/IT.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7178040"/>
            <a:ext cx="13167360" cy="457200"/>
          </a:xfrm>
          <a:prstGeom prst="rect">
            <a:avLst/>
          </a:prstGeom>
          <a:solidFill>
            <a:srgbClr val="131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7242048"/>
            <a:ext cx="1280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Space Grotesk"/>
              </a:defRPr>
            </a:pPr>
            <a:r>
              <a:t>Einheitliches Produktwissen reduziert Beratungsfehler, stärkt das Kundenvertrauen und senkt Compliance-Risiken.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78181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00" b="0">
                <a:solidFill>
                  <a:srgbClr val="999999"/>
                </a:solidFill>
                <a:latin typeface="JetBrains Mono"/>
              </a:defRPr>
            </a:pPr>
            <a:r>
              <a:t>Vertraulich  ·  Salesteq × Raiffeisen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801600" y="78181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800" b="0">
                <a:solidFill>
                  <a:srgbClr val="999999"/>
                </a:solidFill>
                <a:latin typeface="JetBrains Mono"/>
              </a:defRPr>
            </a:pPr>
            <a: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D97757"/>
                </a:solidFill>
                <a:latin typeface="JetBrains Mono"/>
              </a:defRPr>
            </a:pPr>
            <a:r>
              <a:t>USE CASE 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800" b="1">
                <a:solidFill>
                  <a:srgbClr val="131314"/>
                </a:solidFill>
                <a:latin typeface="Space Grotesk"/>
              </a:defRPr>
            </a:pPr>
            <a:r>
              <a:t>Erster Kundenkontakt: Chat und Telefon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2286000" cy="3810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280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6B6B6B"/>
                </a:solidFill>
                <a:latin typeface="Space Grotesk"/>
              </a:defRPr>
            </a:pPr>
            <a:r>
              <a:t>Routineanfragen binden Beraterkapazität. AI übernimmt den ersten Kontakt und leitet qualifiziert weiter.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6400800" cy="320040"/>
          </a:xfrm>
          <a:prstGeom prst="rect">
            <a:avLst/>
          </a:prstGeom>
          <a:solidFill>
            <a:srgbClr val="F8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6035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D97757"/>
                </a:solidFill>
                <a:latin typeface="JetBrains Mono"/>
              </a:defRPr>
            </a:pPr>
            <a:r>
              <a:t>HERAUSFORDERUNG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377440"/>
            <a:ext cx="6400800" cy="1371600"/>
          </a:xfrm>
          <a:prstGeom prst="rect">
            <a:avLst/>
          </a:prstGeom>
          <a:solidFill>
            <a:srgbClr val="F5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68880"/>
            <a:ext cx="6035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31314"/>
                </a:solidFill>
                <a:latin typeface="Space Grotesk"/>
              </a:defRPr>
            </a:pPr>
            <a:r>
              <a:t>Verpasste Anrufe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43200"/>
            <a:ext cx="6035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6B6B6B"/>
                </a:solidFill>
                <a:latin typeface="Space Grotesk"/>
              </a:defRPr>
            </a:pPr>
            <a:r>
              <a:t>Während ein RM berät, klingelt das Telefon. Kontoeröffnung,</a:t>
            </a:r>
            <a:br/>
            <a:r>
              <a:t>Kartensperrung, Zinskonditionen — Routinefragen, die sofort</a:t>
            </a:r>
            <a:br/>
            <a:r>
              <a:t>beantwortet werden könnten.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931920"/>
            <a:ext cx="6400800" cy="1371600"/>
          </a:xfrm>
          <a:prstGeom prst="rect">
            <a:avLst/>
          </a:prstGeom>
          <a:solidFill>
            <a:srgbClr val="F5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023359"/>
            <a:ext cx="6035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31314"/>
                </a:solidFill>
                <a:latin typeface="Space Grotesk"/>
              </a:defRPr>
            </a:pPr>
            <a:r>
              <a:t>Tina reicht nicht mehr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297680"/>
            <a:ext cx="6035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6B6B6B"/>
                </a:solidFill>
                <a:latin typeface="Space Grotesk"/>
              </a:defRPr>
            </a:pPr>
            <a:r>
              <a:t>Der bestehende Chatbot (Rasa) beantwortet einfache FAQ.</a:t>
            </a:r>
            <a:br/>
            <a:r>
              <a:t>Aber: keine echte Konversation, kein Sprachverständnis,</a:t>
            </a:r>
            <a:br/>
            <a:r>
              <a:t>keine qualifizierte Weiterleitung, kein Telefon.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5486400"/>
            <a:ext cx="6400800" cy="1371600"/>
          </a:xfrm>
          <a:prstGeom prst="rect">
            <a:avLst/>
          </a:prstGeom>
          <a:solidFill>
            <a:srgbClr val="F5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577840"/>
            <a:ext cx="6035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31314"/>
                </a:solidFill>
                <a:latin typeface="Space Grotesk"/>
              </a:defRPr>
            </a:pPr>
            <a:r>
              <a:t>Drei Sprachen, 896 Standorte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852160"/>
            <a:ext cx="6035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6B6B6B"/>
                </a:solidFill>
                <a:latin typeface="Space Grotesk"/>
              </a:defRPr>
            </a:pPr>
            <a:r>
              <a:t>Jede Filiale bedient DE-, FR- oder IT-sprachige Kunden.</a:t>
            </a:r>
            <a:br/>
            <a:r>
              <a:t>Ein AI-Agent muss alle drei Sprachen fliessend beherrschen —</a:t>
            </a:r>
            <a:br/>
            <a:r>
              <a:t>im Chat und am Telefon.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89520" y="1920240"/>
            <a:ext cx="6400800" cy="320040"/>
          </a:xfrm>
          <a:prstGeom prst="rect">
            <a:avLst/>
          </a:prstGeom>
          <a:solidFill>
            <a:srgbClr val="F8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0" y="1965960"/>
            <a:ext cx="6035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D97757"/>
                </a:solidFill>
                <a:latin typeface="JetBrains Mono"/>
              </a:defRPr>
            </a:pPr>
            <a:r>
              <a:t>WAS AI VERÄNDERN KANN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89520" y="2377440"/>
            <a:ext cx="6400800" cy="1371600"/>
          </a:xfrm>
          <a:prstGeom prst="rect">
            <a:avLst/>
          </a:prstGeom>
          <a:solidFill>
            <a:srgbClr val="F5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2468880"/>
            <a:ext cx="6035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31314"/>
                </a:solidFill>
                <a:latin typeface="Space Grotesk"/>
              </a:defRPr>
            </a:pPr>
            <a:r>
              <a:t>Intelligenter Erstkontakt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2743200"/>
            <a:ext cx="6035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6B6B6B"/>
                </a:solidFill>
                <a:latin typeface="Space Grotesk"/>
              </a:defRPr>
            </a:pPr>
            <a:r>
              <a:t>AI beantwortet Routineanfragen auf der Website. Erkennt,</a:t>
            </a:r>
            <a:br/>
            <a:r>
              <a:t>wenn ein Anliegen komplex wird (Hypothek, Vorsorge)</a:t>
            </a:r>
            <a:br/>
            <a:r>
              <a:t>und leitet an den richtigen RM weiter.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89520" y="3931920"/>
            <a:ext cx="6400800" cy="1371600"/>
          </a:xfrm>
          <a:prstGeom prst="rect">
            <a:avLst/>
          </a:prstGeom>
          <a:solidFill>
            <a:srgbClr val="F5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023359"/>
            <a:ext cx="6035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31314"/>
                </a:solidFill>
                <a:latin typeface="Space Grotesk"/>
              </a:defRPr>
            </a:pPr>
            <a:r>
              <a:t>Eigene Voice AI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4297680"/>
            <a:ext cx="6035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6B6B6B"/>
                </a:solidFill>
                <a:latin typeface="Space Grotesk"/>
              </a:defRPr>
            </a:pPr>
            <a:r>
              <a:t>Salesteq hat eine eigene Sprach-Engine (nicht ElevenLabs/</a:t>
            </a:r>
            <a:br/>
            <a:r>
              <a:t>Deepgram). Läuft in Produktion: Arabische Dialekte für</a:t>
            </a:r>
            <a:br/>
            <a:r>
              <a:t>BMW/Naghi. DE/FR/IT ist technisch gelöst.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589520" y="5486400"/>
            <a:ext cx="6400800" cy="1371600"/>
          </a:xfrm>
          <a:prstGeom prst="rect">
            <a:avLst/>
          </a:prstGeom>
          <a:solidFill>
            <a:srgbClr val="F5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0" y="5577840"/>
            <a:ext cx="6035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31314"/>
                </a:solidFill>
                <a:latin typeface="Space Grotesk"/>
              </a:defRPr>
            </a:pPr>
            <a:r>
              <a:t>Qualifizierte Weiterleitung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5852160"/>
            <a:ext cx="6035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6B6B6B"/>
                </a:solidFill>
                <a:latin typeface="Space Grotesk"/>
              </a:defRPr>
            </a:pPr>
            <a:r>
              <a:t>Der AI-Agent sammelt Kontext (Name, Anliegen, Sprache,</a:t>
            </a:r>
            <a:br/>
            <a:r>
              <a:t>Dringlichkeit) und übergibt an den Berater — mit</a:t>
            </a:r>
            <a:br/>
            <a:r>
              <a:t>Zusammenfassung. Der RM startet informiert.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7178040"/>
            <a:ext cx="13167360" cy="457200"/>
          </a:xfrm>
          <a:prstGeom prst="rect">
            <a:avLst/>
          </a:prstGeom>
          <a:solidFill>
            <a:srgbClr val="131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7242048"/>
            <a:ext cx="1280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Space Grotesk"/>
              </a:defRPr>
            </a:pPr>
            <a:r>
              <a:t>Chatbot Tina sparte 10'000 Anrufe in 6 Monaten. Ein AI-Agent mit Voice und Konversationsfähigkeit kann das verzehnfachen.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78181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00" b="0">
                <a:solidFill>
                  <a:srgbClr val="999999"/>
                </a:solidFill>
                <a:latin typeface="JetBrains Mono"/>
              </a:defRPr>
            </a:pPr>
            <a:r>
              <a:t>Vertraulich  ·  Salesteq × Raiffeisen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801600" y="78181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800" b="0">
                <a:solidFill>
                  <a:srgbClr val="999999"/>
                </a:solidFill>
                <a:latin typeface="JetBrains Mono"/>
              </a:defRPr>
            </a:pPr>
            <a: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D97757"/>
                </a:solidFill>
                <a:latin typeface="JetBrains Mono"/>
              </a:defRPr>
            </a:pPr>
            <a:r>
              <a:t>VORGEHEN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800" b="1">
                <a:solidFill>
                  <a:srgbClr val="131314"/>
                </a:solidFill>
                <a:latin typeface="Space Grotesk"/>
              </a:defRPr>
            </a:pPr>
            <a:r>
              <a:t>Klein anfangen. Gemeinsam lernen.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2286000" cy="3810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6B6B6B"/>
                </a:solidFill>
                <a:latin typeface="Space Grotesk"/>
              </a:defRPr>
            </a:pPr>
            <a:r>
              <a:t>Kein grosses Projekt. Kein aufwändiger Beschaffungsprozess. Ein kleines, begrenztes Experiment mit klaren Zielen.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640080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920240"/>
            <a:ext cx="6400800" cy="320040"/>
          </a:xfrm>
          <a:prstGeom prst="rect">
            <a:avLst/>
          </a:prstGeom>
          <a:solidFill>
            <a:srgbClr val="EE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6035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2D8A4E"/>
                </a:solidFill>
                <a:latin typeface="JetBrains Mono"/>
              </a:defRPr>
            </a:pPr>
            <a:r>
              <a:t>✓  WAS WIR BRAUCHEN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6035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2A2A2A"/>
                </a:solidFill>
                <a:latin typeface="Space Grotesk"/>
              </a:defRPr>
            </a:pPr>
            <a:r>
              <a:t>·  Einen Ansprechpartner im Vertrieb (kein IT-Team nötig)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97479"/>
            <a:ext cx="6035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2A2A2A"/>
                </a:solidFill>
                <a:latin typeface="Space Grotesk"/>
              </a:defRPr>
            </a:pPr>
            <a:r>
              <a:t>·  Zugang zu einem typischen Berateralltag (1 Tag, 1 Filiale)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063239"/>
            <a:ext cx="6035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2A2A2A"/>
                </a:solidFill>
                <a:latin typeface="Space Grotesk"/>
              </a:defRPr>
            </a:pPr>
            <a:r>
              <a:t>·  Bereitschaft, ein kleines Experiment zu starten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1920240"/>
            <a:ext cx="640080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589520" y="1920240"/>
            <a:ext cx="6400800" cy="320040"/>
          </a:xfrm>
          <a:prstGeom prst="rect">
            <a:avLst/>
          </a:prstGeom>
          <a:solidFill>
            <a:srgbClr val="F7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965960"/>
            <a:ext cx="6035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B84A4A"/>
                </a:solidFill>
                <a:latin typeface="JetBrains Mono"/>
              </a:defRPr>
            </a:pPr>
            <a:r>
              <a:t>✗  WAS WIR NICHT BRAUCHEN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2331720"/>
            <a:ext cx="6035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2A2A2A"/>
                </a:solidFill>
                <a:latin typeface="Space Grotesk"/>
              </a:defRPr>
            </a:pPr>
            <a:r>
              <a:t>·  Kein grosses Budget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2697479"/>
            <a:ext cx="6035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2A2A2A"/>
                </a:solidFill>
                <a:latin typeface="Space Grotesk"/>
              </a:defRPr>
            </a:pPr>
            <a:r>
              <a:t>·  Kein grosses IT-Involvement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3063239"/>
            <a:ext cx="6035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2A2A2A"/>
                </a:solidFill>
                <a:latin typeface="Space Grotesk"/>
              </a:defRPr>
            </a:pPr>
            <a:r>
              <a:t>·  Keine langfristigen Commitments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3429000"/>
            <a:ext cx="6035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2A2A2A"/>
                </a:solidFill>
                <a:latin typeface="Space Grotesk"/>
              </a:defRPr>
            </a:pPr>
            <a:r>
              <a:t>·  Keinen Zugang zu Kernbanksystemen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297680"/>
            <a:ext cx="4389120" cy="3383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4297680"/>
            <a:ext cx="4389120" cy="36576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44348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0">
                <a:solidFill>
                  <a:srgbClr val="D97757"/>
                </a:solidFill>
                <a:latin typeface="Space Grotesk"/>
              </a:defRPr>
            </a:pPr>
            <a: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489204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31314"/>
                </a:solidFill>
                <a:latin typeface="Space Grotesk"/>
              </a:defRPr>
            </a:pPr>
            <a:r>
              <a:t>Discovery-Workshop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0120" y="5212080"/>
            <a:ext cx="3931920" cy="12700"/>
          </a:xfrm>
          <a:prstGeom prst="rect">
            <a:avLst/>
          </a:prstGeom>
          <a:solidFill>
            <a:srgbClr val="E8E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5303520"/>
            <a:ext cx="3840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6B6B6B"/>
                </a:solidFill>
                <a:latin typeface="Space Grotesk"/>
              </a:defRPr>
            </a:pPr>
            <a:r>
              <a:t>Halber Tag mit Ivo und 1–2</a:t>
            </a:r>
            <a:br/>
            <a:r>
              <a:t>Kundenberatern. Vertriebsprozess</a:t>
            </a:r>
            <a:br/>
            <a:r>
              <a:t>und Kundenprozess analysieren.</a:t>
            </a:r>
            <a:br/>
            <a:br/>
            <a:r>
              <a:t>Wo hat AI den grössten Hebel?</a:t>
            </a:r>
            <a:br/>
            <a:r>
              <a:t>Was ist realistisch, was nicht?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70866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D97757"/>
                </a:solidFill>
                <a:latin typeface="JetBrains Mono"/>
              </a:defRPr>
            </a:pPr>
            <a:r>
              <a:t>Woche 1–2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03520" y="4297680"/>
            <a:ext cx="4389120" cy="3383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303520" y="4297680"/>
            <a:ext cx="4389120" cy="36576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32120" y="44348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0">
                <a:solidFill>
                  <a:srgbClr val="D97757"/>
                </a:solidFill>
                <a:latin typeface="Space Grotesk"/>
              </a:defRPr>
            </a:pPr>
            <a: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32120" y="489204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31314"/>
                </a:solidFill>
                <a:latin typeface="Space Grotesk"/>
              </a:defRPr>
            </a:pPr>
            <a:r>
              <a:t>Handlungsempfehlung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532120" y="5212080"/>
            <a:ext cx="3931920" cy="12700"/>
          </a:xfrm>
          <a:prstGeom prst="rect">
            <a:avLst/>
          </a:prstGeom>
          <a:solidFill>
            <a:srgbClr val="E8E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532120" y="5303520"/>
            <a:ext cx="3840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6B6B6B"/>
                </a:solidFill>
                <a:latin typeface="Space Grotesk"/>
              </a:defRPr>
            </a:pPr>
            <a:r>
              <a:t>Salesteq erarbeitet eine konkrete</a:t>
            </a:r>
            <a:br/>
            <a:r>
              <a:t>Handlungsempfehlung — priorisierte</a:t>
            </a:r>
            <a:br/>
            <a:r>
              <a:t>Szenarien, Aufwand, Nutzen.</a:t>
            </a:r>
            <a:br/>
            <a:br/>
            <a:r>
              <a:t>Ein Dokument, das Ivo intern</a:t>
            </a:r>
            <a:br/>
            <a:r>
              <a:t>mit IT und Stakeholdern testen kann.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32120" y="70866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D97757"/>
                </a:solidFill>
                <a:latin typeface="JetBrains Mono"/>
              </a:defRPr>
            </a:pPr>
            <a:r>
              <a:t>Woche 3–4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875520" y="4297680"/>
            <a:ext cx="4389120" cy="3383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875520" y="4297680"/>
            <a:ext cx="4389120" cy="36576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04120" y="44348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0">
                <a:solidFill>
                  <a:srgbClr val="D97757"/>
                </a:solidFill>
                <a:latin typeface="Space Grotesk"/>
              </a:defRPr>
            </a:pPr>
            <a: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04120" y="489204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31314"/>
                </a:solidFill>
                <a:latin typeface="Space Grotesk"/>
              </a:defRPr>
            </a:pPr>
            <a:r>
              <a:t>Gemeinsam entscheiden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104120" y="5212080"/>
            <a:ext cx="3931920" cy="12700"/>
          </a:xfrm>
          <a:prstGeom prst="rect">
            <a:avLst/>
          </a:prstGeom>
          <a:solidFill>
            <a:srgbClr val="E8E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104120" y="5303520"/>
            <a:ext cx="3840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6B6B6B"/>
                </a:solidFill>
                <a:latin typeface="Space Grotesk"/>
              </a:defRPr>
            </a:pPr>
            <a:r>
              <a:t>Auf Basis der Empfehlung:</a:t>
            </a:r>
            <a:br/>
            <a:r>
              <a:t>nächste Schritte festlegen.</a:t>
            </a:r>
            <a:br/>
            <a:br/>
            <a:r>
              <a:t>Ob Prototyp, Pilotprojekt oder</a:t>
            </a:r>
            <a:br/>
            <a:r>
              <a:t>weitere Vertiefung — die Entscheidung</a:t>
            </a:r>
            <a:br/>
            <a:r>
              <a:t>liegt bei Raiffeisen.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04120" y="70866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D97757"/>
                </a:solidFill>
                <a:latin typeface="JetBrains Mono"/>
              </a:defRPr>
            </a:pPr>
            <a:r>
              <a:t>Woche 5–6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78181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00" b="0">
                <a:solidFill>
                  <a:srgbClr val="999999"/>
                </a:solidFill>
                <a:latin typeface="JetBrains Mono"/>
              </a:defRPr>
            </a:pPr>
            <a:r>
              <a:t>Vertraulich  ·  Salesteq × Raiffeisen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801600" y="78181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800" b="0">
                <a:solidFill>
                  <a:srgbClr val="999999"/>
                </a:solidFill>
                <a:latin typeface="JetBrains Mono"/>
              </a:defRPr>
            </a:pPr>
            <a: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D97757"/>
                </a:solidFill>
                <a:latin typeface="JetBrains Mono"/>
              </a:defRPr>
            </a:pPr>
            <a:r>
              <a:t>ZUSAMMENARBEIT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800" b="1">
                <a:solidFill>
                  <a:srgbClr val="131314"/>
                </a:solidFill>
                <a:latin typeface="Space Grotesk"/>
              </a:defRPr>
            </a:pPr>
            <a:r>
              <a:t>Warum Salesteq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2286000" cy="3810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13167360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131314"/>
                </a:solidFill>
                <a:latin typeface="Space Grotesk"/>
              </a:defRPr>
            </a:pPr>
            <a:r>
              <a:t>Austausch vom März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50"/>
              </a:lnSpc>
              <a:spcAft>
                <a:spcPts val="200"/>
              </a:spcAft>
              <a:defRPr sz="1000" b="0">
                <a:solidFill>
                  <a:srgbClr val="6B6B6B"/>
                </a:solidFill>
                <a:latin typeface="Space Grotesk"/>
              </a:defRPr>
            </a:pPr>
            <a:r>
              <a:t>Im Gespräch mit Ivo Schneider und Lukas Seger wurde vereinbart, ein einfaches Szenario</a:t>
            </a:r>
          </a:p>
          <a:p>
            <a:pPr algn="l">
              <a:lnSpc>
                <a:spcPts val="1350"/>
              </a:lnSpc>
              <a:spcAft>
                <a:spcPts val="200"/>
              </a:spcAft>
              <a:defRPr sz="1000" b="0">
                <a:solidFill>
                  <a:srgbClr val="6B6B6B"/>
                </a:solidFill>
                <a:latin typeface="Space Grotesk"/>
              </a:defRPr>
            </a:pPr>
            <a:r>
              <a:t>vorzubereiten — basierend auf dem Ansatz bei Allianz Suisse.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377440"/>
            <a:ext cx="12618720" cy="12700"/>
          </a:xfrm>
          <a:prstGeom prst="rect">
            <a:avLst/>
          </a:prstGeom>
          <a:solidFill>
            <a:srgbClr val="E8E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68880"/>
            <a:ext cx="1280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131314"/>
                </a:solidFill>
                <a:latin typeface="Space Grotesk"/>
              </a:defRPr>
            </a:pPr>
            <a:r>
              <a:t>Vorgehen in 3 Schritten: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9748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50"/>
              </a:lnSpc>
              <a:spcAft>
                <a:spcPts val="200"/>
              </a:spcAft>
              <a:defRPr sz="1000" b="0">
                <a:solidFill>
                  <a:srgbClr val="2A2A2A"/>
                </a:solidFill>
                <a:latin typeface="Space Grotesk"/>
              </a:defRPr>
            </a:pPr>
            <a:r>
              <a:t>Schritt 1: Big Picture — «Zukunft des Vertriebs mit AI bei Raiffeisen»</a:t>
            </a:r>
          </a:p>
          <a:p>
            <a:pPr algn="l">
              <a:lnSpc>
                <a:spcPts val="1350"/>
              </a:lnSpc>
              <a:spcAft>
                <a:spcPts val="200"/>
              </a:spcAft>
              <a:defRPr sz="1000" b="0">
                <a:solidFill>
                  <a:srgbClr val="2A2A2A"/>
                </a:solidFill>
                <a:latin typeface="Space Grotesk"/>
              </a:defRPr>
            </a:pPr>
            <a:r>
              <a:t>Schritt 2: Ausarbeitung eines konkreten Use Case (z.B. RM-Training, proaktive Ansprache)</a:t>
            </a:r>
          </a:p>
          <a:p>
            <a:pPr algn="l">
              <a:lnSpc>
                <a:spcPts val="1350"/>
              </a:lnSpc>
              <a:spcAft>
                <a:spcPts val="200"/>
              </a:spcAft>
              <a:defRPr sz="1000" b="0">
                <a:solidFill>
                  <a:srgbClr val="2A2A2A"/>
                </a:solidFill>
                <a:latin typeface="Space Grotesk"/>
              </a:defRPr>
            </a:pPr>
            <a:r>
              <a:t>Schritt 3: Optional — Proof-of-Concept mit einer Raiffeisenbank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566160"/>
            <a:ext cx="6400800" cy="2834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566160"/>
            <a:ext cx="6400800" cy="36576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657600"/>
            <a:ext cx="6035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31314"/>
                </a:solidFill>
                <a:latin typeface="Space Grotesk"/>
              </a:defRPr>
            </a:pPr>
            <a:r>
              <a:t>Was Salesteq mitbringt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3931920"/>
            <a:ext cx="6035040" cy="12700"/>
          </a:xfrm>
          <a:prstGeom prst="rect">
            <a:avLst/>
          </a:prstGeom>
          <a:solidFill>
            <a:srgbClr val="E8E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023360"/>
            <a:ext cx="6035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A2A2A"/>
                </a:solidFill>
                <a:latin typeface="Space Grotesk"/>
              </a:defRPr>
            </a:pPr>
            <a:r>
              <a:t>✓  Produktionserfahrung: Naghi/BMW (15'000+ MA, Voice AI)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407408"/>
            <a:ext cx="6035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A2A2A"/>
                </a:solidFill>
                <a:latin typeface="Space Grotesk"/>
              </a:defRPr>
            </a:pPr>
            <a:r>
              <a:t>✓  Pilot mit Allianz Suisse (Analytics &amp; Kundenforschung)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791456"/>
            <a:ext cx="6035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A2A2A"/>
                </a:solidFill>
                <a:latin typeface="Space Grotesk"/>
              </a:defRPr>
            </a:pPr>
            <a:r>
              <a:t>✓  Eigene Sprach-Engine — kein API-Wrapper, eigene Modelle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175504"/>
            <a:ext cx="6035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A2A2A"/>
                </a:solidFill>
                <a:latin typeface="Space Grotesk"/>
              </a:defRPr>
            </a:pPr>
            <a:r>
              <a:t>✓  Mandantenfähig: 212 Banken = 212 isolierte Mandanten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559552"/>
            <a:ext cx="6035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A2A2A"/>
                </a:solidFill>
                <a:latin typeface="Space Grotesk"/>
              </a:defRPr>
            </a:pPr>
            <a:r>
              <a:t>✓  Schweizer Unternehmen (Zug), direkter Zugang zu Gründern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89520" y="3566160"/>
            <a:ext cx="6400800" cy="2834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589520" y="3566160"/>
            <a:ext cx="6400800" cy="36576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0" y="3657600"/>
            <a:ext cx="6035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31314"/>
                </a:solidFill>
                <a:latin typeface="Space Grotesk"/>
              </a:defRPr>
            </a:pPr>
            <a:r>
              <a:t>Was Salesteq nicht ist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0" y="3931920"/>
            <a:ext cx="6035040" cy="12700"/>
          </a:xfrm>
          <a:prstGeom prst="rect">
            <a:avLst/>
          </a:prstGeom>
          <a:solidFill>
            <a:srgbClr val="E8E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0" y="4023360"/>
            <a:ext cx="6035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A2A2A"/>
                </a:solidFill>
                <a:latin typeface="Space Grotesk"/>
              </a:defRPr>
            </a:pPr>
            <a:r>
              <a:t>✗  Kein CRM-Ersatz (BSI, Salesforce bleiben bestehen)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4407408"/>
            <a:ext cx="6035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A2A2A"/>
                </a:solidFill>
                <a:latin typeface="Space Grotesk"/>
              </a:defRPr>
            </a:pPr>
            <a:r>
              <a:t>✗  Kein Copilot-Konkurrent (ergänzt, ersetzt nicht)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4791456"/>
            <a:ext cx="6035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A2A2A"/>
                </a:solidFill>
                <a:latin typeface="Space Grotesk"/>
              </a:defRPr>
            </a:pPr>
            <a:r>
              <a:t>✗  Kein fertiges Bankenprodukt (wir bauen gemeinsam)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5175504"/>
            <a:ext cx="6035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A2A2A"/>
                </a:solidFill>
                <a:latin typeface="Space Grotesk"/>
              </a:defRPr>
            </a:pPr>
            <a:r>
              <a:t>✗  Keine Blackbox — volle Nachvollziehbarkeit aller AI-Aktionen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6675120"/>
            <a:ext cx="13167360" cy="1005840"/>
          </a:xfrm>
          <a:prstGeom prst="rect">
            <a:avLst/>
          </a:prstGeom>
          <a:solidFill>
            <a:srgbClr val="131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67665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FAF9F0"/>
                </a:solidFill>
                <a:latin typeface="Space Grotesk"/>
              </a:defRPr>
            </a:pPr>
            <a:r>
              <a:t>Kein Druck, keine Eile.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70866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3D3D3F"/>
                </a:solidFill>
                <a:latin typeface="Space Grotesk"/>
              </a:defRPr>
            </a:pPr>
            <a:r>
              <a:t>Wenn das Szenario Sinn macht, finden wir den richtigen Anfang.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736092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3D3D3F"/>
                </a:solidFill>
                <a:latin typeface="Space Grotesk"/>
              </a:defRPr>
            </a:pPr>
            <a:r>
              <a:t>Wenn nicht, war es ein gutes Gespräch.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681228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3D3D3F"/>
                </a:solidFill>
                <a:latin typeface="Space Grotesk"/>
              </a:defRPr>
            </a:pPr>
            <a:r>
              <a:t>Viktor Andreas</a:t>
            </a:r>
            <a:br/>
            <a:r>
              <a:t>viktor@salesteq.com</a:t>
            </a:r>
            <a:br/>
            <a:r>
              <a:t>salesteq.com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78181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00" b="0">
                <a:solidFill>
                  <a:srgbClr val="999999"/>
                </a:solidFill>
                <a:latin typeface="JetBrains Mono"/>
              </a:defRPr>
            </a:pPr>
            <a:r>
              <a:t>Vertraulich  ·  Salesteq × Raiffeisen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801600" y="78181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800" b="0">
                <a:solidFill>
                  <a:srgbClr val="999999"/>
                </a:solidFill>
                <a:latin typeface="JetBrains Mono"/>
              </a:defRPr>
            </a:pPr>
            <a: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