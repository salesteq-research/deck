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3D3D3F"/>
                </a:solidFill>
                <a:latin typeface="JetBrains Mono"/>
              </a:defRPr>
            </a:pPr>
            <a:r>
              <a:t>DISKUSSIONSGRUNDLAGE · VERTRAULICH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6400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5600" b="0">
                <a:solidFill>
                  <a:srgbClr val="131314"/>
                </a:solidFill>
                <a:latin typeface="Inter"/>
              </a:defRPr>
            </a:pPr>
            <a:r>
              <a:t>Test and</a:t>
            </a:r>
            <a:br/>
            <a:r>
              <a:t>Learn mit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931920"/>
            <a:ext cx="1828800" cy="3175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39"/>
              </a:lnSpc>
              <a:spcAft>
                <a:spcPts val="300"/>
              </a:spcAft>
              <a:defRPr sz="1600" b="0">
                <a:solidFill>
                  <a:srgbClr val="3D3D3F"/>
                </a:solidFill>
                <a:latin typeface="Inter"/>
              </a:defRPr>
            </a:pPr>
            <a:r>
              <a:t>Wie AI den Vertrieb bei Raiffeisen unterstützen könnte.</a:t>
            </a:r>
          </a:p>
          <a:p>
            <a:pPr algn="l">
              <a:lnSpc>
                <a:spcPts val="1839"/>
              </a:lnSpc>
              <a:spcAft>
                <a:spcPts val="300"/>
              </a:spcAft>
              <a:defRPr sz="1600" b="0">
                <a:solidFill>
                  <a:srgbClr val="3D3D3F"/>
                </a:solidFill>
                <a:latin typeface="Inter"/>
              </a:defRPr>
            </a:pPr>
            <a:r>
              <a:t>Kein fertiger Plan — ein Gedankenanstoss.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0"/>
            <a:ext cx="1828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3D3D3F"/>
                </a:solidFill>
                <a:latin typeface="JetBrains Mono"/>
              </a:defRPr>
            </a:pPr>
            <a:r>
              <a:t>VORBEREITET FÜR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31314"/>
                </a:solidFill>
                <a:latin typeface="Inter"/>
              </a:defRPr>
            </a:pPr>
            <a:r>
              <a:t>Ivo Schneider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537959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3D3D3F"/>
                </a:solidFill>
                <a:latin typeface="Inter"/>
              </a:defRPr>
            </a:pPr>
            <a:r>
              <a:t>Leiter Vertrieb, Raiffeisen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5943600"/>
            <a:ext cx="1828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3D3D3F"/>
                </a:solidFill>
                <a:latin typeface="JetBrains Mono"/>
              </a:defRPr>
            </a:pPr>
            <a:r>
              <a:t>VON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621792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31314"/>
                </a:solidFill>
                <a:latin typeface="Inter"/>
              </a:defRPr>
            </a:pPr>
            <a:r>
              <a:t>Viktor Andreas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6537959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3D3D3F"/>
                </a:solidFill>
                <a:latin typeface="Inter"/>
              </a:defRPr>
            </a:pPr>
            <a:r>
              <a:t>Gründer, Salesteq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5943600"/>
            <a:ext cx="1828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3D3D3F"/>
                </a:solidFill>
                <a:latin typeface="JetBrains Mono"/>
              </a:defRPr>
            </a:pPr>
            <a:r>
              <a:t>DATUM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621792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31314"/>
                </a:solidFill>
                <a:latin typeface="Inter"/>
              </a:defRPr>
            </a:pPr>
            <a:r>
              <a:t>März 2026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0"/>
            <a:ext cx="6858000" cy="8229600"/>
          </a:xfrm>
          <a:prstGeom prst="roundRect">
            <a:avLst>
              <a:gd name="adj" fmla="val 0"/>
            </a:avLst>
          </a:prstGeom>
          <a:solidFill>
            <a:srgbClr val="131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0" y="1097280"/>
            <a:ext cx="5943600" cy="1920240"/>
          </a:xfrm>
          <a:prstGeom prst="roundRect">
            <a:avLst>
              <a:gd name="adj" fmla="val 4000"/>
            </a:avLst>
          </a:prstGeom>
          <a:solidFill>
            <a:srgbClr val="1E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0" y="1234439"/>
            <a:ext cx="5303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KONTEXT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1600200"/>
            <a:ext cx="5303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AAAAAE"/>
                </a:solidFill>
                <a:latin typeface="Inter"/>
              </a:defRPr>
            </a:pPr>
            <a:r>
              <a:t>Raiffeisen verfügt über 896 Standorte und</a:t>
            </a:r>
            <a:br/>
            <a:r>
              <a:t>3.65 Mio. Kunden — das dichteste Filialnetz</a:t>
            </a:r>
            <a:br/>
            <a:r>
              <a:t>der Schweiz. Die Stärke liegt in der</a:t>
            </a:r>
            <a:br/>
            <a:r>
              <a:t>persönlichen Beratung.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3291839"/>
            <a:ext cx="5943600" cy="1920240"/>
          </a:xfrm>
          <a:prstGeom prst="roundRect">
            <a:avLst>
              <a:gd name="adj" fmla="val 4000"/>
            </a:avLst>
          </a:prstGeom>
          <a:solidFill>
            <a:srgbClr val="1E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0" y="3428999"/>
            <a:ext cx="5303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DIE FRAGE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3794759"/>
            <a:ext cx="5303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AAAAAE"/>
                </a:solidFill>
                <a:latin typeface="Inter"/>
              </a:defRPr>
            </a:pPr>
            <a:r>
              <a:t>Wie können Kundenberater mehr Zeit für</a:t>
            </a:r>
            <a:br/>
            <a:r>
              <a:t>Beratung gewinnen — und gleichzeitig mehr</a:t>
            </a:r>
            <a:br/>
            <a:r>
              <a:t>Kunden systematisch betreuen?</a:t>
            </a:r>
            <a:br/>
            <a:r>
              <a:t>Ohne das Modell zu ändern.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5486400"/>
            <a:ext cx="5943600" cy="1920240"/>
          </a:xfrm>
          <a:prstGeom prst="roundRect">
            <a:avLst>
              <a:gd name="adj" fmla="val 4000"/>
            </a:avLst>
          </a:prstGeom>
          <a:solidFill>
            <a:srgbClr val="1E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0" y="5623560"/>
            <a:ext cx="5303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UNSER ANSATZ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5989320"/>
            <a:ext cx="5303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AAAAAE"/>
                </a:solidFill>
                <a:latin typeface="Inter"/>
              </a:defRPr>
            </a:pPr>
            <a:r>
              <a:t>So haben wir mit Allianz Suisse begonnen:</a:t>
            </a:r>
            <a:br/>
            <a:r>
              <a:t>Klein starten, gemeinsam lernen, auf Basis</a:t>
            </a:r>
            <a:br/>
            <a:r>
              <a:t>der Ergebnisse entscheiden. Wir schlagen</a:t>
            </a:r>
            <a:br/>
            <a:r>
              <a:t>dasselbe für den Vertrieb vor.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78181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3D3D3F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900" b="0">
                <a:solidFill>
                  <a:srgbClr val="3D3D3F"/>
                </a:solidFill>
                <a:latin typeface="JetBrains Mono"/>
              </a:defRPr>
            </a:pPr>
            <a: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D97757"/>
                </a:solidFill>
                <a:latin typeface="JetBrains Mono"/>
              </a:defRPr>
            </a:pPr>
            <a:r>
              <a:t>ZUSAMMENFASSUNG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2801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800" b="0">
                <a:solidFill>
                  <a:srgbClr val="131314"/>
                </a:solidFill>
                <a:latin typeface="Inter"/>
              </a:defRPr>
            </a:pPr>
            <a:r>
              <a:t>AI kann den Vertrieb stärken —</a:t>
            </a:r>
            <a:br/>
            <a:r>
              <a:t>ohne IT-Projekt, ohne Risiko.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03120"/>
            <a:ext cx="13167360" cy="1280160"/>
          </a:xfrm>
          <a:prstGeom prst="roundRect">
            <a:avLst>
              <a:gd name="adj" fmla="val 4000"/>
            </a:avLst>
          </a:prstGeom>
          <a:solidFill>
            <a:srgbClr val="F0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12618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2D2D2D"/>
                </a:solidFill>
                <a:latin typeface="Inter"/>
              </a:defRPr>
            </a:pPr>
            <a:r>
              <a:t>Raiffeisen investiert bereits in AI (Meeting-Vorbereitung, Chatbot Tina). Aber die nächste Welle — proaktive Kundenansprache, Berater-Training, Cross-Selling-Intelligenz und Voice AI — erfordert keine grossen IT-Projekte. Sie erfordert einen Partner, der es schon in Produktion hat.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3D3D3F"/>
                </a:solidFill>
                <a:latin typeface="JetBrains Mono"/>
              </a:defRPr>
            </a:pPr>
            <a:r>
              <a:t>VIER SZENARIEN ZUR DISKUSSION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23360"/>
            <a:ext cx="3154680" cy="2834640"/>
          </a:xfrm>
          <a:prstGeom prst="roundRect">
            <a:avLst>
              <a:gd name="adj" fmla="val 4000"/>
            </a:avLst>
          </a:prstGeom>
          <a:solidFill>
            <a:srgbClr val="131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4160520"/>
            <a:ext cx="320040" cy="3200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131314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133087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FFFFF"/>
                </a:solidFill>
                <a:latin typeface="Inter"/>
              </a:defRPr>
            </a:pPr>
            <a:r>
              <a:t>Training &amp;</a:t>
            </a:r>
            <a:br/>
            <a:r>
              <a:t>Onboarding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846320"/>
            <a:ext cx="27432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AAAAAE"/>
                </a:solidFill>
                <a:latin typeface="Inter"/>
              </a:defRPr>
            </a:pPr>
            <a:r>
              <a:t>Neue Berater schneller</a:t>
            </a:r>
            <a:br/>
            <a:r>
              <a:t>produktiv machen. AI als</a:t>
            </a:r>
            <a:br/>
            <a:r>
              <a:t>Sparringspartner für</a:t>
            </a:r>
            <a:br/>
            <a:r>
              <a:t>Produkt- und Beratungswissen.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0" y="4023360"/>
            <a:ext cx="3154680" cy="2834640"/>
          </a:xfrm>
          <a:prstGeom prst="roundRect">
            <a:avLst>
              <a:gd name="adj" fmla="val 4000"/>
            </a:avLst>
          </a:prstGeom>
          <a:solidFill>
            <a:srgbClr val="131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7680" y="4160520"/>
            <a:ext cx="320040" cy="3200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131314"/>
                </a:solidFill>
                <a:latin typeface="Inter"/>
              </a:defRPr>
            </a:pPr>
            <a: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4133087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FFFFF"/>
                </a:solidFill>
                <a:latin typeface="Inter"/>
              </a:defRPr>
            </a:pPr>
            <a:r>
              <a:t>Proaktive</a:t>
            </a:r>
            <a:br/>
            <a:r>
              <a:t>Kundenansprache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4846320"/>
            <a:ext cx="27432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AAAAAE"/>
                </a:solidFill>
                <a:latin typeface="Inter"/>
              </a:defRPr>
            </a:pPr>
            <a:r>
              <a:t>Trigger-basierte Ansprache</a:t>
            </a:r>
            <a:br/>
            <a:r>
              <a:t>bei Zinsänderungen, Ablauf</a:t>
            </a:r>
            <a:br/>
            <a:r>
              <a:t>Festhypothek, Lebensereignissen.</a:t>
            </a:r>
            <a:br/>
            <a:r>
              <a:t>Personalisiert, RM gibt frei.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80" y="4023360"/>
            <a:ext cx="3154680" cy="2834640"/>
          </a:xfrm>
          <a:prstGeom prst="roundRect">
            <a:avLst>
              <a:gd name="adj" fmla="val 4000"/>
            </a:avLst>
          </a:prstGeom>
          <a:solidFill>
            <a:srgbClr val="131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680960" y="4160520"/>
            <a:ext cx="320040" cy="3200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131314"/>
                </a:solidFill>
                <a:latin typeface="Inter"/>
              </a:defRPr>
            </a:pPr>
            <a: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4133087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FFFFF"/>
                </a:solidFill>
                <a:latin typeface="Inter"/>
              </a:defRPr>
            </a:pPr>
            <a:r>
              <a:t>Produktwissen &amp;</a:t>
            </a:r>
            <a:br/>
            <a:r>
              <a:t>Beratungsqualität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80" y="4846320"/>
            <a:ext cx="27432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AAAAAE"/>
                </a:solidFill>
                <a:latin typeface="Inter"/>
              </a:defRPr>
            </a:pPr>
            <a:r>
              <a:t>Einheitliches, aktuelles</a:t>
            </a:r>
            <a:br/>
            <a:r>
              <a:t>Produktewissen über alle</a:t>
            </a:r>
            <a:br/>
            <a:r>
              <a:t>212 Banken. In Echtzeit,</a:t>
            </a:r>
            <a:br/>
            <a:r>
              <a:t>in natürlicher Sprache.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881360" y="4023360"/>
            <a:ext cx="3154680" cy="2834640"/>
          </a:xfrm>
          <a:prstGeom prst="roundRect">
            <a:avLst>
              <a:gd name="adj" fmla="val 4000"/>
            </a:avLst>
          </a:prstGeom>
          <a:solidFill>
            <a:srgbClr val="131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64240" y="4160520"/>
            <a:ext cx="320040" cy="3200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131314"/>
                </a:solidFill>
                <a:latin typeface="Inter"/>
              </a:defRPr>
            </a:pPr>
            <a: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4133087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FFFFF"/>
                </a:solidFill>
                <a:latin typeface="Inter"/>
              </a:defRPr>
            </a:pPr>
            <a:r>
              <a:t>Erster Kunden-</a:t>
            </a:r>
            <a:br/>
            <a:r>
              <a:t>kontakt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09960" y="4846320"/>
            <a:ext cx="27432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AAAAAE"/>
                </a:solidFill>
                <a:latin typeface="Inter"/>
              </a:defRPr>
            </a:pPr>
            <a:r>
              <a:t>Routineanfragen automatisch</a:t>
            </a:r>
            <a:br/>
            <a:r>
              <a:t>beantwortet — Chat und Telefon,</a:t>
            </a:r>
            <a:br/>
            <a:r>
              <a:t>DE/FR/IT. Berater-Kapazität</a:t>
            </a:r>
            <a:br/>
            <a:r>
              <a:t>für echte Beratung freisetzen.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7040880"/>
            <a:ext cx="13167360" cy="731520"/>
          </a:xfrm>
          <a:prstGeom prst="roundRect">
            <a:avLst>
              <a:gd name="adj" fmla="val 4000"/>
            </a:avLst>
          </a:prstGeom>
          <a:solidFill>
            <a:srgbClr val="131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05840" y="7178040"/>
            <a:ext cx="2834639" cy="36576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5472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22C55E"/>
                </a:solidFill>
                <a:latin typeface="Inter"/>
              </a:defRPr>
            </a:pPr>
            <a:r>
              <a:t>✓  Kein IT-Projekt nötig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23360" y="7178040"/>
            <a:ext cx="4023359" cy="36576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60520" y="7205472"/>
            <a:ext cx="37490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22C55E"/>
                </a:solidFill>
                <a:latin typeface="Inter"/>
              </a:defRPr>
            </a:pPr>
            <a:r>
              <a:t>✓  Kein Zugang zu Kernbanksystemen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0" y="7178040"/>
            <a:ext cx="2560320" cy="36576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66760" y="7205472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22C55E"/>
                </a:solidFill>
                <a:latin typeface="Inter"/>
              </a:defRPr>
            </a:pPr>
            <a:r>
              <a:t>✓  Kein grosses Budget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972800" y="7178040"/>
            <a:ext cx="3931920" cy="36576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09960" y="7205472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22C55E"/>
                </a:solidFill>
                <a:latin typeface="Inter"/>
              </a:defRPr>
            </a:pPr>
            <a:r>
              <a:t>✓  Ergebnisse in Wochen, nicht Jahren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78181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3D3D3F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900" b="0">
                <a:solidFill>
                  <a:srgbClr val="3D3D3F"/>
                </a:solidFill>
                <a:latin typeface="JetBrains Mono"/>
              </a:defRPr>
            </a:pPr>
            <a: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3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D97757"/>
                </a:solidFill>
                <a:latin typeface="JetBrains Mono"/>
              </a:defRPr>
            </a:pPr>
            <a:r>
              <a:t>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2801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0">
                <a:solidFill>
                  <a:srgbClr val="FFFFFF"/>
                </a:solidFill>
                <a:latin typeface="Inter"/>
              </a:defRPr>
            </a:pPr>
            <a:r>
              <a:t>AI im Vertrieb: Das Gesamtbild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280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AAAAAE"/>
                </a:solidFill>
                <a:latin typeface="Inter"/>
              </a:defRPr>
            </a:pPr>
            <a:r>
              <a:t>Was heute schon möglich ist, was kommt — und wo Raiffeisen sich positionieren kann.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4297680" cy="5486400"/>
          </a:xfrm>
          <a:prstGeom prst="roundRect">
            <a:avLst>
              <a:gd name="adj" fmla="val 4000"/>
            </a:avLst>
          </a:prstGeom>
          <a:solidFill>
            <a:srgbClr val="1E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2148840"/>
            <a:ext cx="3931920" cy="5943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76272"/>
            <a:ext cx="3657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BEREITS VERBREITET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AAAAAE"/>
                </a:solidFill>
                <a:latin typeface="Inter"/>
              </a:defRPr>
            </a:pPr>
            <a:r>
              <a:t>Was viele Banken heute tun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Meeting-Vorbereitung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00400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AAAAAE"/>
                </a:solidFill>
                <a:latin typeface="Inter"/>
              </a:defRPr>
            </a:pPr>
            <a:r>
              <a:t>Kundendossiers automatisch</a:t>
            </a:r>
            <a:br/>
            <a:r>
              <a:t>zusammengestellt (Copilot, interne</a:t>
            </a:r>
            <a:br/>
            <a:r>
              <a:t>Prototypen). Raiffeisen arbeitet</a:t>
            </a:r>
            <a:br/>
            <a:r>
              <a:t>hier bereits.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8056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Chatbots für FAQ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754880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AAAAAE"/>
                </a:solidFill>
                <a:latin typeface="Inter"/>
              </a:defRPr>
            </a:pPr>
            <a:r>
              <a:t>Einfache Fragen auf der Website</a:t>
            </a:r>
            <a:br/>
            <a:r>
              <a:t>beantwortet (Raiffeisen: «Tina» via</a:t>
            </a:r>
            <a:br/>
            <a:r>
              <a:t>Rasa). Begrenzt auf Q&amp;A.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603504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Dokumenten-Analyse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6309359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AAAAAE"/>
                </a:solidFill>
                <a:latin typeface="Inter"/>
              </a:defRPr>
            </a:pPr>
            <a:r>
              <a:t>KYC, Compliance-Prüfung,</a:t>
            </a:r>
            <a:br/>
            <a:r>
              <a:t>Vertragserkennung. Meist</a:t>
            </a:r>
            <a:br/>
            <a:r>
              <a:t>Backoffice-getrieben.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0" y="2011680"/>
            <a:ext cx="4297680" cy="5486400"/>
          </a:xfrm>
          <a:prstGeom prst="roundRect">
            <a:avLst>
              <a:gd name="adj" fmla="val 4000"/>
            </a:avLst>
          </a:prstGeom>
          <a:solidFill>
            <a:srgbClr val="1E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0" y="2148840"/>
            <a:ext cx="3931920" cy="594360"/>
          </a:xfrm>
          <a:prstGeom prst="roundRect">
            <a:avLst>
              <a:gd name="adj" fmla="val 4000"/>
            </a:avLst>
          </a:prstGeom>
          <a:solidFill>
            <a:srgbClr val="2A1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2176272"/>
            <a:ext cx="3657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NÄCHSTE WELLE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3774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AAAAAE"/>
                </a:solidFill>
                <a:latin typeface="Inter"/>
              </a:defRPr>
            </a:pPr>
            <a:r>
              <a:t>Wo der Wettbewerbsvorsprung entsteht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2608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Proaktive Kundenansprache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3200400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AAAAAE"/>
                </a:solidFill>
                <a:latin typeface="Inter"/>
              </a:defRPr>
            </a:pPr>
            <a:r>
              <a:t>AI erkennt Trigger (Zinsänderung,</a:t>
            </a:r>
            <a:br/>
            <a:r>
              <a:t>Ablauf Festhypothek, Lebensereignis)</a:t>
            </a:r>
            <a:br/>
            <a:r>
              <a:t>und bereitet personalisierte</a:t>
            </a:r>
            <a:br/>
            <a:r>
              <a:t>Ansprache vor — RM gibt frei.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48056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Training &amp; Produktwissen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4754880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AAAAAE"/>
                </a:solidFill>
                <a:latin typeface="Inter"/>
              </a:defRPr>
            </a:pPr>
            <a:r>
              <a:t>AI als Sparringspartner für neue</a:t>
            </a:r>
            <a:br/>
            <a:r>
              <a:t>und erfahrene Berater. Übt</a:t>
            </a:r>
            <a:br/>
            <a:r>
              <a:t>Gespräche, testet Produktwissen,</a:t>
            </a:r>
            <a:br/>
            <a:r>
              <a:t>skaliert über 212 Banken.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0" y="603504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Cross-Selling-Intelligenz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6309359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AAAAAE"/>
                </a:solidFill>
                <a:latin typeface="Inter"/>
              </a:defRPr>
            </a:pPr>
            <a:r>
              <a:t>Portfolio-Analyse gegen Produkt-</a:t>
            </a:r>
            <a:br/>
            <a:r>
              <a:t>angebot. Erkennt Lücken (Vorsorge,</a:t>
            </a:r>
            <a:br/>
            <a:r>
              <a:t>Anlagen) und schlägt dem RM die</a:t>
            </a:r>
            <a:br/>
            <a:r>
              <a:t>nächstbeste Aktion vor.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75520" y="2011680"/>
            <a:ext cx="4297680" cy="5486400"/>
          </a:xfrm>
          <a:prstGeom prst="roundRect">
            <a:avLst>
              <a:gd name="adj" fmla="val 4000"/>
            </a:avLst>
          </a:prstGeom>
          <a:solidFill>
            <a:srgbClr val="1E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58400" y="2148840"/>
            <a:ext cx="3931920" cy="594360"/>
          </a:xfrm>
          <a:prstGeom prst="roundRect">
            <a:avLst>
              <a:gd name="adj" fmla="val 4000"/>
            </a:avLst>
          </a:prstGeom>
          <a:solidFill>
            <a:srgbClr val="2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0" y="2176272"/>
            <a:ext cx="3657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JetBrains Mono"/>
              </a:defRPr>
            </a:pPr>
            <a:r>
              <a:t>ZUKUNFT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23774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AAAAAE"/>
                </a:solidFill>
                <a:latin typeface="Inter"/>
              </a:defRPr>
            </a:pPr>
            <a:r>
              <a:t>Was in 2–3 Jahren Standard sein wird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292608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Voice AI im Kundenkontakt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3200400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AAAAAE"/>
                </a:solidFill>
                <a:latin typeface="Inter"/>
              </a:defRPr>
            </a:pPr>
            <a:r>
              <a:t>Telefonische Erstberatung durch AI.</a:t>
            </a:r>
            <a:br/>
            <a:r>
              <a:t>DE/FR/IT, natürliche Stimme.</a:t>
            </a:r>
            <a:br/>
            <a:r>
              <a:t>Komplexes wird nahtlos an den</a:t>
            </a:r>
            <a:br/>
            <a:r>
              <a:t>menschlichen Berater übergeben.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49840" y="448056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Autonome Kampagnen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49840" y="4754880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AAAAAE"/>
                </a:solidFill>
                <a:latin typeface="Inter"/>
              </a:defRPr>
            </a:pPr>
            <a:r>
              <a:t>AI plant, erstellt und führt</a:t>
            </a:r>
            <a:br/>
            <a:r>
              <a:t>personalisierte Kampagnen durch —</a:t>
            </a:r>
            <a:br/>
            <a:r>
              <a:t>mit menschlicher Aufsicht.</a:t>
            </a:r>
            <a:br/>
            <a:r>
              <a:t>Von der Zielgruppe bis zur Ansprache.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603504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RM-Copilot im Gespräch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9840" y="6309359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AAAAAE"/>
                </a:solidFill>
                <a:latin typeface="Inter"/>
              </a:defRPr>
            </a:pPr>
            <a:r>
              <a:t>Echtzeit-Unterstützung während</a:t>
            </a:r>
            <a:br/>
            <a:r>
              <a:t>der Beratung: Produktvorschläge,</a:t>
            </a:r>
            <a:br/>
            <a:r>
              <a:t>regulatorische Hinweise,</a:t>
            </a:r>
            <a:br/>
            <a:r>
              <a:t>Next-Best-Action.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7543800"/>
            <a:ext cx="13167360" cy="18288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7543800"/>
            <a:ext cx="1280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Inter"/>
              </a:defRPr>
            </a:pPr>
            <a:r>
              <a:t>Salesteq positioniert sich in der «nächsten Welle» — mit Produktionserfahrung, die andere noch nicht haben.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78181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05060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900" b="0">
                <a:solidFill>
                  <a:srgbClr val="505060"/>
                </a:solidFill>
                <a:latin typeface="JetBrains Mono"/>
              </a:defRPr>
            </a:pPr>
            <a: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D97757"/>
                </a:solidFill>
                <a:latin typeface="JetBrains Mono"/>
              </a:defRPr>
            </a:pPr>
            <a:r>
              <a:t>SZENARIEN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280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0">
                <a:solidFill>
                  <a:srgbClr val="131314"/>
                </a:solidFill>
                <a:latin typeface="Inter"/>
              </a:defRPr>
            </a:pPr>
            <a:r>
              <a:t>Vier Szenarien für den Vertrieb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280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3D3D3F"/>
                </a:solidFill>
                <a:latin typeface="Inter"/>
              </a:defRPr>
            </a:pPr>
            <a:r>
              <a:t>Jedes Szenario steht für sich. Wir empfehlen, mit einem zu beginnen — welches, entscheiden Sie.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6492240" cy="2880360"/>
          </a:xfrm>
          <a:prstGeom prst="roundRect">
            <a:avLst>
              <a:gd name="adj" fmla="val 4000"/>
            </a:avLst>
          </a:prstGeom>
          <a:solidFill>
            <a:srgbClr val="131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0120" y="2103120"/>
            <a:ext cx="320040" cy="3200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131314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2084832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FFFFF"/>
                </a:solidFill>
                <a:latin typeface="Inter"/>
              </a:defRPr>
            </a:pPr>
            <a:r>
              <a:t>Training &amp; Onboarding neuer Berater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468880"/>
            <a:ext cx="5943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AAAAAE"/>
                </a:solidFill>
                <a:latin typeface="Inter"/>
              </a:defRPr>
            </a:pPr>
            <a:r>
              <a:t>Das «Neustart»-Programm bildet Quereinsteiger in</a:t>
            </a:r>
            <a:br/>
            <a:r>
              <a:t>12–24 Monaten zum Kundenberater aus. AI kann</a:t>
            </a:r>
            <a:br/>
            <a:r>
              <a:t>diesen Prozess beschleunigen: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63240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AAAAAE"/>
                </a:solidFill>
                <a:latin typeface="Inter"/>
              </a:defRPr>
            </a:pPr>
            <a:r>
              <a:t>→  AI-Sparringspartner für Produktwissen (Hypotheken,</a:t>
            </a:r>
            <a:br/>
            <a:r>
              <a:t>Vorsorge, Anlagen) — übt Beratungsgespräche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74720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AAAAAE"/>
                </a:solidFill>
                <a:latin typeface="Inter"/>
              </a:defRPr>
            </a:pPr>
            <a:r>
              <a:t>→  Simulierte Kundensituationen mit Feedback —</a:t>
            </a:r>
            <a:br/>
            <a:r>
              <a:t>wie ein erfahrener Kollege, jederzeit verfügbar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886200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AAAAAE"/>
                </a:solidFill>
                <a:latin typeface="Inter"/>
              </a:defRPr>
            </a:pPr>
            <a:r>
              <a:t>→  Neue RMs werden schneller produktiv,</a:t>
            </a:r>
            <a:br/>
            <a:r>
              <a:t>SAQ-Zertifizierung besser vorbereitet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" y="4389120"/>
            <a:ext cx="6035040" cy="27432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407408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Inter"/>
              </a:defRPr>
            </a:pPr>
            <a:r>
              <a:t>Wirkung: Einarbeitungszeit verkürzen, Qualität sichern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1920240"/>
            <a:ext cx="6492240" cy="2880360"/>
          </a:xfrm>
          <a:prstGeom prst="roundRect">
            <a:avLst>
              <a:gd name="adj" fmla="val 4000"/>
            </a:avLst>
          </a:prstGeom>
          <a:solidFill>
            <a:srgbClr val="131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2103120"/>
            <a:ext cx="320040" cy="3200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131314"/>
                </a:solidFill>
                <a:latin typeface="Inter"/>
              </a:defRPr>
            </a:pPr>
            <a: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084832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FFFFF"/>
                </a:solidFill>
                <a:latin typeface="Inter"/>
              </a:defRPr>
            </a:pPr>
            <a:r>
              <a:t>Proaktive Kundenansprache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468880"/>
            <a:ext cx="5943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AAAAAE"/>
                </a:solidFill>
                <a:latin typeface="Inter"/>
              </a:defRPr>
            </a:pPr>
            <a:r>
              <a:t>Bei Zinssenkungen, Lebensereignissen oder</a:t>
            </a:r>
            <a:br/>
            <a:r>
              <a:t>Marktveränderungen: AI identifiziert betroffene</a:t>
            </a:r>
            <a:br/>
            <a:r>
              <a:t>Kunden und bereitet die Ansprache vor.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063240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AAAAAE"/>
                </a:solidFill>
                <a:latin typeface="Inter"/>
              </a:defRPr>
            </a:pPr>
            <a:r>
              <a:t>→  Personalisierte Nachrichten (DE/FR/IT)</a:t>
            </a:r>
            <a:br/>
            <a:r>
              <a:t>dem RM zur Freigabe vorgelegt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474720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AAAAAE"/>
                </a:solidFill>
                <a:latin typeface="Inter"/>
              </a:defRPr>
            </a:pPr>
            <a:r>
              <a:t>→  Trigger-basiert: Zinsänderungen, Ablauf Festhypothek,</a:t>
            </a:r>
            <a:br/>
            <a:r>
              <a:t>Geburtstag, Pensionierung in 5 Jahren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3886200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AAAAAE"/>
                </a:solidFill>
                <a:latin typeface="Inter"/>
              </a:defRPr>
            </a:pPr>
            <a:r>
              <a:t>→  Systematische Betreuung statt Zufall —</a:t>
            </a:r>
            <a:br/>
            <a:r>
              <a:t>auch für das lange Ende des Kundenstamms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18120" y="4389120"/>
            <a:ext cx="6035040" cy="27432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0" y="4407408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Inter"/>
              </a:defRPr>
            </a:pPr>
            <a:r>
              <a:t>Wirkung: Cross-Selling-Potenzial systematisch nutzen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983480"/>
            <a:ext cx="6492240" cy="2880360"/>
          </a:xfrm>
          <a:prstGeom prst="roundRect">
            <a:avLst>
              <a:gd name="adj" fmla="val 4000"/>
            </a:avLst>
          </a:prstGeom>
          <a:solidFill>
            <a:srgbClr val="131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60120" y="5166360"/>
            <a:ext cx="320040" cy="3200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131314"/>
                </a:solidFill>
                <a:latin typeface="Inter"/>
              </a:defRPr>
            </a:pPr>
            <a: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5148072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FFFFF"/>
                </a:solidFill>
                <a:latin typeface="Inter"/>
              </a:defRPr>
            </a:pPr>
            <a:r>
              <a:t>Produktwissen &amp; Beratungsqualität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532120"/>
            <a:ext cx="5943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AAAAAE"/>
                </a:solidFill>
                <a:latin typeface="Inter"/>
              </a:defRPr>
            </a:pPr>
            <a:r>
              <a:t>212 Banken, tausende Berater, laufend neue Produkte</a:t>
            </a:r>
            <a:br/>
            <a:r>
              <a:t>und regulatorische Änderungen. Wissen konsistent</a:t>
            </a:r>
            <a:br/>
            <a:r>
              <a:t>zu halten ist eine Herausforderung.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6126480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AAAAAE"/>
                </a:solidFill>
                <a:latin typeface="Inter"/>
              </a:defRPr>
            </a:pPr>
            <a:r>
              <a:t>→  AI-Assistent beantwortet Produktfragen in Echtzeit —</a:t>
            </a:r>
            <a:br/>
            <a:r>
              <a:t>Hypothekenmodelle, Vorsorge 3a/3b, Anlagestrategien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6537960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AAAAAE"/>
                </a:solidFill>
                <a:latin typeface="Inter"/>
              </a:defRPr>
            </a:pPr>
            <a:r>
              <a:t>→  Immer aktuell: neue Konditionen, regulatorische</a:t>
            </a:r>
            <a:br/>
            <a:r>
              <a:t>Änderungen (nDSG, FINMA) automatisch integriert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6949440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AAAAAE"/>
                </a:solidFill>
                <a:latin typeface="Inter"/>
              </a:defRPr>
            </a:pPr>
            <a:r>
              <a:t>→  Funktioniert wie ein internes Nachschlagewerk,</a:t>
            </a:r>
            <a:br/>
            <a:r>
              <a:t>aber in natürlicher Sprache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0120" y="7452360"/>
            <a:ext cx="6035040" cy="27432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7470648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Inter"/>
              </a:defRPr>
            </a:pPr>
            <a:r>
              <a:t>Wirkung: Beratungsqualität über alle 212 Banken sichern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89520" y="4983480"/>
            <a:ext cx="6492240" cy="2880360"/>
          </a:xfrm>
          <a:prstGeom prst="roundRect">
            <a:avLst>
              <a:gd name="adj" fmla="val 4000"/>
            </a:avLst>
          </a:prstGeom>
          <a:solidFill>
            <a:srgbClr val="131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818120" y="5166360"/>
            <a:ext cx="320040" cy="3200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131314"/>
                </a:solidFill>
                <a:latin typeface="Inter"/>
              </a:defRPr>
            </a:pPr>
            <a:r>
              <a:t>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5148072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FFFFF"/>
                </a:solidFill>
                <a:latin typeface="Inter"/>
              </a:defRPr>
            </a:pPr>
            <a:r>
              <a:t>Erster Kundenkontakt (Website &amp; Telefon)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5532120"/>
            <a:ext cx="5943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AAAAAE"/>
                </a:solidFill>
                <a:latin typeface="Inter"/>
              </a:defRPr>
            </a:pPr>
            <a:r>
              <a:t>Routineanfragen binden Beraterkapazität.</a:t>
            </a:r>
            <a:br/>
            <a:r>
              <a:t>AI kann den ersten Kontakt übernehmen</a:t>
            </a:r>
            <a:br/>
            <a:r>
              <a:t>und qualifiziert weiterleiten.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3840" y="6126480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AAAAAE"/>
                </a:solidFill>
                <a:latin typeface="Inter"/>
              </a:defRPr>
            </a:pPr>
            <a:r>
              <a:t>→  Konto, Karten, Zinsen, Öffnungszeiten —</a:t>
            </a:r>
            <a:br/>
            <a:r>
              <a:t>automatisch beantwortet, in drei Sprachen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0" y="6537960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AAAAAE"/>
                </a:solidFill>
                <a:latin typeface="Inter"/>
              </a:defRPr>
            </a:pPr>
            <a:r>
              <a:t>→  Komplexe Anliegen (Hypothek, Vorsorge)</a:t>
            </a:r>
            <a:br/>
            <a:r>
              <a:t>werden erkannt und an den RM weitergeleitet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0" y="6949440"/>
            <a:ext cx="5943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AAAAAE"/>
                </a:solidFill>
                <a:latin typeface="Inter"/>
              </a:defRPr>
            </a:pPr>
            <a:r>
              <a:t>→  Eigene Sprach-Engine: auch per Telefon,</a:t>
            </a:r>
            <a:br/>
            <a:r>
              <a:t>nicht nur Chat — DE/FR/IT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818120" y="7452360"/>
            <a:ext cx="6035040" cy="27432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7470648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D97757"/>
                </a:solidFill>
                <a:latin typeface="Inter"/>
              </a:defRPr>
            </a:pPr>
            <a:r>
              <a:t>Wirkung: RM-Kapazität für echte Beratung freisetzen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78181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3D3D3F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900" b="0">
                <a:solidFill>
                  <a:srgbClr val="3D3D3F"/>
                </a:solidFill>
                <a:latin typeface="JetBrains Mono"/>
              </a:defRPr>
            </a:pPr>
            <a: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3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D97757"/>
                </a:solidFill>
                <a:latin typeface="JetBrains Mono"/>
              </a:defRPr>
            </a:pPr>
            <a:r>
              <a:t>USE CASE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280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0">
                <a:solidFill>
                  <a:srgbClr val="FFFFFF"/>
                </a:solidFill>
                <a:latin typeface="Inter"/>
              </a:defRPr>
            </a:pPr>
            <a:r>
              <a:t>AI als Sparringspartner für Kundenberater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AAAAAE"/>
                </a:solidFill>
                <a:latin typeface="Inter"/>
              </a:defRPr>
            </a:pPr>
            <a:r>
              <a:t>Ob neue Berater im «Neustart»-Programm oder erfahrene RMs bei neuen Produkten — die Herausforderung ist dieselbe.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6400800" cy="5303520"/>
          </a:xfrm>
          <a:prstGeom prst="roundRect">
            <a:avLst>
              <a:gd name="adj" fmla="val 4000"/>
            </a:avLst>
          </a:prstGeom>
          <a:solidFill>
            <a:srgbClr val="1E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3D3D3F"/>
                </a:solidFill>
                <a:latin typeface="JetBrains Mono"/>
              </a:defRPr>
            </a:pPr>
            <a:r>
              <a:t>DIE HERAUSFORDERUNG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517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D97757"/>
                </a:solidFill>
                <a:latin typeface="Inter"/>
              </a:defRPr>
            </a:pPr>
            <a:r>
              <a:t>12–24 Monate Einarbeitung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971800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AAAAAE"/>
                </a:solidFill>
                <a:latin typeface="Inter"/>
              </a:defRPr>
            </a:pPr>
            <a:r>
              <a:t>Das «Neustart»-Quereinsteigerprogramm dauert</a:t>
            </a:r>
            <a:br/>
            <a:r>
              <a:t>12–24 Monate. In dieser Zeit ist ein RM noch</a:t>
            </a:r>
            <a:br/>
            <a:r>
              <a:t>nicht voll produktiv — aber die Filiale trägt</a:t>
            </a:r>
            <a:br/>
            <a:r>
              <a:t>bereits die Kosten.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206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D97757"/>
                </a:solidFill>
                <a:latin typeface="Inter"/>
              </a:defRPr>
            </a:pPr>
            <a:r>
              <a:t>Produktkomplexität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79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AAAAAE"/>
                </a:solidFill>
                <a:latin typeface="Inter"/>
              </a:defRPr>
            </a:pPr>
            <a:r>
              <a:t>Hypotheken (SARON, Festhypothek), Vorsorge</a:t>
            </a:r>
            <a:br/>
            <a:r>
              <a:t>(3a, 3b, Pensionskasse, Freizügigkeit), Anlagen</a:t>
            </a:r>
            <a:br/>
            <a:r>
              <a:t>(Fonds, ETF, Vermögensverwaltung) — alles muss</a:t>
            </a:r>
            <a:br/>
            <a:r>
              <a:t>sitzen, auch regulatorisch. SAQ-Zertifizierung.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7607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D97757"/>
                </a:solidFill>
                <a:latin typeface="Inter"/>
              </a:defRPr>
            </a:pPr>
            <a:r>
              <a:t>212 Banken, uneinheitlich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6080759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AAAAAE"/>
                </a:solidFill>
                <a:latin typeface="Inter"/>
              </a:defRPr>
            </a:pPr>
            <a:r>
              <a:t>Jede Genossenschaftsbank bildet selbst aus.</a:t>
            </a:r>
            <a:br/>
            <a:r>
              <a:t>Wissensstand und Beratungsqualität variieren.</a:t>
            </a:r>
            <a:br/>
            <a:r>
              <a:t>Zentrales Training erreicht nicht alle gleich.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2103120"/>
            <a:ext cx="6400800" cy="5303520"/>
          </a:xfrm>
          <a:prstGeom prst="roundRect">
            <a:avLst>
              <a:gd name="adj" fmla="val 4000"/>
            </a:avLst>
          </a:prstGeom>
          <a:solidFill>
            <a:srgbClr val="1E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22402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D97757"/>
                </a:solidFill>
                <a:latin typeface="JetBrains Mono"/>
              </a:defRPr>
            </a:pPr>
            <a:r>
              <a:t>WAS AI VERÄNDERN KANN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26517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Übungsgespräche mit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2926079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AAAAAE"/>
                </a:solidFill>
                <a:latin typeface="Inter"/>
              </a:defRPr>
            </a:pPr>
            <a:r>
              <a:t>Neue RMs üben Beratungsgespräche mit einem</a:t>
            </a:r>
            <a:br/>
            <a:r>
              <a:t>AI-Kunden: Hypothekenberatung, Vorsorgeplanung,</a:t>
            </a:r>
            <a:br/>
            <a:r>
              <a:t>Reklamation. Strukturiertes Feedback nach jedem</a:t>
            </a:r>
            <a:br/>
            <a:r>
              <a:t>Gespräch — Stärken und Lücken.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206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Produktwissen on-demand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4480559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AAAAAE"/>
                </a:solidFill>
                <a:latin typeface="Inter"/>
              </a:defRPr>
            </a:pPr>
            <a:r>
              <a:t>«Was ist der Unterschied zwischen SARON und</a:t>
            </a:r>
            <a:br/>
            <a:r>
              <a:t>Festhypothek bei aktueller Zinslage?» — AI</a:t>
            </a:r>
            <a:br/>
            <a:r>
              <a:t>beantwortet Produktfragen sofort, mit aktuellen</a:t>
            </a:r>
            <a:br/>
            <a:r>
              <a:t>Konditionen. Wie ein erfahrener Kollege.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57607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Konsistenz über alle Banken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6035040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AAAAAE"/>
                </a:solidFill>
                <a:latin typeface="Inter"/>
              </a:defRPr>
            </a:pPr>
            <a:r>
              <a:t>Dieselbe Wissensquelle für alle 212 Banken.</a:t>
            </a:r>
            <a:br/>
            <a:r>
              <a:t>Neue Produkte, Konditionsänderungen, regulatorische</a:t>
            </a:r>
            <a:br/>
            <a:r>
              <a:t>Updates — einmal gepflegt, überall verfügbar.</a:t>
            </a:r>
            <a:br/>
            <a:r>
              <a:t>Skaliert, ohne zusätzliche Trainer.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7498079"/>
            <a:ext cx="13167360" cy="22860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7498079"/>
            <a:ext cx="1280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D97757"/>
                </a:solidFill>
                <a:latin typeface="Inter"/>
              </a:defRPr>
            </a:pPr>
            <a:r>
              <a:t>Ein neuer RM, der nach 6 statt 18 Monaten produktiv berät, spart einer Filiale ein halbes Jahr Opportunitätskosten.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78181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05060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900" b="0">
                <a:solidFill>
                  <a:srgbClr val="505060"/>
                </a:solidFill>
                <a:latin typeface="JetBrains Mono"/>
              </a:defRPr>
            </a:pPr>
            <a: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3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D97757"/>
                </a:solidFill>
                <a:latin typeface="JetBrains Mono"/>
              </a:defRPr>
            </a:pPr>
            <a:r>
              <a:t>USE CASE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280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0">
                <a:solidFill>
                  <a:srgbClr val="FFFFFF"/>
                </a:solidFill>
                <a:latin typeface="Inter"/>
              </a:defRPr>
            </a:pPr>
            <a:r>
              <a:t>Proaktive Ansprache statt verpasste Gelegenheiten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AAAAAE"/>
                </a:solidFill>
                <a:latin typeface="Inter"/>
              </a:defRPr>
            </a:pPr>
            <a:r>
              <a:t>Jede Zinssenkung, jeder Hypothekenablauf, jede Pensionierung ist ein Beratungsanlass — aber nur wenn er erkannt und genutzt wird.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6400800" cy="5303520"/>
          </a:xfrm>
          <a:prstGeom prst="roundRect">
            <a:avLst>
              <a:gd name="adj" fmla="val 4000"/>
            </a:avLst>
          </a:prstGeom>
          <a:solidFill>
            <a:srgbClr val="1E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3D3D3F"/>
                </a:solidFill>
                <a:latin typeface="JetBrains Mono"/>
              </a:defRPr>
            </a:pPr>
            <a:r>
              <a:t>DIE HERAUSFORDERUNG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517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D97757"/>
                </a:solidFill>
                <a:latin typeface="Inter"/>
              </a:defRPr>
            </a:pPr>
            <a:r>
              <a:t>Trigger werden nicht erkannt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971800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AAAAAE"/>
                </a:solidFill>
                <a:latin typeface="Inter"/>
              </a:defRPr>
            </a:pPr>
            <a:r>
              <a:t>Zinssenkungen betreffen hunderte Kunden gleichzeitig.</a:t>
            </a:r>
            <a:br/>
            <a:r>
              <a:t>Ablaufende Festhypotheken, Pensionierungen in 5 Jahren,</a:t>
            </a:r>
            <a:br/>
            <a:r>
              <a:t>Geburtstage — die Daten existieren, aber niemand</a:t>
            </a:r>
            <a:br/>
            <a:r>
              <a:t>handelt systematisch darauf.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206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D97757"/>
                </a:solidFill>
                <a:latin typeface="Inter"/>
              </a:defRPr>
            </a:pPr>
            <a:r>
              <a:t>Ansprache ist zeitintensiv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79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AAAAAE"/>
                </a:solidFill>
                <a:latin typeface="Inter"/>
              </a:defRPr>
            </a:pPr>
            <a:r>
              <a:t>Jede personalisierte Nachricht erfordert Recherche:</a:t>
            </a:r>
            <a:br/>
            <a:r>
              <a:t>Welches Produkt passt? Was war die letzte Interaktion?</a:t>
            </a:r>
            <a:br/>
            <a:r>
              <a:t>In welcher Sprache? Ein RM schafft 5–10 pro Tag —</a:t>
            </a:r>
            <a:br/>
            <a:r>
              <a:t>aber es bräuchte 50.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7607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D97757"/>
                </a:solidFill>
                <a:latin typeface="Inter"/>
              </a:defRPr>
            </a:pPr>
            <a:r>
              <a:t>Das lange Ende wird vernachlässigt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6080759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AAAAAE"/>
                </a:solidFill>
                <a:latin typeface="Inter"/>
              </a:defRPr>
            </a:pPr>
            <a:r>
              <a:t>Die Top-Kunden werden betreut. Aber die 80%</a:t>
            </a:r>
            <a:br/>
            <a:r>
              <a:t>darunter — solide Kunden mit Cross-Selling-Potenzial —</a:t>
            </a:r>
            <a:br/>
            <a:r>
              <a:t>bekommen nur Kontakt, wenn sie selbst anrufen.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2103120"/>
            <a:ext cx="6400800" cy="5303520"/>
          </a:xfrm>
          <a:prstGeom prst="roundRect">
            <a:avLst>
              <a:gd name="adj" fmla="val 4000"/>
            </a:avLst>
          </a:prstGeom>
          <a:solidFill>
            <a:srgbClr val="1E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22402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D97757"/>
                </a:solidFill>
                <a:latin typeface="JetBrains Mono"/>
              </a:defRPr>
            </a:pPr>
            <a:r>
              <a:t>WAS AI VERÄNDERN KANN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26517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Trigger-basierte Erkennung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2926079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AAAAAE"/>
                </a:solidFill>
                <a:latin typeface="Inter"/>
              </a:defRPr>
            </a:pPr>
            <a:r>
              <a:t>AI überwacht Ereignisse: Zinsänderung der SNB,</a:t>
            </a:r>
            <a:br/>
            <a:r>
              <a:t>Ablauf Festhypothek in 6 Monaten, Kunde wird 60.</a:t>
            </a:r>
            <a:br/>
            <a:r>
              <a:t>Erstellt automatisch eine priorisierte Kontaktliste</a:t>
            </a:r>
            <a:br/>
            <a:r>
              <a:t>mit empfohlener Ansprache.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206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Personalisierte Entwürfe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4480559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AAAAAE"/>
                </a:solidFill>
                <a:latin typeface="Inter"/>
              </a:defRPr>
            </a:pPr>
            <a:r>
              <a:t>Für jeden Kunden ein vorformulierter Entwurf —</a:t>
            </a:r>
            <a:br/>
            <a:r>
              <a:t>in der richtigen Sprache (DE/FR/IT), mit Kontext</a:t>
            </a:r>
            <a:br/>
            <a:r>
              <a:t>(«Ihr Festzins läuft im September ab, aktuelle</a:t>
            </a:r>
            <a:br/>
            <a:r>
              <a:t>SARON-Konditionen sind…»). RM gibt frei.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57607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Skalierung ohne Qualitätsverlust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6035040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AAAAAE"/>
                </a:solidFill>
                <a:latin typeface="Inter"/>
              </a:defRPr>
            </a:pPr>
            <a:r>
              <a:t>Statt 5 Anrufe pro Tag: 50 personalisierte</a:t>
            </a:r>
            <a:br/>
            <a:r>
              <a:t>Nachrichten, alle vom RM freigegeben. Kein</a:t>
            </a:r>
            <a:br/>
            <a:r>
              <a:t>Massenversand — individuelle Ansprache auf</a:t>
            </a:r>
            <a:br/>
            <a:r>
              <a:t>Knopfdruck. Auch für das «lange Ende».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7498079"/>
            <a:ext cx="13167360" cy="22860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7498079"/>
            <a:ext cx="1280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D97757"/>
                </a:solidFill>
                <a:latin typeface="Inter"/>
              </a:defRPr>
            </a:pPr>
            <a:r>
              <a:t>McKinsey: Agentic AI im Banking-Vertrieb steigert den Umsatz pro RM um 3–15% und erhöht Kundengespräche um ~40%.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78181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05060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900" b="0">
                <a:solidFill>
                  <a:srgbClr val="505060"/>
                </a:solidFill>
                <a:latin typeface="JetBrains Mono"/>
              </a:defRPr>
            </a:pPr>
            <a: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3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D97757"/>
                </a:solidFill>
                <a:latin typeface="JetBrains Mono"/>
              </a:defRPr>
            </a:pPr>
            <a:r>
              <a:t>USE CASE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280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0">
                <a:solidFill>
                  <a:srgbClr val="FFFFFF"/>
                </a:solidFill>
                <a:latin typeface="Inter"/>
              </a:defRPr>
            </a:pPr>
            <a:r>
              <a:t>Einheitliches Produktwissen für 212 Banken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AAAAAE"/>
                </a:solidFill>
                <a:latin typeface="Inter"/>
              </a:defRPr>
            </a:pPr>
            <a:r>
              <a:t>Laufend neue Produkte, Konditionsänderungen, regulatorische Updates — wie bleibt jeder Berater aktuell?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6400800" cy="5303520"/>
          </a:xfrm>
          <a:prstGeom prst="roundRect">
            <a:avLst>
              <a:gd name="adj" fmla="val 4000"/>
            </a:avLst>
          </a:prstGeom>
          <a:solidFill>
            <a:srgbClr val="1E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3D3D3F"/>
                </a:solidFill>
                <a:latin typeface="JetBrains Mono"/>
              </a:defRPr>
            </a:pPr>
            <a:r>
              <a:t>DIE HERAUSFORDERUNG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517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D97757"/>
                </a:solidFill>
                <a:latin typeface="Inter"/>
              </a:defRPr>
            </a:pPr>
            <a:r>
              <a:t>Wissen veraltet schnell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971800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AAAAAE"/>
                </a:solidFill>
                <a:latin typeface="Inter"/>
              </a:defRPr>
            </a:pPr>
            <a:r>
              <a:t>Neue Hypothekenmodelle, geänderte 3a-Maximalbeträge,</a:t>
            </a:r>
            <a:br/>
            <a:r>
              <a:t>FINMA-Auflagen, nDSG-Anforderungen — das Wissen</a:t>
            </a:r>
            <a:br/>
            <a:r>
              <a:t>der Berater muss ständig aktualisiert werden.</a:t>
            </a:r>
            <a:br/>
            <a:r>
              <a:t>Schulungen erreichen nicht alle gleichzeitig.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206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D97757"/>
                </a:solidFill>
                <a:latin typeface="Inter"/>
              </a:defRPr>
            </a:pPr>
            <a:r>
              <a:t>Dezentrale Struktur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79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AAAAAE"/>
                </a:solidFill>
                <a:latin typeface="Inter"/>
              </a:defRPr>
            </a:pPr>
            <a:r>
              <a:t>212 selbstständige Genossenschaftsbanken bedeuten</a:t>
            </a:r>
            <a:br/>
            <a:r>
              <a:t>212 unterschiedliche Wissensstände. Was in St. Gallen</a:t>
            </a:r>
            <a:br/>
            <a:r>
              <a:t>bekannt ist, muss in Winterthur nicht angekommen sein.</a:t>
            </a:r>
            <a:br/>
            <a:r>
              <a:t>Kein zentrales Nachschlagewerk in Echtzeit.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7607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D97757"/>
                </a:solidFill>
                <a:latin typeface="Inter"/>
              </a:defRPr>
            </a:pPr>
            <a:r>
              <a:t>Kosten der Inkonsistenz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6080759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AAAAAE"/>
                </a:solidFill>
                <a:latin typeface="Inter"/>
              </a:defRPr>
            </a:pPr>
            <a:r>
              <a:t>Ein Berater, der veraltete Konditionen nennt oder</a:t>
            </a:r>
            <a:br/>
            <a:r>
              <a:t>ein Produkt nicht kennt, verliert Vertrauen.</a:t>
            </a:r>
            <a:br/>
            <a:r>
              <a:t>Im schlimmsten Fall: Compliance-Risiko durch</a:t>
            </a:r>
            <a:br/>
            <a:r>
              <a:t>falsche Beratung.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2103120"/>
            <a:ext cx="6400800" cy="5303520"/>
          </a:xfrm>
          <a:prstGeom prst="roundRect">
            <a:avLst>
              <a:gd name="adj" fmla="val 4000"/>
            </a:avLst>
          </a:prstGeom>
          <a:solidFill>
            <a:srgbClr val="1E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22402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D97757"/>
                </a:solidFill>
                <a:latin typeface="JetBrains Mono"/>
              </a:defRPr>
            </a:pPr>
            <a:r>
              <a:t>WAS AI VERÄNDERN KANN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26517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AI-Wissensbasis in Echtzeit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2926079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AAAAAE"/>
                </a:solidFill>
                <a:latin typeface="Inter"/>
              </a:defRPr>
            </a:pPr>
            <a:r>
              <a:t>Ein interner AI-Assistent, der alle Produktdokumente,</a:t>
            </a:r>
            <a:br/>
            <a:r>
              <a:t>Konditionen und regulatorischen Texte kennt.</a:t>
            </a:r>
            <a:br/>
            <a:r>
              <a:t>Berater stellen Fragen in natürlicher Sprache:</a:t>
            </a:r>
            <a:br/>
            <a:r>
              <a:t>«Welche Vorsorge-Optionen hat ein 55-Jähriger?»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206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Immer aktuell, automatisch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4480559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AAAAAE"/>
                </a:solidFill>
                <a:latin typeface="Inter"/>
              </a:defRPr>
            </a:pPr>
            <a:r>
              <a:t>Neue Konditionen oder regulatorische Änderungen</a:t>
            </a:r>
            <a:br/>
            <a:r>
              <a:t>werden eingepflegt und sind sofort für alle</a:t>
            </a:r>
            <a:br/>
            <a:r>
              <a:t>212 Banken verfügbar. Kein Schulungsrundlauf,</a:t>
            </a:r>
            <a:br/>
            <a:r>
              <a:t>kein veraltetes PDF.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57607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Nachvollziehbar &amp; zitierfähig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6035040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AAAAAE"/>
                </a:solidFill>
                <a:latin typeface="Inter"/>
              </a:defRPr>
            </a:pPr>
            <a:r>
              <a:t>Jede Antwort mit Quellenangabe — Berater kann</a:t>
            </a:r>
            <a:br/>
            <a:r>
              <a:t>prüfen, woher die Information stammt. Keine</a:t>
            </a:r>
            <a:br/>
            <a:r>
              <a:t>Blackbox. Audit-fähig für Compliance-Prüfungen.</a:t>
            </a:r>
            <a:br/>
            <a:r>
              <a:t>Drei Sprachen: DE/FR/IT.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7498079"/>
            <a:ext cx="13167360" cy="22860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7498079"/>
            <a:ext cx="1280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D97757"/>
                </a:solidFill>
                <a:latin typeface="Inter"/>
              </a:defRPr>
            </a:pPr>
            <a:r>
              <a:t>Einheitliches Produktwissen reduziert Beratungsfehler, stärkt das Kundenvertrauen und senkt Compliance-Risiken.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78181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05060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900" b="0">
                <a:solidFill>
                  <a:srgbClr val="505060"/>
                </a:solidFill>
                <a:latin typeface="JetBrains Mono"/>
              </a:defRPr>
            </a:pPr>
            <a: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3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D97757"/>
                </a:solidFill>
                <a:latin typeface="JetBrains Mono"/>
              </a:defRPr>
            </a:pPr>
            <a:r>
              <a:t>USE CASE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280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0">
                <a:solidFill>
                  <a:srgbClr val="FFFFFF"/>
                </a:solidFill>
                <a:latin typeface="Inter"/>
              </a:defRPr>
            </a:pPr>
            <a:r>
              <a:t>Erster Kundenkontakt: Chat und Telefon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AAAAAE"/>
                </a:solidFill>
                <a:latin typeface="Inter"/>
              </a:defRPr>
            </a:pPr>
            <a:r>
              <a:t>Routineanfragen binden Beraterkapazität. AI übernimmt den ersten Kontakt und leitet qualifiziert weiter.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6400800" cy="5303520"/>
          </a:xfrm>
          <a:prstGeom prst="roundRect">
            <a:avLst>
              <a:gd name="adj" fmla="val 4000"/>
            </a:avLst>
          </a:prstGeom>
          <a:solidFill>
            <a:srgbClr val="1E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3D3D3F"/>
                </a:solidFill>
                <a:latin typeface="JetBrains Mono"/>
              </a:defRPr>
            </a:pPr>
            <a:r>
              <a:t>DIE HERAUSFORDERUNG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517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D97757"/>
                </a:solidFill>
                <a:latin typeface="Inter"/>
              </a:defRPr>
            </a:pPr>
            <a:r>
              <a:t>Verpasste Anrufe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971800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AAAAAE"/>
                </a:solidFill>
                <a:latin typeface="Inter"/>
              </a:defRPr>
            </a:pPr>
            <a:r>
              <a:t>Während ein RM berät, klingelt das Telefon.</a:t>
            </a:r>
            <a:br/>
            <a:r>
              <a:t>Kontoeröffnung, Kartensperrung, Zinskonditionen,</a:t>
            </a:r>
            <a:br/>
            <a:r>
              <a:t>Öffnungszeiten — Routinefragen, die sofort</a:t>
            </a:r>
            <a:br/>
            <a:r>
              <a:t>beantwortet werden könnten.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206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D97757"/>
                </a:solidFill>
                <a:latin typeface="Inter"/>
              </a:defRPr>
            </a:pPr>
            <a:r>
              <a:t>Tina reicht nicht mehr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79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AAAAAE"/>
                </a:solidFill>
                <a:latin typeface="Inter"/>
              </a:defRPr>
            </a:pPr>
            <a:r>
              <a:t>Der bestehende Chatbot (Rasa) beantwortet</a:t>
            </a:r>
            <a:br/>
            <a:r>
              <a:t>einfache FAQ. Aber: keine echte Konversation,</a:t>
            </a:r>
            <a:br/>
            <a:r>
              <a:t>kein Sprachverständnis, keine Weiterleitung</a:t>
            </a:r>
            <a:br/>
            <a:r>
              <a:t>an den richtigen Berater, kein Telefon.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7607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D97757"/>
                </a:solidFill>
                <a:latin typeface="Inter"/>
              </a:defRPr>
            </a:pPr>
            <a:r>
              <a:t>Drei Sprachen, 896 Standorte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6080759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AAAAAE"/>
                </a:solidFill>
                <a:latin typeface="Inter"/>
              </a:defRPr>
            </a:pPr>
            <a:r>
              <a:t>Jede Filiale bedient DE-, FR- oder IT-sprachige</a:t>
            </a:r>
            <a:br/>
            <a:r>
              <a:t>Kunden. Ein AI-Agent muss alle drei Sprachen</a:t>
            </a:r>
            <a:br/>
            <a:r>
              <a:t>fliessend beherrschen — im Chat und am Telefon.</a:t>
            </a:r>
            <a:br/>
            <a:r>
              <a:t>Personal für alle Sprachen ist teuer.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2103120"/>
            <a:ext cx="6400800" cy="5303520"/>
          </a:xfrm>
          <a:prstGeom prst="roundRect">
            <a:avLst>
              <a:gd name="adj" fmla="val 4000"/>
            </a:avLst>
          </a:prstGeom>
          <a:solidFill>
            <a:srgbClr val="1E1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22402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D97757"/>
                </a:solidFill>
                <a:latin typeface="JetBrains Mono"/>
              </a:defRPr>
            </a:pPr>
            <a:r>
              <a:t>WAS AI VERÄNDERN KANN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26517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Intelligenter Erstkontakt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2926079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AAAAAE"/>
                </a:solidFill>
                <a:latin typeface="Inter"/>
              </a:defRPr>
            </a:pPr>
            <a:r>
              <a:t>AI beantwortet Routineanfragen auf der Website —</a:t>
            </a:r>
            <a:br/>
            <a:r>
              <a:t>Konto, Karten, Zinsen, Filialinfo. Erkennt, wenn</a:t>
            </a:r>
            <a:br/>
            <a:r>
              <a:t>ein Anliegen komplex wird (Hypothek, Vorsorge)</a:t>
            </a:r>
            <a:br/>
            <a:r>
              <a:t>und leitet an den richtigen RM weiter.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206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Eigene Voice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4480559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AAAAAE"/>
                </a:solidFill>
                <a:latin typeface="Inter"/>
              </a:defRPr>
            </a:pPr>
            <a:r>
              <a:t>Salesteq hat eine eigene Sprach-Engine (nicht</a:t>
            </a:r>
            <a:br/>
            <a:r>
              <a:t>ElevenLabs/Deepgram). Läuft bereits in Produktion:</a:t>
            </a:r>
            <a:br/>
            <a:r>
              <a:t>Arabische Dialekte für BMW/Naghi Saudi-Arabien.</a:t>
            </a:r>
            <a:br/>
            <a:r>
              <a:t>DE/FR/IT ist technisch gelöst.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57607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Qualifizierte Weiterleitung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6035040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AAAAAE"/>
                </a:solidFill>
                <a:latin typeface="Inter"/>
              </a:defRPr>
            </a:pPr>
            <a:r>
              <a:t>Der AI-Agent sammelt Kontext (Name, Anliegen,</a:t>
            </a:r>
            <a:br/>
            <a:r>
              <a:t>Sprache, Dringlichkeit) und übergibt an den</a:t>
            </a:r>
            <a:br/>
            <a:r>
              <a:t>Berater — mit Zusammenfassung. Der RM startet</a:t>
            </a:r>
            <a:br/>
            <a:r>
              <a:t>nicht bei null, sondern informiert.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7498079"/>
            <a:ext cx="13167360" cy="228600"/>
          </a:xfrm>
          <a:prstGeom prst="roundRect">
            <a:avLst>
              <a:gd name="adj" fmla="val 4000"/>
            </a:avLst>
          </a:prstGeom>
          <a:solidFill>
            <a:srgbClr val="2A2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7498079"/>
            <a:ext cx="1280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D97757"/>
                </a:solidFill>
                <a:latin typeface="Inter"/>
              </a:defRPr>
            </a:pPr>
            <a:r>
              <a:t>Chatbot Tina sparte 10'000 Anrufe in 6 Monaten. Ein AI-Agent mit Voice und Konversationsfähigkeit kann das verzehnfachen.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78181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05060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900" b="0">
                <a:solidFill>
                  <a:srgbClr val="505060"/>
                </a:solidFill>
                <a:latin typeface="JetBrains Mono"/>
              </a:defRPr>
            </a:pPr>
            <a: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D97757"/>
                </a:solidFill>
                <a:latin typeface="JetBrains Mono"/>
              </a:defRPr>
            </a:pPr>
            <a:r>
              <a:t>VORGEHEN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280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0">
                <a:solidFill>
                  <a:srgbClr val="131314"/>
                </a:solidFill>
                <a:latin typeface="Inter"/>
              </a:defRPr>
            </a:pPr>
            <a:r>
              <a:t>Klein anfangen. Gemeinsam lernen.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3D3D3F"/>
                </a:solidFill>
                <a:latin typeface="Inter"/>
              </a:defRPr>
            </a:pPr>
            <a:r>
              <a:t>Kein grosses Projekt. Kein aufwändiger Beschaffungsprozess. Ein kleines, begrenztes Experiment mit klaren Zielen.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6400800" cy="2103120"/>
          </a:xfrm>
          <a:prstGeom prst="roundRect">
            <a:avLst>
              <a:gd name="adj" fmla="val 4000"/>
            </a:avLst>
          </a:prstGeom>
          <a:solidFill>
            <a:srgbClr val="F0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22C55E"/>
                </a:solidFill>
                <a:latin typeface="JetBrains Mono"/>
              </a:defRPr>
            </a:pPr>
            <a:r>
              <a:t>✓  WAS WIR BRAUCHEN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60604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D2D2D"/>
                </a:solidFill>
                <a:latin typeface="Inter"/>
              </a:defRPr>
            </a:pPr>
            <a:r>
              <a:t>·  Einen Ansprechpartner im Vertrieb (kein IT-Team nötig)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9718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D2D2D"/>
                </a:solidFill>
                <a:latin typeface="Inter"/>
              </a:defRPr>
            </a:pPr>
            <a:r>
              <a:t>·  Zugang zu einem typischen Berateralltag (1 Tag, 1 Filiale)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33756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D2D2D"/>
                </a:solidFill>
                <a:latin typeface="Inter"/>
              </a:defRPr>
            </a:pPr>
            <a:r>
              <a:t>·  Bereitschaft, ein kleines Experiment zu starten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103120"/>
            <a:ext cx="6400800" cy="2103120"/>
          </a:xfrm>
          <a:prstGeom prst="roundRect">
            <a:avLst>
              <a:gd name="adj" fmla="val 4000"/>
            </a:avLst>
          </a:prstGeom>
          <a:solidFill>
            <a:srgbClr val="F0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24028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EF4444"/>
                </a:solidFill>
                <a:latin typeface="JetBrains Mono"/>
              </a:defRPr>
            </a:pPr>
            <a:r>
              <a:t>✗  WAS WIR NICHT BRAUCHEN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60604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D2D2D"/>
                </a:solidFill>
                <a:latin typeface="Inter"/>
              </a:defRPr>
            </a:pPr>
            <a:r>
              <a:t>·  Kein grosses Budget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9718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D2D2D"/>
                </a:solidFill>
                <a:latin typeface="Inter"/>
              </a:defRPr>
            </a:pPr>
            <a:r>
              <a:t>·  Kein grosses IT-Involvement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333756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D2D2D"/>
                </a:solidFill>
                <a:latin typeface="Inter"/>
              </a:defRPr>
            </a:pPr>
            <a:r>
              <a:t>·  Keine langfristigen Commitments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70332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D2D2D"/>
                </a:solidFill>
                <a:latin typeface="Inter"/>
              </a:defRPr>
            </a:pPr>
            <a:r>
              <a:t>·  Keinen Zugang zu Kernbanksystemen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572000"/>
            <a:ext cx="4297680" cy="3200400"/>
          </a:xfrm>
          <a:prstGeom prst="roundRect">
            <a:avLst>
              <a:gd name="adj" fmla="val 4000"/>
            </a:avLst>
          </a:prstGeom>
          <a:solidFill>
            <a:srgbClr val="131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709160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600" b="0">
                <a:solidFill>
                  <a:srgbClr val="D97757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303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FFFFFF"/>
                </a:solidFill>
                <a:latin typeface="Inter"/>
              </a:defRPr>
            </a:pPr>
            <a:r>
              <a:t>Big Picture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760720"/>
            <a:ext cx="3657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AAAAAE"/>
                </a:solidFill>
                <a:latin typeface="Inter"/>
              </a:defRPr>
            </a:pPr>
            <a:r>
              <a:t>Gemeinsam erarbeiten:</a:t>
            </a:r>
            <a:br/>
            <a:r>
              <a:t>«Zukunft des Vertriebs mit AI.»</a:t>
            </a:r>
            <a:br/>
            <a:r>
              <a:t>Wo liegt das grösste Potenzial?</a:t>
            </a:r>
            <a:br/>
            <a:r>
              <a:t>Welcher Use Case zuerst?</a:t>
            </a:r>
            <a:br/>
            <a:r>
              <a:t>Ein halber Tag Workshop.</a:t>
            </a:r>
            <a:br/>
            <a:r>
              <a:t>Ergebnis: priorisierte Szenarien.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71780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D97757"/>
                </a:solidFill>
                <a:latin typeface="JetBrains Mono"/>
              </a:defRPr>
            </a:pPr>
            <a:r>
              <a:t>Woche 1–2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0" y="4572000"/>
            <a:ext cx="4297680" cy="3200400"/>
          </a:xfrm>
          <a:prstGeom prst="roundRect">
            <a:avLst>
              <a:gd name="adj" fmla="val 4000"/>
            </a:avLst>
          </a:prstGeom>
          <a:solidFill>
            <a:srgbClr val="131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77840" y="4709160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600" b="0">
                <a:solidFill>
                  <a:srgbClr val="D97757"/>
                </a:solidFill>
                <a:latin typeface="Inter"/>
              </a:defRPr>
            </a:pPr>
            <a: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0" y="5303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FFFFFF"/>
                </a:solidFill>
                <a:latin typeface="Inter"/>
              </a:defRPr>
            </a:pPr>
            <a:r>
              <a:t>Konkreter Use Case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5760720"/>
            <a:ext cx="3657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AAAAAE"/>
                </a:solidFill>
                <a:latin typeface="Inter"/>
              </a:defRPr>
            </a:pPr>
            <a:r>
              <a:t>Ausarbeitung eines Szenarios</a:t>
            </a:r>
            <a:br/>
            <a:r>
              <a:t>für eine Raiffeisenbank.</a:t>
            </a:r>
            <a:br/>
            <a:r>
              <a:t>Z.B. Training-Sparringspartner</a:t>
            </a:r>
            <a:br/>
            <a:r>
              <a:t>oder proaktive Kundenansprache.</a:t>
            </a:r>
            <a:br/>
            <a:r>
              <a:t>Funktionierender Prototyp,</a:t>
            </a:r>
            <a:br/>
            <a:r>
              <a:t>keine Slides.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71780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D97757"/>
                </a:solidFill>
                <a:latin typeface="JetBrains Mono"/>
              </a:defRPr>
            </a:pPr>
            <a:r>
              <a:t>Woche 3–8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75520" y="4572000"/>
            <a:ext cx="4297680" cy="3200400"/>
          </a:xfrm>
          <a:prstGeom prst="roundRect">
            <a:avLst>
              <a:gd name="adj" fmla="val 4000"/>
            </a:avLst>
          </a:prstGeom>
          <a:solidFill>
            <a:srgbClr val="131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49840" y="4709160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600" b="0">
                <a:solidFill>
                  <a:srgbClr val="D97757"/>
                </a:solidFill>
                <a:latin typeface="Inter"/>
              </a:defRPr>
            </a:pPr>
            <a: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5303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FFFFFF"/>
                </a:solidFill>
                <a:latin typeface="Inter"/>
              </a:defRPr>
            </a:pPr>
            <a:r>
              <a:t>Entscheiden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5760720"/>
            <a:ext cx="3657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AAAAAE"/>
                </a:solidFill>
                <a:latin typeface="Inter"/>
              </a:defRPr>
            </a:pPr>
            <a:r>
              <a:t>Ergebnisse gemeinsam bewerten.</a:t>
            </a:r>
            <a:br/>
            <a:r>
              <a:t>Feedback der Berater einholen.</a:t>
            </a:r>
            <a:br/>
            <a:r>
              <a:t>Wenn es funktioniert: skalieren.</a:t>
            </a:r>
            <a:br/>
            <a:r>
              <a:t>Wenn nicht: kein Schaden,</a:t>
            </a:r>
            <a:br/>
            <a:r>
              <a:t>viel gelernt.</a:t>
            </a:r>
            <a:br/>
            <a:r>
              <a:t>Die Resultate sprechen für sich.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71780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D97757"/>
                </a:solidFill>
                <a:latin typeface="JetBrains Mono"/>
              </a:defRPr>
            </a:pPr>
            <a:r>
              <a:t>Woche 9–12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78181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3D3D3F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900" b="0">
                <a:solidFill>
                  <a:srgbClr val="3D3D3F"/>
                </a:solidFill>
                <a:latin typeface="JetBrains Mono"/>
              </a:defRPr>
            </a:pPr>
            <a: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D97757"/>
                </a:solidFill>
                <a:latin typeface="JetBrains Mono"/>
              </a:defRPr>
            </a:pPr>
            <a:r>
              <a:t>ZUSAMMENARBEIT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280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3400" b="0">
                <a:solidFill>
                  <a:srgbClr val="131314"/>
                </a:solidFill>
                <a:latin typeface="Inter"/>
              </a:defRPr>
            </a:pPr>
            <a:r>
              <a:t>Warum Salesteq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3167360" cy="1828800"/>
          </a:xfrm>
          <a:prstGeom prst="roundRect">
            <a:avLst>
              <a:gd name="adj" fmla="val 4000"/>
            </a:avLst>
          </a:prstGeom>
          <a:solidFill>
            <a:srgbClr val="F0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9164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Inter"/>
              </a:defRPr>
            </a:pPr>
            <a:r>
              <a:t>Austausch vom März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12618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spcAft>
                <a:spcPts val="300"/>
              </a:spcAft>
              <a:defRPr sz="1200" b="0">
                <a:solidFill>
                  <a:srgbClr val="3D3D3F"/>
                </a:solidFill>
                <a:latin typeface="Inter"/>
              </a:defRPr>
            </a:pPr>
            <a:r>
              <a:t>Im Gespräch mit Ivo Schneider und Lukas Seger haben wir vereinbart, ein einfaches Szenario</a:t>
            </a:r>
          </a:p>
          <a:p>
            <a:pPr algn="l">
              <a:lnSpc>
                <a:spcPts val="1380"/>
              </a:lnSpc>
              <a:spcAft>
                <a:spcPts val="300"/>
              </a:spcAft>
              <a:defRPr sz="1200" b="0">
                <a:solidFill>
                  <a:srgbClr val="3D3D3F"/>
                </a:solidFill>
                <a:latin typeface="Inter"/>
              </a:defRPr>
            </a:pPr>
            <a:r>
              <a:t>vorzubereiten — basierend auf unserem Ansatz bei Allianz Suisse.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280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31314"/>
                </a:solidFill>
                <a:latin typeface="Inter"/>
              </a:defRPr>
            </a:pPr>
            <a:r>
              <a:t>Vorgehen in 3 Schritten: Salesteq macht einen Vorschlag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34640"/>
            <a:ext cx="1261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Inter"/>
              </a:defRPr>
            </a:pPr>
            <a:r>
              <a:t>Schritt 1: Big Picture aufzeigen — «Zukunft des Vertriebs mit AI bei Raiffeisen»</a:t>
            </a:r>
          </a:p>
          <a:p>
            <a:pPr algn="l">
              <a:lnSpc>
                <a:spcPts val="1264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Inter"/>
              </a:defRPr>
            </a:pPr>
            <a:r>
              <a:t>Schritt 2: Ausarbeitung eines konkreten Use Case (z.B. RM-Training, proaktive Ansprache)</a:t>
            </a:r>
          </a:p>
          <a:p>
            <a:pPr algn="l">
              <a:lnSpc>
                <a:spcPts val="1264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Inter"/>
              </a:defRPr>
            </a:pPr>
            <a:r>
              <a:t>Schritt 3: Optional — Proof-of-Concept mit einer Raiffeisenbank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657600"/>
            <a:ext cx="6400800" cy="2926080"/>
          </a:xfrm>
          <a:prstGeom prst="roundRect">
            <a:avLst>
              <a:gd name="adj" fmla="val 4000"/>
            </a:avLst>
          </a:prstGeom>
          <a:solidFill>
            <a:srgbClr val="F0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79476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31314"/>
                </a:solidFill>
                <a:latin typeface="Inter"/>
              </a:defRPr>
            </a:pPr>
            <a:r>
              <a:t>Was Salesteq mitbringt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16052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D2D2D"/>
                </a:solidFill>
                <a:latin typeface="Inter"/>
              </a:defRPr>
            </a:pPr>
            <a:r>
              <a:t>✓  Produktionserfahrung: Naghi/BMW (15'000+ MA, Voice AI)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57200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D2D2D"/>
                </a:solidFill>
                <a:latin typeface="Inter"/>
              </a:defRPr>
            </a:pPr>
            <a:r>
              <a:t>✓  Pilot mit Allianz Suisse (Analytics &amp; Kundenforschung)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98348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D2D2D"/>
                </a:solidFill>
                <a:latin typeface="Inter"/>
              </a:defRPr>
            </a:pPr>
            <a:r>
              <a:t>✓  Eigene Sprach-Engine — kein API-Wrapper, eigene Modelle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39496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D2D2D"/>
                </a:solidFill>
                <a:latin typeface="Inter"/>
              </a:defRPr>
            </a:pPr>
            <a:r>
              <a:t>✓  Mandantenfähig: 212 Banken = 212 isolierte Mandanten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80644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D2D2D"/>
                </a:solidFill>
                <a:latin typeface="Inter"/>
              </a:defRPr>
            </a:pPr>
            <a:r>
              <a:t>✓  Schweizer Unternehmen (Zug), direkter Zugang zu Gründern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3657600"/>
            <a:ext cx="6400800" cy="2926080"/>
          </a:xfrm>
          <a:prstGeom prst="roundRect">
            <a:avLst>
              <a:gd name="adj" fmla="val 4000"/>
            </a:avLst>
          </a:prstGeom>
          <a:solidFill>
            <a:srgbClr val="F0E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379476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31314"/>
                </a:solidFill>
                <a:latin typeface="Inter"/>
              </a:defRPr>
            </a:pPr>
            <a:r>
              <a:t>Was Salesteq nicht ist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416052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D2D2D"/>
                </a:solidFill>
                <a:latin typeface="Inter"/>
              </a:defRPr>
            </a:pPr>
            <a:r>
              <a:t>✗  Kein CRM-Ersatz (BSI, Salesforce bleiben bestehen)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57200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D2D2D"/>
                </a:solidFill>
                <a:latin typeface="Inter"/>
              </a:defRPr>
            </a:pPr>
            <a:r>
              <a:t>✗  Kein Copilot-Konkurrent (ergänzt, ersetzt nicht)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98348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D2D2D"/>
                </a:solidFill>
                <a:latin typeface="Inter"/>
              </a:defRPr>
            </a:pPr>
            <a:r>
              <a:t>✗  Kein fertiges Bankenprodukt (wir bauen gemeinsam)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39496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D2D2D"/>
                </a:solidFill>
                <a:latin typeface="Inter"/>
              </a:defRPr>
            </a:pPr>
            <a:r>
              <a:t>✗  Keine Blackbox — volle Nachvollziehbarkeit aller AI-Aktionen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6858000"/>
            <a:ext cx="13167360" cy="914400"/>
          </a:xfrm>
          <a:prstGeom prst="roundRect">
            <a:avLst>
              <a:gd name="adj" fmla="val 4000"/>
            </a:avLst>
          </a:prstGeom>
          <a:solidFill>
            <a:srgbClr val="131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6949440"/>
            <a:ext cx="1188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D97757"/>
                </a:solidFill>
                <a:latin typeface="Inter"/>
              </a:defRPr>
            </a:pPr>
            <a:r>
              <a:t>Kein Druck, keine Eile.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7269480"/>
            <a:ext cx="1188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AAAAAE"/>
                </a:solidFill>
                <a:latin typeface="Inter"/>
              </a:defRPr>
            </a:pPr>
            <a:r>
              <a:t>Wenn das Szenario Sinn macht, finden wir den richtigen Anfang. Wenn nicht, war es ein gutes Gespräch.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6949440"/>
            <a:ext cx="4572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AAAAAE"/>
                </a:solidFill>
                <a:latin typeface="Inter"/>
              </a:defRPr>
            </a:pPr>
            <a:r>
              <a:t>Viktor Andreas</a:t>
            </a:r>
            <a:br/>
            <a:r>
              <a:t>viktor@salesteq.com</a:t>
            </a:r>
            <a:br/>
            <a:r>
              <a:t>salesteq.com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78181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3D3D3F"/>
                </a:solidFill>
                <a:latin typeface="JetBrains Mono"/>
              </a:defRPr>
            </a:pPr>
            <a:r>
              <a:t>Vertraulich  ·  Salesteq × Raiffeisen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0" y="781812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  <a:defRPr sz="900" b="0">
                <a:solidFill>
                  <a:srgbClr val="3D3D3F"/>
                </a:solidFill>
                <a:latin typeface="JetBrains Mono"/>
              </a:defRPr>
            </a:pPr>
            <a: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